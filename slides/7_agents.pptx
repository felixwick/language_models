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792" r:id="rId3"/>
    <p:sldId id="790" r:id="rId4"/>
    <p:sldId id="793" r:id="rId5"/>
    <p:sldId id="819" r:id="rId6"/>
    <p:sldId id="822" r:id="rId7"/>
    <p:sldId id="831" r:id="rId8"/>
    <p:sldId id="824" r:id="rId9"/>
    <p:sldId id="832" r:id="rId10"/>
    <p:sldId id="803" r:id="rId11"/>
    <p:sldId id="828" r:id="rId12"/>
    <p:sldId id="827" r:id="rId13"/>
    <p:sldId id="829" r:id="rId14"/>
    <p:sldId id="830" r:id="rId15"/>
    <p:sldId id="818" r:id="rId16"/>
    <p:sldId id="834" r:id="rId17"/>
    <p:sldId id="826" r:id="rId18"/>
    <p:sldId id="833" r:id="rId19"/>
    <p:sldId id="812" r:id="rId20"/>
    <p:sldId id="811" r:id="rId2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23"/>
    <p:restoredTop sz="94694"/>
  </p:normalViewPr>
  <p:slideViewPr>
    <p:cSldViewPr snapToGrid="0">
      <p:cViewPr varScale="1">
        <p:scale>
          <a:sx n="121" d="100"/>
          <a:sy n="121" d="100"/>
        </p:scale>
        <p:origin x="7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b="1" dirty="0" err="1"/>
            <a:t>Agents</a:t>
          </a:r>
          <a:endParaRPr lang="en-US" b="1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0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769F0AC1-E7CF-C944-B9AF-EA28932D2656}">
      <dgm:prSet/>
      <dgm:spPr/>
      <dgm:t>
        <a:bodyPr/>
        <a:lstStyle/>
        <a:p>
          <a:r>
            <a:rPr lang="en-US" b="0" dirty="0"/>
            <a:t>Instruction Tuning</a:t>
          </a:r>
        </a:p>
      </dgm:t>
    </dgm:pt>
    <dgm:pt modelId="{8FBFB482-1FAC-2647-9582-FBF2BE51B42C}" type="parTrans" cxnId="{B2C31AC5-CC8D-7848-BF48-4E93CF15F78C}">
      <dgm:prSet/>
      <dgm:spPr/>
      <dgm:t>
        <a:bodyPr/>
        <a:lstStyle/>
        <a:p>
          <a:endParaRPr lang="de-DE"/>
        </a:p>
      </dgm:t>
    </dgm:pt>
    <dgm:pt modelId="{202C7746-1898-184B-8901-869D8C7ADB05}" type="sibTrans" cxnId="{B2C31AC5-CC8D-7848-BF48-4E93CF15F78C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8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8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8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8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8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8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8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8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8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8"/>
      <dgm:spPr/>
    </dgm:pt>
    <dgm:pt modelId="{7F071049-5D5A-2445-8B31-652B1063C281}" type="pres">
      <dgm:prSet presAssocID="{288D3E87-5781-4F83-84CB-1610EAD21773}" presName="vert1" presStyleCnt="0"/>
      <dgm:spPr/>
    </dgm:pt>
    <dgm:pt modelId="{322460D7-6763-F646-87E9-10A1FE9FDC20}" type="pres">
      <dgm:prSet presAssocID="{769F0AC1-E7CF-C944-B9AF-EA28932D2656}" presName="thickLine" presStyleLbl="alignNode1" presStyleIdx="5" presStyleCnt="8"/>
      <dgm:spPr/>
    </dgm:pt>
    <dgm:pt modelId="{2E474F08-D54F-E14D-9A99-2C037C893DD5}" type="pres">
      <dgm:prSet presAssocID="{769F0AC1-E7CF-C944-B9AF-EA28932D2656}" presName="horz1" presStyleCnt="0"/>
      <dgm:spPr/>
    </dgm:pt>
    <dgm:pt modelId="{9B5DA0EB-3C02-EE40-A02E-5B28D39BEF31}" type="pres">
      <dgm:prSet presAssocID="{769F0AC1-E7CF-C944-B9AF-EA28932D2656}" presName="tx1" presStyleLbl="revTx" presStyleIdx="5" presStyleCnt="8"/>
      <dgm:spPr/>
    </dgm:pt>
    <dgm:pt modelId="{062608B4-F5A4-C943-8091-EEFBA40E325A}" type="pres">
      <dgm:prSet presAssocID="{769F0AC1-E7CF-C944-B9AF-EA28932D2656}" presName="vert1" presStyleCnt="0"/>
      <dgm:spPr/>
    </dgm:pt>
    <dgm:pt modelId="{3D5DC94A-13EE-9348-AB63-BA6D7AB77EF3}" type="pres">
      <dgm:prSet presAssocID="{DDA901FD-5C05-41F1-A824-5C833C35698E}" presName="thickLine" presStyleLbl="alignNode1" presStyleIdx="6" presStyleCnt="8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6" presStyleCnt="8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7" presStyleCnt="8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7" presStyleCnt="8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6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5E824FB9-2CC4-6F45-B749-FE401FFAEECB}" type="presOf" srcId="{769F0AC1-E7CF-C944-B9AF-EA28932D2656}" destId="{9B5DA0EB-3C02-EE40-A02E-5B28D39BEF31}" srcOrd="0" destOrd="0" presId="urn:microsoft.com/office/officeart/2008/layout/LinedList"/>
    <dgm:cxn modelId="{B2C31AC5-CC8D-7848-BF48-4E93CF15F78C}" srcId="{56648FB5-C09B-4C87-AEF3-A553C798BCF5}" destId="{769F0AC1-E7CF-C944-B9AF-EA28932D2656}" srcOrd="5" destOrd="0" parTransId="{8FBFB482-1FAC-2647-9582-FBF2BE51B42C}" sibTransId="{202C7746-1898-184B-8901-869D8C7ADB05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7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9A7F5AD0-DD95-3843-95C2-CCB3573D0F7B}" type="presParOf" srcId="{7852B3C2-A44C-F446-9060-CA21A0D28991}" destId="{322460D7-6763-F646-87E9-10A1FE9FDC20}" srcOrd="10" destOrd="0" presId="urn:microsoft.com/office/officeart/2008/layout/LinedList"/>
    <dgm:cxn modelId="{0F8C97D4-B05E-6947-AB11-E0CE7BA1FBBB}" type="presParOf" srcId="{7852B3C2-A44C-F446-9060-CA21A0D28991}" destId="{2E474F08-D54F-E14D-9A99-2C037C893DD5}" srcOrd="11" destOrd="0" presId="urn:microsoft.com/office/officeart/2008/layout/LinedList"/>
    <dgm:cxn modelId="{24B86091-C966-5641-9975-3A18E8CC2451}" type="presParOf" srcId="{2E474F08-D54F-E14D-9A99-2C037C893DD5}" destId="{9B5DA0EB-3C02-EE40-A02E-5B28D39BEF31}" srcOrd="0" destOrd="0" presId="urn:microsoft.com/office/officeart/2008/layout/LinedList"/>
    <dgm:cxn modelId="{C6076B37-8BDA-7348-B420-D00A46E8547E}" type="presParOf" srcId="{2E474F08-D54F-E14D-9A99-2C037C893DD5}" destId="{062608B4-F5A4-C943-8091-EEFBA40E325A}" srcOrd="1" destOrd="0" presId="urn:microsoft.com/office/officeart/2008/layout/LinedList"/>
    <dgm:cxn modelId="{7A9EE529-C307-D440-8910-336F08C35B83}" type="presParOf" srcId="{7852B3C2-A44C-F446-9060-CA21A0D28991}" destId="{3D5DC94A-13EE-9348-AB63-BA6D7AB77EF3}" srcOrd="12" destOrd="0" presId="urn:microsoft.com/office/officeart/2008/layout/LinedList"/>
    <dgm:cxn modelId="{B6134942-BB7E-6A49-B625-7DF71CC12E8A}" type="presParOf" srcId="{7852B3C2-A44C-F446-9060-CA21A0D28991}" destId="{27EB4548-6597-7A48-B8EB-8D5D075E0879}" srcOrd="13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4" destOrd="0" presId="urn:microsoft.com/office/officeart/2008/layout/LinedList"/>
    <dgm:cxn modelId="{3CB3EB14-3FB4-7040-B2C6-572E38DFBAF8}" type="presParOf" srcId="{7852B3C2-A44C-F446-9060-CA21A0D28991}" destId="{FE30EA44-022B-FF41-BE9E-EF735E26A50E}" srcOrd="15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0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0" kern="1200" dirty="0"/>
            <a:t>Deep Learning</a:t>
          </a:r>
          <a:endParaRPr lang="en-US" sz="2500" b="0" kern="1200" dirty="0"/>
        </a:p>
      </dsp:txBody>
      <dsp:txXfrm>
        <a:off x="0" y="0"/>
        <a:ext cx="10515600" cy="543917"/>
      </dsp:txXfrm>
    </dsp:sp>
    <dsp:sp modelId="{A11F9CE2-7889-D042-B67A-3B946F072596}">
      <dsp:nvSpPr>
        <dsp:cNvPr id="0" name=""/>
        <dsp:cNvSpPr/>
      </dsp:nvSpPr>
      <dsp:spPr>
        <a:xfrm>
          <a:off x="0" y="54391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543917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0" kern="1200" dirty="0"/>
            <a:t>Transformer</a:t>
          </a:r>
          <a:endParaRPr lang="en-US" sz="2500" b="0" kern="1200" dirty="0"/>
        </a:p>
      </dsp:txBody>
      <dsp:txXfrm>
        <a:off x="0" y="543917"/>
        <a:ext cx="10515600" cy="543917"/>
      </dsp:txXfrm>
    </dsp:sp>
    <dsp:sp modelId="{9D950D6B-5C89-8A48-9960-CA8B4C499A1A}">
      <dsp:nvSpPr>
        <dsp:cNvPr id="0" name=""/>
        <dsp:cNvSpPr/>
      </dsp:nvSpPr>
      <dsp:spPr>
        <a:xfrm>
          <a:off x="0" y="108783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087834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 dirty="0"/>
            <a:t>LLMs</a:t>
          </a:r>
        </a:p>
      </dsp:txBody>
      <dsp:txXfrm>
        <a:off x="0" y="1087834"/>
        <a:ext cx="10515600" cy="543917"/>
      </dsp:txXfrm>
    </dsp:sp>
    <dsp:sp modelId="{34CF0AAF-5C3E-5349-AD9D-2034F634313C}">
      <dsp:nvSpPr>
        <dsp:cNvPr id="0" name=""/>
        <dsp:cNvSpPr/>
      </dsp:nvSpPr>
      <dsp:spPr>
        <a:xfrm>
          <a:off x="0" y="163175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631751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 dirty="0"/>
            <a:t>Context Engineering</a:t>
          </a:r>
        </a:p>
      </dsp:txBody>
      <dsp:txXfrm>
        <a:off x="0" y="1631751"/>
        <a:ext cx="10515600" cy="543917"/>
      </dsp:txXfrm>
    </dsp:sp>
    <dsp:sp modelId="{8A505F94-65E4-9D41-AC2C-CCE8BD4C175F}">
      <dsp:nvSpPr>
        <dsp:cNvPr id="0" name=""/>
        <dsp:cNvSpPr/>
      </dsp:nvSpPr>
      <dsp:spPr>
        <a:xfrm>
          <a:off x="0" y="217566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175669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0" kern="1200" dirty="0"/>
            <a:t>Finetuning</a:t>
          </a:r>
          <a:endParaRPr lang="en-US" sz="2500" b="0" kern="1200" dirty="0"/>
        </a:p>
      </dsp:txBody>
      <dsp:txXfrm>
        <a:off x="0" y="2175669"/>
        <a:ext cx="10515600" cy="543917"/>
      </dsp:txXfrm>
    </dsp:sp>
    <dsp:sp modelId="{322460D7-6763-F646-87E9-10A1FE9FDC20}">
      <dsp:nvSpPr>
        <dsp:cNvPr id="0" name=""/>
        <dsp:cNvSpPr/>
      </dsp:nvSpPr>
      <dsp:spPr>
        <a:xfrm>
          <a:off x="0" y="2719586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5DA0EB-3C02-EE40-A02E-5B28D39BEF31}">
      <dsp:nvSpPr>
        <dsp:cNvPr id="0" name=""/>
        <dsp:cNvSpPr/>
      </dsp:nvSpPr>
      <dsp:spPr>
        <a:xfrm>
          <a:off x="0" y="2719586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kern="1200" dirty="0"/>
            <a:t>Instruction Tuning</a:t>
          </a:r>
        </a:p>
      </dsp:txBody>
      <dsp:txXfrm>
        <a:off x="0" y="2719586"/>
        <a:ext cx="10515600" cy="543917"/>
      </dsp:txXfrm>
    </dsp:sp>
    <dsp:sp modelId="{3D5DC94A-13EE-9348-AB63-BA6D7AB77EF3}">
      <dsp:nvSpPr>
        <dsp:cNvPr id="0" name=""/>
        <dsp:cNvSpPr/>
      </dsp:nvSpPr>
      <dsp:spPr>
        <a:xfrm>
          <a:off x="0" y="3263503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263503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1" kern="1200" dirty="0" err="1"/>
            <a:t>Agents</a:t>
          </a:r>
          <a:endParaRPr lang="en-US" sz="2500" b="1" kern="1200" dirty="0"/>
        </a:p>
      </dsp:txBody>
      <dsp:txXfrm>
        <a:off x="0" y="3263503"/>
        <a:ext cx="10515600" cy="543917"/>
      </dsp:txXfrm>
    </dsp:sp>
    <dsp:sp modelId="{20D72B1E-AD82-9E49-86D8-09A4DD4D6212}">
      <dsp:nvSpPr>
        <dsp:cNvPr id="0" name=""/>
        <dsp:cNvSpPr/>
      </dsp:nvSpPr>
      <dsp:spPr>
        <a:xfrm>
          <a:off x="0" y="380742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807420"/>
          <a:ext cx="10515600" cy="543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b="0" kern="1200" dirty="0"/>
            <a:t>The Bigger Picture</a:t>
          </a:r>
          <a:endParaRPr lang="en-US" sz="2500" b="0" kern="1200" dirty="0"/>
        </a:p>
      </dsp:txBody>
      <dsp:txXfrm>
        <a:off x="0" y="3807420"/>
        <a:ext cx="10515600" cy="5439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87B4AA-1AD3-B645-8C46-4DD33D66A771}" type="datetimeFigureOut">
              <a:rPr lang="de-DE" smtClean="0"/>
              <a:t>09.09.25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AE142D-FA49-2A47-97D1-0BC6D85AD0B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5849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20F7-6C91-3C46-AB35-1A00849882C2}" type="datetime1">
              <a:rPr lang="de-DE" smtClean="0"/>
              <a:t>09.09.25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3D0D4-D4D8-A942-9E01-A0F3487CA2AE}" type="datetime1">
              <a:rPr lang="de-DE" smtClean="0"/>
              <a:t>09.09.25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6364B-D759-F14C-A18A-77E1D17B19D4}" type="datetime1">
              <a:rPr lang="de-DE" smtClean="0"/>
              <a:t>09.09.25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646AF-F89F-2E4E-92DF-9EEE6DD3C59D}" type="datetime1">
              <a:rPr lang="de-DE" smtClean="0"/>
              <a:t>09.09.25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AE3CD-AF3C-CB44-B965-65B6EC4247CF}" type="datetime1">
              <a:rPr lang="de-DE" smtClean="0"/>
              <a:t>09.09.25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B66C-CFE0-CA4E-9046-939F1A7C2E41}" type="datetime1">
              <a:rPr lang="de-DE" smtClean="0"/>
              <a:t>09.09.25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D2A422-F575-E249-A0DB-51723ECD1D10}" type="datetime1">
              <a:rPr lang="de-DE" smtClean="0"/>
              <a:t>09.09.25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C53E8-F479-1249-A1B6-5903063FF698}" type="datetime1">
              <a:rPr lang="de-DE" smtClean="0"/>
              <a:t>09.09.25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E5EAB-7032-2B41-ACE6-C364C7875874}" type="datetime1">
              <a:rPr lang="de-DE" smtClean="0"/>
              <a:t>09.09.25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C22EE-8BC1-4F47-9F25-6E6DC0837CD0}" type="datetime1">
              <a:rPr lang="de-DE" smtClean="0"/>
              <a:t>09.09.25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F7086-E239-CB4C-AE08-764D923FF446}" type="datetime1">
              <a:rPr lang="de-DE" smtClean="0"/>
              <a:t>09.09.25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179E-33AE-1B4B-8EB8-E924F1C7104A}" type="datetime1">
              <a:rPr lang="de-DE" smtClean="0"/>
              <a:t>09.09.25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modelcontextprotocol.io/introduction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10.03629" TargetMode="External"/><Relationship Id="rId2" Type="http://schemas.openxmlformats.org/officeDocument/2006/relationships/hyperlink" Target="https://arxiv.org/abs/2201.11903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abs/2309.03409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arxiv.org/abs/2309.03409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411.07279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4E766EFC-9D2F-C966-C022-20067A8F58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Agents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2060529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D4E3E1-7C49-4A90-7447-9372AC253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de-DE" dirty="0"/>
              <a:t>This Part: </a:t>
            </a:r>
            <a:r>
              <a:rPr lang="de-DE" dirty="0" err="1"/>
              <a:t>Agents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tool</a:t>
            </a:r>
            <a:r>
              <a:rPr lang="de-DE" dirty="0"/>
              <a:t> </a:t>
            </a:r>
            <a:r>
              <a:rPr lang="de-DE" dirty="0" err="1"/>
              <a:t>usage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memory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reasoning</a:t>
            </a:r>
            <a:r>
              <a:rPr lang="de-DE" dirty="0"/>
              <a:t> &amp; </a:t>
            </a:r>
            <a:r>
              <a:rPr lang="de-DE" dirty="0" err="1"/>
              <a:t>planning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2424F2-CE49-5AE1-5F30-B17910029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0BB7E3-B91B-49C3-7C09-E55514F77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Agentic</a:t>
            </a:r>
            <a:r>
              <a:rPr lang="de-DE" dirty="0"/>
              <a:t> </a:t>
            </a:r>
            <a:r>
              <a:rPr lang="de-DE" dirty="0" err="1"/>
              <a:t>Intelligence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8BFECA-516D-6E83-3D25-17E2897C97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goal</a:t>
            </a:r>
            <a:r>
              <a:rPr lang="de-DE" dirty="0"/>
              <a:t>: </a:t>
            </a:r>
            <a:r>
              <a:rPr lang="de-DE" dirty="0" err="1"/>
              <a:t>autonomous</a:t>
            </a:r>
            <a:r>
              <a:rPr lang="de-DE" dirty="0"/>
              <a:t> problem-</a:t>
            </a:r>
            <a:r>
              <a:rPr lang="de-DE" dirty="0" err="1"/>
              <a:t>solving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48BE5CD-7768-B975-FEF2-2972908F0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4</a:t>
            </a:fld>
            <a:endParaRPr lang="de-DE"/>
          </a:p>
        </p:txBody>
      </p:sp>
      <p:pic>
        <p:nvPicPr>
          <p:cNvPr id="6" name="Grafik 5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006EE481-2657-354D-0453-140F5CCFB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453" y="2567975"/>
            <a:ext cx="6598287" cy="429002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DB1972CF-786C-E926-9DE7-52A60518937E}"/>
              </a:ext>
            </a:extLst>
          </p:cNvPr>
          <p:cNvSpPr txBox="1"/>
          <p:nvPr/>
        </p:nvSpPr>
        <p:spPr>
          <a:xfrm>
            <a:off x="7664667" y="3795556"/>
            <a:ext cx="39492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/>
              <a:t>decomposition of complex task in simpler steps</a:t>
            </a:r>
          </a:p>
          <a:p>
            <a:r>
              <a:rPr lang="en-GB" sz="2400" dirty="0"/>
              <a:t>(uses reasoning capabilities)</a:t>
            </a:r>
            <a:endParaRPr lang="de-DE" sz="24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F3111587-2BBC-2606-9B27-1EEEE55309E7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6400800" y="4395721"/>
            <a:ext cx="1263867" cy="1171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4728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45563-25D9-F873-91CB-D77F3E960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D4821-200B-1485-D46E-11D1AEED8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Intuitive and Analytical Thinking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6E02AA-9A7F-6AF9-6A26-7532DCEF6C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sz="2400" dirty="0"/>
              <a:t>two systems of human thinking (from Kahneman, </a:t>
            </a:r>
            <a:r>
              <a:rPr lang="en-GB" sz="2400" i="1" dirty="0"/>
              <a:t>Thinking, Fast and Slow</a:t>
            </a:r>
            <a:r>
              <a:rPr lang="en-GB" sz="2400" dirty="0"/>
              <a:t>):</a:t>
            </a:r>
            <a:endParaRPr lang="de-DE" sz="2400" b="1" i="1" dirty="0"/>
          </a:p>
          <a:p>
            <a:r>
              <a:rPr lang="de-DE" sz="2400" dirty="0" err="1"/>
              <a:t>system</a:t>
            </a:r>
            <a:r>
              <a:rPr lang="de-DE" sz="2400" dirty="0"/>
              <a:t> 1: fast, </a:t>
            </a:r>
            <a:r>
              <a:rPr lang="de-DE" sz="2400" dirty="0" err="1"/>
              <a:t>automatic</a:t>
            </a:r>
            <a:r>
              <a:rPr lang="de-DE" sz="2400" dirty="0"/>
              <a:t>, intuitive, </a:t>
            </a:r>
            <a:r>
              <a:rPr lang="de-DE" sz="2400" dirty="0" err="1"/>
              <a:t>effortless</a:t>
            </a:r>
            <a:r>
              <a:rPr lang="de-DE" sz="2400" dirty="0"/>
              <a:t>, </a:t>
            </a:r>
            <a:r>
              <a:rPr lang="de-DE" sz="2400" dirty="0" err="1"/>
              <a:t>often</a:t>
            </a:r>
            <a:r>
              <a:rPr lang="de-DE" sz="2400" dirty="0"/>
              <a:t> </a:t>
            </a:r>
            <a:r>
              <a:rPr lang="de-DE" sz="2400" dirty="0" err="1"/>
              <a:t>subconscious</a:t>
            </a:r>
            <a:endParaRPr lang="de-DE" sz="2400" dirty="0"/>
          </a:p>
          <a:p>
            <a:r>
              <a:rPr lang="de-DE" sz="2400" dirty="0" err="1"/>
              <a:t>system</a:t>
            </a:r>
            <a:r>
              <a:rPr lang="de-DE" sz="2400" dirty="0"/>
              <a:t> 2: slow, </a:t>
            </a:r>
            <a:r>
              <a:rPr lang="de-DE" sz="2400" dirty="0" err="1"/>
              <a:t>deliberate</a:t>
            </a:r>
            <a:r>
              <a:rPr lang="de-DE" sz="2400" dirty="0"/>
              <a:t>, </a:t>
            </a:r>
            <a:r>
              <a:rPr lang="de-DE" sz="2400" dirty="0" err="1"/>
              <a:t>analytical</a:t>
            </a:r>
            <a:r>
              <a:rPr lang="de-DE" sz="2400" dirty="0"/>
              <a:t>, </a:t>
            </a:r>
            <a:r>
              <a:rPr lang="de-DE" sz="2400" dirty="0" err="1"/>
              <a:t>effortful</a:t>
            </a:r>
            <a:r>
              <a:rPr lang="de-DE" sz="2400" dirty="0"/>
              <a:t>, </a:t>
            </a:r>
            <a:r>
              <a:rPr lang="de-DE" sz="2400" dirty="0" err="1"/>
              <a:t>conscious</a:t>
            </a: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LLMs analogous to system 1 (although without true intuition or understanding), </a:t>
            </a:r>
            <a:r>
              <a:rPr lang="de-DE" sz="2400" dirty="0" err="1"/>
              <a:t>lacking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depth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reflective</a:t>
            </a:r>
            <a:r>
              <a:rPr lang="de-DE" sz="2400" dirty="0"/>
              <a:t>, </a:t>
            </a:r>
            <a:r>
              <a:rPr lang="de-DE" sz="2400" dirty="0" err="1"/>
              <a:t>analytic</a:t>
            </a:r>
            <a:r>
              <a:rPr lang="de-DE" sz="2400" dirty="0"/>
              <a:t> </a:t>
            </a:r>
            <a:r>
              <a:rPr lang="de-DE" sz="2400" dirty="0" err="1"/>
              <a:t>reasoning</a:t>
            </a:r>
            <a:endParaRPr lang="en-GB" sz="2400" dirty="0">
              <a:sym typeface="Wingdings" pitchFamily="2" charset="2"/>
            </a:endParaRP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>
                <a:sym typeface="Wingdings" pitchFamily="2" charset="2"/>
              </a:rPr>
              <a:t> for agentic intelligence, </a:t>
            </a:r>
            <a:r>
              <a:rPr lang="en-GB" sz="2400" dirty="0"/>
              <a:t>need to enhance LLMs with system 2 capabilities, including tool usage and fact-checking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178AD7-D90D-C416-C73B-7036A6259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44520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6C3C3A-7924-319A-EBB3-B5140800E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Tool </a:t>
            </a:r>
            <a:r>
              <a:rPr lang="de-DE" dirty="0" err="1"/>
              <a:t>Usage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C2ADF3-1505-1CF0-7E92-6CAF792911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0859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crucial</a:t>
            </a:r>
            <a:r>
              <a:rPr lang="de-DE" dirty="0"/>
              <a:t> LLM </a:t>
            </a:r>
            <a:r>
              <a:rPr lang="de-DE" dirty="0" err="1"/>
              <a:t>capabilities</a:t>
            </a:r>
            <a:r>
              <a:rPr lang="de-DE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know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access</a:t>
            </a:r>
            <a:r>
              <a:rPr lang="de-DE" dirty="0"/>
              <a:t> different </a:t>
            </a:r>
            <a:r>
              <a:rPr lang="de-DE" dirty="0" err="1"/>
              <a:t>tools</a:t>
            </a:r>
            <a:endParaRPr lang="de-DE" dirty="0"/>
          </a:p>
          <a:p>
            <a:pPr lvl="1"/>
            <a:r>
              <a:rPr lang="de-DE" dirty="0"/>
              <a:t>code </a:t>
            </a:r>
            <a:r>
              <a:rPr lang="de-DE" dirty="0" err="1"/>
              <a:t>interpreters</a:t>
            </a:r>
            <a:endParaRPr lang="de-DE" dirty="0"/>
          </a:p>
          <a:p>
            <a:pPr lvl="1"/>
            <a:r>
              <a:rPr lang="de-DE" dirty="0"/>
              <a:t>web </a:t>
            </a:r>
            <a:r>
              <a:rPr lang="de-DE" dirty="0" err="1"/>
              <a:t>search</a:t>
            </a:r>
            <a:endParaRPr lang="de-DE" dirty="0"/>
          </a:p>
          <a:p>
            <a:pPr lvl="1"/>
            <a:r>
              <a:rPr lang="de-DE" dirty="0" err="1"/>
              <a:t>calculators</a:t>
            </a:r>
            <a:r>
              <a:rPr lang="de-DE" dirty="0"/>
              <a:t> (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overcome</a:t>
            </a:r>
            <a:r>
              <a:rPr lang="de-DE" dirty="0"/>
              <a:t> lack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mathematical</a:t>
            </a:r>
            <a:r>
              <a:rPr lang="de-DE" dirty="0"/>
              <a:t> </a:t>
            </a:r>
            <a:r>
              <a:rPr lang="de-DE" dirty="0" err="1"/>
              <a:t>understanding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…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de-DE" dirty="0" err="1"/>
              <a:t>select</a:t>
            </a:r>
            <a:r>
              <a:rPr lang="de-DE" dirty="0"/>
              <a:t> </a:t>
            </a:r>
            <a:r>
              <a:rPr lang="de-DE" dirty="0" err="1"/>
              <a:t>right</a:t>
            </a:r>
            <a:r>
              <a:rPr lang="de-DE" dirty="0"/>
              <a:t> </a:t>
            </a:r>
            <a:r>
              <a:rPr lang="de-DE" dirty="0" err="1"/>
              <a:t>tool</a:t>
            </a:r>
            <a:r>
              <a:rPr lang="de-DE" dirty="0"/>
              <a:t> at </a:t>
            </a:r>
            <a:r>
              <a:rPr lang="de-DE" dirty="0" err="1"/>
              <a:t>right</a:t>
            </a:r>
            <a:r>
              <a:rPr lang="de-DE" dirty="0"/>
              <a:t> time</a:t>
            </a:r>
            <a:endParaRPr lang="en-GB" dirty="0">
              <a:solidFill>
                <a:srgbClr val="212529"/>
              </a:solidFill>
              <a:sym typeface="Wingdings" pitchFamily="2" charset="2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7C9A03-4B7E-FBE8-3DAF-F50864031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  <p:pic>
        <p:nvPicPr>
          <p:cNvPr id="5" name="Picture 14">
            <a:extLst>
              <a:ext uri="{FF2B5EF4-FFF2-40B4-BE49-F238E27FC236}">
                <a16:creationId xmlns:a16="http://schemas.microsoft.com/office/drawing/2014/main" id="{79A3FAC2-66F8-22DF-E4A3-6BFD6009A0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6792" y="1538879"/>
            <a:ext cx="5845208" cy="492483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E7F90AF8-31B9-61F4-4A0F-5E8B4F7468F4}"/>
              </a:ext>
            </a:extLst>
          </p:cNvPr>
          <p:cNvSpPr txBox="1"/>
          <p:nvPr/>
        </p:nvSpPr>
        <p:spPr>
          <a:xfrm>
            <a:off x="8324265" y="1034610"/>
            <a:ext cx="18902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 OpenAI</a:t>
            </a:r>
          </a:p>
        </p:txBody>
      </p:sp>
    </p:spTree>
    <p:extLst>
      <p:ext uri="{BB962C8B-B14F-4D97-AF65-F5344CB8AC3E}">
        <p14:creationId xmlns:p14="http://schemas.microsoft.com/office/powerpoint/2010/main" val="568016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4A5D67-7C42-E76A-2BE8-AF634D18F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Acquistion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Tool </a:t>
            </a:r>
            <a:r>
              <a:rPr lang="de-DE" dirty="0" err="1"/>
              <a:t>Usage</a:t>
            </a:r>
            <a:r>
              <a:rPr lang="de-DE" dirty="0"/>
              <a:t> Skills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25C6A02-312A-F33B-325E-62CABF3DDB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using</a:t>
            </a:r>
            <a:r>
              <a:rPr lang="de-DE" sz="2600" dirty="0"/>
              <a:t> </a:t>
            </a:r>
            <a:r>
              <a:rPr lang="de-DE" sz="2600" dirty="0" err="1"/>
              <a:t>instruction-tuned</a:t>
            </a:r>
            <a:r>
              <a:rPr lang="de-DE" sz="2600" dirty="0"/>
              <a:t> LLMs (like ChatGPT) </a:t>
            </a:r>
            <a:r>
              <a:rPr lang="de-DE" sz="2600" dirty="0" err="1"/>
              <a:t>as</a:t>
            </a:r>
            <a:r>
              <a:rPr lang="de-DE" sz="2600" dirty="0"/>
              <a:t> </a:t>
            </a:r>
            <a:r>
              <a:rPr lang="de-DE" sz="2600" dirty="0" err="1"/>
              <a:t>agent</a:t>
            </a:r>
            <a:r>
              <a:rPr lang="de-DE" sz="2600" dirty="0"/>
              <a:t>:</a:t>
            </a:r>
          </a:p>
          <a:p>
            <a:r>
              <a:rPr lang="de-DE" sz="2600" dirty="0" err="1"/>
              <a:t>core</a:t>
            </a:r>
            <a:r>
              <a:rPr lang="de-DE" sz="2600" dirty="0"/>
              <a:t> </a:t>
            </a:r>
            <a:r>
              <a:rPr lang="de-DE" sz="2600" dirty="0" err="1"/>
              <a:t>capability</a:t>
            </a:r>
            <a:r>
              <a:rPr lang="de-DE" sz="2600" dirty="0"/>
              <a:t> (</a:t>
            </a:r>
            <a:r>
              <a:rPr lang="de-DE" sz="2600" i="1" dirty="0" err="1"/>
              <a:t>how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use</a:t>
            </a:r>
            <a:r>
              <a:rPr lang="de-DE" sz="2600" dirty="0"/>
              <a:t> a </a:t>
            </a:r>
            <a:r>
              <a:rPr lang="de-DE" sz="2600" dirty="0" err="1"/>
              <a:t>tool</a:t>
            </a:r>
            <a:r>
              <a:rPr lang="de-DE" sz="2600" dirty="0"/>
              <a:t>) </a:t>
            </a:r>
            <a:r>
              <a:rPr lang="de-DE" sz="2600" dirty="0" err="1"/>
              <a:t>comes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</a:t>
            </a:r>
            <a:r>
              <a:rPr lang="de-DE" sz="2600" dirty="0" err="1"/>
              <a:t>pretraining</a:t>
            </a:r>
            <a:r>
              <a:rPr lang="de-DE" sz="2600" dirty="0"/>
              <a:t> and different </a:t>
            </a:r>
            <a:r>
              <a:rPr lang="de-DE" sz="2600" dirty="0" err="1"/>
              <a:t>finetuning</a:t>
            </a:r>
            <a:r>
              <a:rPr lang="de-DE" sz="2600" dirty="0"/>
              <a:t> </a:t>
            </a:r>
            <a:r>
              <a:rPr lang="de-DE" sz="2600" dirty="0" err="1"/>
              <a:t>stages</a:t>
            </a:r>
            <a:r>
              <a:rPr lang="de-DE" sz="2600" dirty="0"/>
              <a:t> </a:t>
            </a:r>
          </a:p>
          <a:p>
            <a:r>
              <a:rPr lang="de-DE" sz="2600" dirty="0" err="1"/>
              <a:t>tool</a:t>
            </a:r>
            <a:r>
              <a:rPr lang="de-DE" sz="2600" dirty="0"/>
              <a:t> </a:t>
            </a:r>
            <a:r>
              <a:rPr lang="de-DE" sz="2600" dirty="0" err="1"/>
              <a:t>access</a:t>
            </a:r>
            <a:r>
              <a:rPr lang="de-DE" sz="2600" dirty="0"/>
              <a:t> </a:t>
            </a:r>
            <a:r>
              <a:rPr lang="de-DE" sz="2600" dirty="0" err="1"/>
              <a:t>controlled</a:t>
            </a:r>
            <a:r>
              <a:rPr lang="de-DE" sz="2600" dirty="0"/>
              <a:t> at </a:t>
            </a:r>
            <a:r>
              <a:rPr lang="de-DE" sz="2600" dirty="0" err="1"/>
              <a:t>runtime</a:t>
            </a:r>
            <a:r>
              <a:rPr lang="de-DE" sz="2600" dirty="0"/>
              <a:t> via </a:t>
            </a:r>
            <a:r>
              <a:rPr lang="de-DE" sz="2600" dirty="0" err="1"/>
              <a:t>prompting</a:t>
            </a:r>
            <a:r>
              <a:rPr lang="de-DE" sz="2600" dirty="0"/>
              <a:t> and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messages</a:t>
            </a:r>
            <a:endParaRPr lang="de-DE" sz="2600" dirty="0"/>
          </a:p>
          <a:p>
            <a:r>
              <a:rPr lang="de-DE" sz="2600" dirty="0" err="1"/>
              <a:t>tool</a:t>
            </a:r>
            <a:r>
              <a:rPr lang="de-DE" sz="2600" dirty="0"/>
              <a:t> </a:t>
            </a:r>
            <a:r>
              <a:rPr lang="de-DE" sz="2600" dirty="0" err="1"/>
              <a:t>selection</a:t>
            </a:r>
            <a:r>
              <a:rPr lang="de-DE" sz="2600" dirty="0"/>
              <a:t> (</a:t>
            </a:r>
            <a:r>
              <a:rPr lang="de-DE" sz="2600" i="1" dirty="0" err="1"/>
              <a:t>when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use</a:t>
            </a:r>
            <a:r>
              <a:rPr lang="de-DE" sz="2600" dirty="0"/>
              <a:t> </a:t>
            </a:r>
            <a:r>
              <a:rPr lang="de-DE" sz="2600" i="1" dirty="0" err="1"/>
              <a:t>which</a:t>
            </a:r>
            <a:r>
              <a:rPr lang="de-DE" sz="2600" dirty="0"/>
              <a:t> </a:t>
            </a:r>
            <a:r>
              <a:rPr lang="de-DE" sz="2600" dirty="0" err="1"/>
              <a:t>tool</a:t>
            </a:r>
            <a:r>
              <a:rPr lang="de-DE" sz="2600" dirty="0"/>
              <a:t>) </a:t>
            </a:r>
            <a:r>
              <a:rPr lang="de-DE" sz="2600" dirty="0" err="1"/>
              <a:t>decided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</a:t>
            </a:r>
            <a:r>
              <a:rPr lang="de-DE" sz="2600" dirty="0" err="1"/>
              <a:t>context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potentially</a:t>
            </a:r>
            <a:r>
              <a:rPr lang="de-DE" sz="2600" dirty="0"/>
              <a:t>, </a:t>
            </a:r>
            <a:r>
              <a:rPr lang="de-DE" sz="2600" dirty="0" err="1"/>
              <a:t>custom</a:t>
            </a:r>
            <a:r>
              <a:rPr lang="de-DE" sz="2600" dirty="0"/>
              <a:t> </a:t>
            </a:r>
            <a:r>
              <a:rPr lang="de-DE" sz="2600" dirty="0" err="1"/>
              <a:t>finetuning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specific</a:t>
            </a:r>
            <a:r>
              <a:rPr lang="de-DE" sz="2600" dirty="0"/>
              <a:t> </a:t>
            </a:r>
            <a:r>
              <a:rPr lang="de-DE" sz="2600" dirty="0" err="1"/>
              <a:t>tools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workflows</a:t>
            </a:r>
            <a:endParaRPr lang="de-DE" sz="26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F68EB6-B573-6360-A87A-A5012C442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7693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8EEC439-5980-AF14-BFE2-B2A099648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Context</a:t>
            </a:r>
            <a:r>
              <a:rPr lang="de-DE" dirty="0"/>
              <a:t> Protocol (</a:t>
            </a:r>
            <a:r>
              <a:rPr lang="de-DE" dirty="0">
                <a:hlinkClick r:id="rId2"/>
              </a:rPr>
              <a:t>MCP</a:t>
            </a:r>
            <a:r>
              <a:rPr lang="de-DE" dirty="0"/>
              <a:t>)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DA45A15-D672-2C65-179B-A2FBA8A42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open </a:t>
            </a:r>
            <a:r>
              <a:rPr lang="de-DE" dirty="0" err="1"/>
              <a:t>protocol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connect LLMs </a:t>
            </a:r>
            <a:r>
              <a:rPr lang="de-DE" dirty="0" err="1"/>
              <a:t>to</a:t>
            </a:r>
            <a:r>
              <a:rPr lang="de-DE" dirty="0"/>
              <a:t> different </a:t>
            </a:r>
            <a:r>
              <a:rPr lang="de-DE" dirty="0" err="1"/>
              <a:t>tools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sources</a:t>
            </a:r>
            <a:endParaRPr lang="de-DE" dirty="0"/>
          </a:p>
          <a:p>
            <a:pPr marL="0" indent="0">
              <a:buNone/>
            </a:pPr>
            <a:r>
              <a:rPr lang="de-DE" dirty="0" err="1"/>
              <a:t>standardization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provisioning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external </a:t>
            </a:r>
            <a:r>
              <a:rPr lang="de-DE" dirty="0" err="1"/>
              <a:t>context</a:t>
            </a: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158712B2-110F-48C6-5B59-8EF4D18DF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  <p:pic>
        <p:nvPicPr>
          <p:cNvPr id="8" name="Grafik 7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4A02D602-91C1-34D1-7D3F-C9EDF43BD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377" y="2935069"/>
            <a:ext cx="7043245" cy="3786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284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D1AB9C-F483-1DA5-2828-63D2C685A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Memory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1825E1B-6E1D-169A-2810-6B77D95DCC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 </a:t>
            </a:r>
            <a:r>
              <a:rPr lang="de-DE" dirty="0" err="1"/>
              <a:t>short</a:t>
            </a:r>
            <a:r>
              <a:rPr lang="de-DE" dirty="0"/>
              <a:t>-term </a:t>
            </a:r>
            <a:r>
              <a:rPr lang="de-DE" dirty="0" err="1"/>
              <a:t>memory</a:t>
            </a:r>
            <a:r>
              <a:rPr lang="de-DE" dirty="0"/>
              <a:t> in </a:t>
            </a:r>
            <a:r>
              <a:rPr lang="de-DE" dirty="0" err="1"/>
              <a:t>context</a:t>
            </a:r>
            <a:r>
              <a:rPr lang="de-DE" dirty="0"/>
              <a:t> (</a:t>
            </a:r>
            <a:r>
              <a:rPr lang="de-DE" dirty="0" err="1"/>
              <a:t>sufficient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 err="1"/>
              <a:t>long</a:t>
            </a:r>
            <a:r>
              <a:rPr lang="de-DE" b="1" dirty="0"/>
              <a:t>-term </a:t>
            </a:r>
            <a:r>
              <a:rPr lang="de-DE" b="1" dirty="0" err="1"/>
              <a:t>storage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survives</a:t>
            </a:r>
            <a:r>
              <a:rPr lang="de-DE" dirty="0"/>
              <a:t> </a:t>
            </a:r>
            <a:r>
              <a:rPr lang="de-DE" dirty="0" err="1"/>
              <a:t>across</a:t>
            </a:r>
            <a:r>
              <a:rPr lang="de-DE" dirty="0"/>
              <a:t> </a:t>
            </a:r>
            <a:r>
              <a:rPr lang="de-DE" dirty="0" err="1"/>
              <a:t>conversations</a:t>
            </a:r>
            <a:endParaRPr lang="de-DE" dirty="0"/>
          </a:p>
          <a:p>
            <a:endParaRPr lang="de-DE" dirty="0"/>
          </a:p>
          <a:p>
            <a:pPr marL="0" indent="0">
              <a:buNone/>
            </a:pP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implemented</a:t>
            </a:r>
            <a:r>
              <a:rPr lang="de-DE" dirty="0"/>
              <a:t> </a:t>
            </a:r>
            <a:r>
              <a:rPr lang="de-DE" dirty="0" err="1"/>
              <a:t>through</a:t>
            </a:r>
            <a:r>
              <a:rPr lang="de-DE" dirty="0"/>
              <a:t> external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stores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… not </a:t>
            </a:r>
            <a:r>
              <a:rPr lang="de-DE" dirty="0" err="1"/>
              <a:t>very</a:t>
            </a:r>
            <a:r>
              <a:rPr lang="de-DE" dirty="0"/>
              <a:t> </a:t>
            </a:r>
            <a:r>
              <a:rPr lang="de-DE" dirty="0" err="1"/>
              <a:t>common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...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1F1F577-87BF-23C2-1F88-3311AF5AC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9</a:t>
            </a:fld>
            <a:endParaRPr lang="de-DE"/>
          </a:p>
        </p:txBody>
      </p:sp>
      <p:pic>
        <p:nvPicPr>
          <p:cNvPr id="1026" name="Picture 2" descr="MEMENTO - MEMENTO (1 Blu-ray): Amazon.de: DVD &amp; Blu-ray">
            <a:extLst>
              <a:ext uri="{FF2B5EF4-FFF2-40B4-BE49-F238E27FC236}">
                <a16:creationId xmlns:a16="http://schemas.microsoft.com/office/drawing/2014/main" id="{AFF53CD3-D3A4-8236-FA9C-5BB8A7738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82151" y="824582"/>
            <a:ext cx="1775401" cy="2090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1127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67864-9E11-5FB5-BC1E-A808910F4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Prompting</a:t>
            </a:r>
            <a:r>
              <a:rPr lang="de-DE" dirty="0"/>
              <a:t> </a:t>
            </a:r>
            <a:r>
              <a:rPr lang="de-DE" dirty="0" err="1"/>
              <a:t>Strategies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7254E2-EEF9-35D3-FA17-64F0E3B009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let LLM agents show reasoning capabilities by clever prompts</a:t>
            </a:r>
          </a:p>
          <a:p>
            <a:r>
              <a:rPr lang="en-GB" dirty="0">
                <a:solidFill>
                  <a:srgbClr val="212529"/>
                </a:solidFill>
              </a:rPr>
              <a:t>… </a:t>
            </a:r>
            <a:r>
              <a:rPr lang="en-GB" dirty="0">
                <a:solidFill>
                  <a:srgbClr val="212529"/>
                </a:solidFill>
                <a:hlinkClick r:id="rId2"/>
              </a:rPr>
              <a:t>chain-of-thought prompting</a:t>
            </a:r>
            <a:endParaRPr lang="en-GB" dirty="0">
              <a:solidFill>
                <a:srgbClr val="212529"/>
              </a:solidFill>
            </a:endParaRPr>
          </a:p>
          <a:p>
            <a:r>
              <a:rPr lang="en-GB" dirty="0">
                <a:solidFill>
                  <a:srgbClr val="212529"/>
                </a:solidFill>
              </a:rPr>
              <a:t>… </a:t>
            </a:r>
            <a:r>
              <a:rPr lang="en-GB" dirty="0">
                <a:solidFill>
                  <a:srgbClr val="212529"/>
                </a:solidFill>
                <a:hlinkClick r:id="rId3"/>
              </a:rPr>
              <a:t>ReAct</a:t>
            </a:r>
            <a:endParaRPr lang="en-GB" dirty="0">
              <a:solidFill>
                <a:srgbClr val="212529"/>
              </a:solidFill>
            </a:endParaRPr>
          </a:p>
          <a:p>
            <a:r>
              <a:rPr lang="en-GB" dirty="0"/>
              <a:t>prompt optimization (</a:t>
            </a:r>
            <a:r>
              <a:rPr lang="en-GB" dirty="0">
                <a:hlinkClick r:id="rId4"/>
              </a:rPr>
              <a:t>OPRO</a:t>
            </a:r>
            <a:r>
              <a:rPr lang="en-GB" dirty="0"/>
              <a:t>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test-time </a:t>
            </a:r>
            <a:r>
              <a:rPr lang="de-DE" dirty="0" err="1"/>
              <a:t>scaling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BACC79-FB8B-ECD2-C82F-7F0CC817A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48559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7318C8-73B9-EC43-542B-973C6D5D7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Chain-</a:t>
            </a:r>
            <a:r>
              <a:rPr lang="de-DE" dirty="0" err="1"/>
              <a:t>of</a:t>
            </a:r>
            <a:r>
              <a:rPr lang="de-DE" dirty="0"/>
              <a:t>-</a:t>
            </a:r>
            <a:r>
              <a:rPr lang="de-DE" dirty="0" err="1"/>
              <a:t>Thought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423DBD-2794-C31A-80DB-8E96FCD1EB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3817CB-7601-B6C0-8EE5-823BC42E1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98364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0CEEA0-8B29-3C1D-D0C6-FC1028591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ReAct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E4A5B7-F54B-4BB6-7F6A-6CFDE25BA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821C98F-0DA1-1BC2-0CB9-BCBEFCA88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00676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5646C0-9DE6-1614-0D5F-7524EEA1A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hlinkClick r:id="rId2"/>
              </a:rPr>
              <a:t>OPRO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EAFB34-87BB-A05E-1496-1D217F5353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36A156-69CB-BD1E-116E-70E5767C6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13</a:t>
            </a:fld>
            <a:endParaRPr lang="de-DE"/>
          </a:p>
        </p:txBody>
      </p:sp>
      <p:pic>
        <p:nvPicPr>
          <p:cNvPr id="6" name="Grafik 5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FBAE8D1C-F934-A573-7E5F-4333C6290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454668"/>
            <a:ext cx="7772400" cy="4266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5912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C186D0-81C0-6D65-DD79-FFED278A1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Test-Time </a:t>
            </a:r>
            <a:r>
              <a:rPr lang="de-DE" dirty="0" err="1"/>
              <a:t>Scaling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E73D71-9010-09DA-2EB7-5F1CA7198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thinking</a:t>
            </a:r>
            <a:r>
              <a:rPr lang="de-DE" dirty="0"/>
              <a:t> time (i.e., </a:t>
            </a:r>
            <a:r>
              <a:rPr lang="de-DE" dirty="0" err="1"/>
              <a:t>compute</a:t>
            </a:r>
            <a:r>
              <a:rPr lang="de-DE" dirty="0"/>
              <a:t>),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 err="1"/>
              <a:t>models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52094D-0E7C-4795-9CA0-BBEBEE72E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6533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1C5D31-09E7-37D3-7B4B-64D7BF2DF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Reasoning</a:t>
            </a:r>
            <a:r>
              <a:rPr lang="de-DE" dirty="0"/>
              <a:t>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836B4B-ECB5-59A6-0FED-B3140FC37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finetuning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 err="1"/>
              <a:t>capabilities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LLMs</a:t>
            </a:r>
          </a:p>
          <a:p>
            <a:endParaRPr lang="de-DE" dirty="0"/>
          </a:p>
          <a:p>
            <a:r>
              <a:rPr lang="de-DE" dirty="0" err="1"/>
              <a:t>explicitly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perform native </a:t>
            </a:r>
            <a:r>
              <a:rPr lang="de-DE" dirty="0" err="1"/>
              <a:t>thinking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chain-of-thought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B650135-6F1E-0A6A-7FAD-339FF401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1596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6C20C4-5209-19D7-483A-98696C467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Test-Time Training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BB78A2-9831-C082-306C-27212A8FF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hlinkClick r:id="rId2"/>
              </a:rPr>
              <a:t>TTT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0A53C98-BCF2-DF15-62E2-53F1B7EE2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49143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6BB335-B909-3481-F78C-2F6FA8F65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Agents</a:t>
            </a:r>
            <a:r>
              <a:rPr lang="de-DE" dirty="0"/>
              <a:t> and LLM Orchestration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8B74722-F2FE-4CB7-44ED-EDB2E891B7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dirty="0" err="1"/>
              <a:t>LangChain</a:t>
            </a:r>
            <a:r>
              <a:rPr lang="de-DE" dirty="0"/>
              <a:t>, </a:t>
            </a:r>
            <a:r>
              <a:rPr lang="de-DE" dirty="0" err="1"/>
              <a:t>AutoGPT</a:t>
            </a:r>
            <a:r>
              <a:rPr lang="de-DE" dirty="0"/>
              <a:t>, </a:t>
            </a:r>
            <a:r>
              <a:rPr lang="de-DE" dirty="0" err="1"/>
              <a:t>OpenAgents</a:t>
            </a:r>
            <a:r>
              <a:rPr lang="de-DE" dirty="0"/>
              <a:t>, </a:t>
            </a:r>
            <a:r>
              <a:rPr lang="de-DE" dirty="0" err="1"/>
              <a:t>BabyAGI</a:t>
            </a:r>
            <a:r>
              <a:rPr lang="de-DE" dirty="0"/>
              <a:t>, …</a:t>
            </a:r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lang="de-DE" b="1" dirty="0" err="1"/>
              <a:t>prompting</a:t>
            </a:r>
            <a:r>
              <a:rPr lang="de-DE" b="1" dirty="0"/>
              <a:t> </a:t>
            </a:r>
            <a:r>
              <a:rPr lang="de-DE" b="1" dirty="0" err="1"/>
              <a:t>strategies</a:t>
            </a:r>
            <a:r>
              <a:rPr lang="de-DE" b="1" dirty="0"/>
              <a:t> + </a:t>
            </a:r>
            <a:r>
              <a:rPr lang="de-DE" b="1" dirty="0" err="1"/>
              <a:t>orchestration</a:t>
            </a:r>
            <a:r>
              <a:rPr lang="de-DE" b="1" dirty="0"/>
              <a:t> </a:t>
            </a:r>
            <a:r>
              <a:rPr lang="de-DE" b="1" dirty="0" err="1"/>
              <a:t>logic</a:t>
            </a:r>
            <a:r>
              <a:rPr lang="de-DE" b="1" dirty="0"/>
              <a:t> + </a:t>
            </a:r>
            <a:r>
              <a:rPr lang="de-DE" b="1" dirty="0" err="1"/>
              <a:t>access</a:t>
            </a:r>
            <a:r>
              <a:rPr lang="de-DE" b="1" dirty="0"/>
              <a:t> </a:t>
            </a:r>
            <a:r>
              <a:rPr lang="de-DE" b="1" dirty="0" err="1"/>
              <a:t>to</a:t>
            </a:r>
            <a:r>
              <a:rPr lang="de-DE" b="1" dirty="0"/>
              <a:t> </a:t>
            </a:r>
            <a:r>
              <a:rPr lang="de-DE" b="1" dirty="0" err="1"/>
              <a:t>tools</a:t>
            </a:r>
            <a:r>
              <a:rPr lang="de-DE" b="1" dirty="0"/>
              <a:t>/</a:t>
            </a:r>
            <a:r>
              <a:rPr lang="de-DE" b="1" dirty="0" err="1"/>
              <a:t>memory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pPr marL="0" indent="0">
              <a:buNone/>
            </a:pP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b="1" dirty="0" err="1"/>
              <a:t>wrap</a:t>
            </a:r>
            <a:r>
              <a:rPr lang="de-DE" dirty="0"/>
              <a:t> an LLM (like GPT-4) in an </a:t>
            </a:r>
            <a:r>
              <a:rPr lang="de-DE" dirty="0" err="1"/>
              <a:t>architecture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allows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:</a:t>
            </a:r>
          </a:p>
          <a:p>
            <a:r>
              <a:rPr lang="de-DE" b="1" dirty="0"/>
              <a:t>Prompt </a:t>
            </a:r>
            <a:r>
              <a:rPr lang="de-DE" b="1" dirty="0" err="1"/>
              <a:t>itself</a:t>
            </a:r>
            <a:r>
              <a:rPr lang="de-DE" b="1" dirty="0"/>
              <a:t> in a loop</a:t>
            </a:r>
            <a:r>
              <a:rPr lang="de-DE" dirty="0"/>
              <a:t> (</a:t>
            </a:r>
            <a:r>
              <a:rPr lang="de-DE" dirty="0" err="1"/>
              <a:t>self-reflect</a:t>
            </a:r>
            <a:r>
              <a:rPr lang="de-DE" dirty="0"/>
              <a:t>, plan, </a:t>
            </a:r>
            <a:r>
              <a:rPr lang="de-DE" dirty="0" err="1"/>
              <a:t>re</a:t>
            </a:r>
            <a:r>
              <a:rPr lang="de-DE" dirty="0"/>
              <a:t>-prompt).</a:t>
            </a:r>
          </a:p>
          <a:p>
            <a:r>
              <a:rPr lang="de-DE" b="1" dirty="0" err="1"/>
              <a:t>Persist</a:t>
            </a:r>
            <a:r>
              <a:rPr lang="de-DE" b="1" dirty="0"/>
              <a:t> </a:t>
            </a:r>
            <a:r>
              <a:rPr lang="de-DE" b="1" dirty="0" err="1"/>
              <a:t>state</a:t>
            </a:r>
            <a:r>
              <a:rPr lang="de-DE" dirty="0"/>
              <a:t> (via </a:t>
            </a:r>
            <a:r>
              <a:rPr lang="de-DE" dirty="0" err="1"/>
              <a:t>memory</a:t>
            </a:r>
            <a:r>
              <a:rPr lang="de-DE" dirty="0"/>
              <a:t>, </a:t>
            </a:r>
            <a:r>
              <a:rPr lang="de-DE" dirty="0" err="1"/>
              <a:t>databases</a:t>
            </a:r>
            <a:r>
              <a:rPr lang="de-DE" dirty="0"/>
              <a:t>).</a:t>
            </a:r>
          </a:p>
          <a:p>
            <a:r>
              <a:rPr lang="de-DE" b="1" dirty="0"/>
              <a:t>Call external </a:t>
            </a:r>
            <a:r>
              <a:rPr lang="de-DE" b="1" dirty="0" err="1"/>
              <a:t>tools</a:t>
            </a:r>
            <a:r>
              <a:rPr lang="de-DE" b="1" dirty="0"/>
              <a:t>/APIs</a:t>
            </a:r>
            <a:r>
              <a:rPr lang="de-DE" dirty="0"/>
              <a:t> (web </a:t>
            </a:r>
            <a:r>
              <a:rPr lang="de-DE" dirty="0" err="1"/>
              <a:t>search</a:t>
            </a:r>
            <a:r>
              <a:rPr lang="de-DE" dirty="0"/>
              <a:t>, code </a:t>
            </a:r>
            <a:r>
              <a:rPr lang="de-DE" dirty="0" err="1"/>
              <a:t>execution</a:t>
            </a:r>
            <a:r>
              <a:rPr lang="de-DE" dirty="0"/>
              <a:t>, </a:t>
            </a:r>
            <a:r>
              <a:rPr lang="de-DE" dirty="0" err="1"/>
              <a:t>file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).</a:t>
            </a:r>
          </a:p>
          <a:p>
            <a:r>
              <a:rPr lang="de-DE" b="1" dirty="0" err="1"/>
              <a:t>Iteratively</a:t>
            </a:r>
            <a:r>
              <a:rPr lang="de-DE" b="1" dirty="0"/>
              <a:t> </a:t>
            </a:r>
            <a:r>
              <a:rPr lang="de-DE" b="1" dirty="0" err="1"/>
              <a:t>refine</a:t>
            </a:r>
            <a:r>
              <a:rPr lang="de-DE" b="1" dirty="0"/>
              <a:t> </a:t>
            </a:r>
            <a:r>
              <a:rPr lang="de-DE" b="1" dirty="0" err="1"/>
              <a:t>output</a:t>
            </a:r>
            <a:r>
              <a:rPr lang="de-DE" dirty="0"/>
              <a:t> </a:t>
            </a:r>
            <a:r>
              <a:rPr lang="de-DE" dirty="0" err="1"/>
              <a:t>toward</a:t>
            </a:r>
            <a:r>
              <a:rPr lang="de-DE" dirty="0"/>
              <a:t> a </a:t>
            </a:r>
            <a:r>
              <a:rPr lang="de-DE" dirty="0" err="1"/>
              <a:t>goal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868C356-CB0F-390F-3607-F244D67E9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65349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303D78-315B-F9C7-BAA4-AC1A14712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Structured Outputs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BAD284-115D-8814-3F2F-20FCF4F8CC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turn </a:t>
            </a:r>
            <a:r>
              <a:rPr lang="de-DE" dirty="0" err="1"/>
              <a:t>freeform</a:t>
            </a:r>
            <a:r>
              <a:rPr lang="de-DE" dirty="0"/>
              <a:t> </a:t>
            </a:r>
            <a:r>
              <a:rPr lang="de-DE" dirty="0" err="1"/>
              <a:t>generation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parsable</a:t>
            </a:r>
            <a:r>
              <a:rPr lang="de-DE" dirty="0"/>
              <a:t> </a:t>
            </a:r>
            <a:r>
              <a:rPr lang="de-DE" dirty="0" err="1"/>
              <a:t>formats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2ACC4D-CF30-105F-C4EC-D49CA20EF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68233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A793F-C8E0-AABA-06EF-BF5916C1A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Goal: Autonomous End-to-End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1DA0A-3394-1274-5D3F-3D2BFD3C2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EA844-D84E-46D3-B34D-D5A70E978FE4}" type="slidenum">
              <a:rPr lang="en-GB" smtClean="0"/>
              <a:t>19</a:t>
            </a:fld>
            <a:endParaRPr lang="en-GB"/>
          </a:p>
        </p:txBody>
      </p:sp>
      <p:sp>
        <p:nvSpPr>
          <p:cNvPr id="6" name="Rectangle: Rounded Corners 3">
            <a:extLst>
              <a:ext uri="{FF2B5EF4-FFF2-40B4-BE49-F238E27FC236}">
                <a16:creationId xmlns:a16="http://schemas.microsoft.com/office/drawing/2014/main" id="{2F2BF518-07A9-BED3-6560-8450C6DBE3A2}"/>
              </a:ext>
            </a:extLst>
          </p:cNvPr>
          <p:cNvSpPr/>
          <p:nvPr/>
        </p:nvSpPr>
        <p:spPr>
          <a:xfrm>
            <a:off x="695324" y="3834677"/>
            <a:ext cx="1808207" cy="955589"/>
          </a:xfrm>
          <a:prstGeom prst="round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tIns="90000" bIns="9000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游ゴシック Medium"/>
                <a:ea typeface="游ゴシック Medium"/>
                <a:cs typeface="+mn-cs"/>
              </a:rPr>
              <a:t>domain knowledge</a:t>
            </a:r>
          </a:p>
        </p:txBody>
      </p:sp>
      <p:sp>
        <p:nvSpPr>
          <p:cNvPr id="7" name="Rectangle: Rounded Corners 4">
            <a:extLst>
              <a:ext uri="{FF2B5EF4-FFF2-40B4-BE49-F238E27FC236}">
                <a16:creationId xmlns:a16="http://schemas.microsoft.com/office/drawing/2014/main" id="{9FEFB8F3-1491-ACB8-B1CC-C2FA3D36AF2D}"/>
              </a:ext>
            </a:extLst>
          </p:cNvPr>
          <p:cNvSpPr/>
          <p:nvPr/>
        </p:nvSpPr>
        <p:spPr>
          <a:xfrm>
            <a:off x="4756965" y="1940796"/>
            <a:ext cx="2678064" cy="604023"/>
          </a:xfrm>
          <a:prstGeom prst="round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tIns="90000" bIns="9000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游ゴシック Medium"/>
                <a:ea typeface="游ゴシック Medium"/>
                <a:cs typeface="+mn-cs"/>
              </a:rPr>
              <a:t>LLM/VLM agent</a:t>
            </a:r>
          </a:p>
        </p:txBody>
      </p:sp>
      <p:sp>
        <p:nvSpPr>
          <p:cNvPr id="8" name="Rectangle: Rounded Corners 5">
            <a:extLst>
              <a:ext uri="{FF2B5EF4-FFF2-40B4-BE49-F238E27FC236}">
                <a16:creationId xmlns:a16="http://schemas.microsoft.com/office/drawing/2014/main" id="{01F8A2ED-E962-AC35-C77A-ACD3A0F83A1C}"/>
              </a:ext>
            </a:extLst>
          </p:cNvPr>
          <p:cNvSpPr/>
          <p:nvPr/>
        </p:nvSpPr>
        <p:spPr>
          <a:xfrm>
            <a:off x="4846516" y="3824830"/>
            <a:ext cx="2498963" cy="955589"/>
          </a:xfrm>
          <a:prstGeom prst="round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tIns="90000" bIns="9000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2400" kern="0" dirty="0">
                <a:solidFill>
                  <a:srgbClr val="000000"/>
                </a:solidFill>
                <a:latin typeface="游ゴシック Medium"/>
                <a:ea typeface="游ゴシック Medium"/>
              </a:rPr>
              <a:t>e.g., tabular models</a:t>
            </a:r>
            <a:endParaRPr kumimoji="0" lang="en-GB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游ゴシック Medium"/>
              <a:ea typeface="游ゴシック Medium"/>
              <a:cs typeface="+mn-cs"/>
            </a:endParaRPr>
          </a:p>
        </p:txBody>
      </p:sp>
      <p:sp>
        <p:nvSpPr>
          <p:cNvPr id="9" name="Rectangle: Rounded Corners 6">
            <a:extLst>
              <a:ext uri="{FF2B5EF4-FFF2-40B4-BE49-F238E27FC236}">
                <a16:creationId xmlns:a16="http://schemas.microsoft.com/office/drawing/2014/main" id="{8003EAA6-3C28-60E0-DB6E-72A6996578AE}"/>
              </a:ext>
            </a:extLst>
          </p:cNvPr>
          <p:cNvSpPr/>
          <p:nvPr/>
        </p:nvSpPr>
        <p:spPr>
          <a:xfrm>
            <a:off x="9688467" y="3834677"/>
            <a:ext cx="1454751" cy="955589"/>
          </a:xfrm>
          <a:prstGeom prst="round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tIns="90000" bIns="9000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游ゴシック Medium"/>
                <a:ea typeface="游ゴシック Medium"/>
                <a:cs typeface="+mn-cs"/>
              </a:rPr>
              <a:t>decision making</a:t>
            </a:r>
          </a:p>
        </p:txBody>
      </p:sp>
      <p:sp>
        <p:nvSpPr>
          <p:cNvPr id="10" name="Rectangle: Rounded Corners 7">
            <a:extLst>
              <a:ext uri="{FF2B5EF4-FFF2-40B4-BE49-F238E27FC236}">
                <a16:creationId xmlns:a16="http://schemas.microsoft.com/office/drawing/2014/main" id="{6924054E-8F83-0BC5-7558-3B02C5C90C2A}"/>
              </a:ext>
            </a:extLst>
          </p:cNvPr>
          <p:cNvSpPr/>
          <p:nvPr/>
        </p:nvSpPr>
        <p:spPr>
          <a:xfrm>
            <a:off x="5214550" y="5726160"/>
            <a:ext cx="1762897" cy="539577"/>
          </a:xfrm>
          <a:prstGeom prst="roundRect">
            <a:avLst/>
          </a:prstGeom>
          <a:solidFill>
            <a:srgbClr val="EEEEEE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tIns="90000" bIns="90000" rtlCol="0" anchor="t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游ゴシック Medium"/>
                <a:ea typeface="游ゴシック Medium"/>
                <a:cs typeface="+mn-cs"/>
              </a:rPr>
              <a:t>perception</a:t>
            </a:r>
          </a:p>
        </p:txBody>
      </p:sp>
      <p:cxnSp>
        <p:nvCxnSpPr>
          <p:cNvPr id="11" name="Straight Arrow Connector 8">
            <a:extLst>
              <a:ext uri="{FF2B5EF4-FFF2-40B4-BE49-F238E27FC236}">
                <a16:creationId xmlns:a16="http://schemas.microsoft.com/office/drawing/2014/main" id="{445DD9E3-67CA-0242-7493-68440CA6EE28}"/>
              </a:ext>
            </a:extLst>
          </p:cNvPr>
          <p:cNvCxnSpPr>
            <a:cxnSpLocks/>
            <a:stCxn id="10" idx="1"/>
            <a:endCxn id="6" idx="2"/>
          </p:cNvCxnSpPr>
          <p:nvPr/>
        </p:nvCxnSpPr>
        <p:spPr>
          <a:xfrm flipH="1" flipV="1">
            <a:off x="1599428" y="4790266"/>
            <a:ext cx="3615122" cy="1205683"/>
          </a:xfrm>
          <a:prstGeom prst="straightConnector1">
            <a:avLst/>
          </a:prstGeom>
          <a:noFill/>
          <a:ln w="12700" cap="flat" cmpd="sng" algn="ctr">
            <a:solidFill>
              <a:srgbClr val="00B7F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" name="Straight Arrow Connector 9">
            <a:extLst>
              <a:ext uri="{FF2B5EF4-FFF2-40B4-BE49-F238E27FC236}">
                <a16:creationId xmlns:a16="http://schemas.microsoft.com/office/drawing/2014/main" id="{9DD17454-C864-0612-AE33-1F39D1432C7A}"/>
              </a:ext>
            </a:extLst>
          </p:cNvPr>
          <p:cNvCxnSpPr>
            <a:cxnSpLocks/>
            <a:stCxn id="10" idx="3"/>
            <a:endCxn id="9" idx="2"/>
          </p:cNvCxnSpPr>
          <p:nvPr/>
        </p:nvCxnSpPr>
        <p:spPr>
          <a:xfrm flipV="1">
            <a:off x="6977447" y="4790266"/>
            <a:ext cx="3438396" cy="1205683"/>
          </a:xfrm>
          <a:prstGeom prst="straightConnector1">
            <a:avLst/>
          </a:prstGeom>
          <a:noFill/>
          <a:ln w="12700" cap="flat" cmpd="sng" algn="ctr">
            <a:solidFill>
              <a:srgbClr val="00B7F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" name="Straight Arrow Connector 10">
            <a:extLst>
              <a:ext uri="{FF2B5EF4-FFF2-40B4-BE49-F238E27FC236}">
                <a16:creationId xmlns:a16="http://schemas.microsoft.com/office/drawing/2014/main" id="{BAC7DCF3-924D-7ACC-EE4E-847BFD48E622}"/>
              </a:ext>
            </a:extLst>
          </p:cNvPr>
          <p:cNvCxnSpPr>
            <a:cxnSpLocks/>
            <a:stCxn id="6" idx="0"/>
            <a:endCxn id="7" idx="1"/>
          </p:cNvCxnSpPr>
          <p:nvPr/>
        </p:nvCxnSpPr>
        <p:spPr>
          <a:xfrm flipV="1">
            <a:off x="1599428" y="2242808"/>
            <a:ext cx="3157537" cy="1591869"/>
          </a:xfrm>
          <a:prstGeom prst="straightConnector1">
            <a:avLst/>
          </a:prstGeom>
          <a:noFill/>
          <a:ln w="12700" cap="flat" cmpd="sng" algn="ctr">
            <a:solidFill>
              <a:srgbClr val="00B7F1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" name="TextBox 11">
            <a:extLst>
              <a:ext uri="{FF2B5EF4-FFF2-40B4-BE49-F238E27FC236}">
                <a16:creationId xmlns:a16="http://schemas.microsoft.com/office/drawing/2014/main" id="{B44A87B9-60FC-D03A-E54D-BA7AB01ED288}"/>
              </a:ext>
            </a:extLst>
          </p:cNvPr>
          <p:cNvSpPr txBox="1"/>
          <p:nvPr/>
        </p:nvSpPr>
        <p:spPr>
          <a:xfrm>
            <a:off x="2675058" y="3148177"/>
            <a:ext cx="811441" cy="551090"/>
          </a:xfrm>
          <a:prstGeom prst="rect">
            <a:avLst/>
          </a:prstGeom>
          <a:noFill/>
        </p:spPr>
        <p:txBody>
          <a:bodyPr wrap="none" tIns="90000" bIns="9000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GB" sz="2400" dirty="0">
                <a:solidFill>
                  <a:srgbClr val="000000"/>
                </a:solidFill>
                <a:latin typeface="游ゴシック Medium"/>
              </a:rPr>
              <a:t>RAG</a:t>
            </a:r>
          </a:p>
        </p:txBody>
      </p:sp>
      <p:cxnSp>
        <p:nvCxnSpPr>
          <p:cNvPr id="15" name="Straight Arrow Connector 12">
            <a:extLst>
              <a:ext uri="{FF2B5EF4-FFF2-40B4-BE49-F238E27FC236}">
                <a16:creationId xmlns:a16="http://schemas.microsoft.com/office/drawing/2014/main" id="{3EB9ABF8-9E31-3CC5-6EDD-0B0CA9E317FB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H="1" flipV="1">
            <a:off x="6095997" y="2544819"/>
            <a:ext cx="1" cy="1280011"/>
          </a:xfrm>
          <a:prstGeom prst="straightConnector1">
            <a:avLst/>
          </a:prstGeom>
          <a:noFill/>
          <a:ln w="12700" cap="flat" cmpd="sng" algn="ctr">
            <a:solidFill>
              <a:srgbClr val="00B7F1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" name="Straight Arrow Connector 13">
            <a:extLst>
              <a:ext uri="{FF2B5EF4-FFF2-40B4-BE49-F238E27FC236}">
                <a16:creationId xmlns:a16="http://schemas.microsoft.com/office/drawing/2014/main" id="{D8A3BD67-1B65-A31B-58E4-E93E3FDE7373}"/>
              </a:ext>
            </a:extLst>
          </p:cNvPr>
          <p:cNvCxnSpPr>
            <a:cxnSpLocks/>
            <a:stCxn id="7" idx="3"/>
            <a:endCxn id="9" idx="0"/>
          </p:cNvCxnSpPr>
          <p:nvPr/>
        </p:nvCxnSpPr>
        <p:spPr>
          <a:xfrm>
            <a:off x="7435029" y="2242808"/>
            <a:ext cx="2980814" cy="1591869"/>
          </a:xfrm>
          <a:prstGeom prst="straightConnector1">
            <a:avLst/>
          </a:prstGeom>
          <a:noFill/>
          <a:ln w="12700" cap="flat" cmpd="sng" algn="ctr">
            <a:solidFill>
              <a:srgbClr val="00B7F1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" name="TextBox 14">
            <a:extLst>
              <a:ext uri="{FF2B5EF4-FFF2-40B4-BE49-F238E27FC236}">
                <a16:creationId xmlns:a16="http://schemas.microsoft.com/office/drawing/2014/main" id="{49E8EA8B-2736-A0C1-5132-3856F4EC14D4}"/>
              </a:ext>
            </a:extLst>
          </p:cNvPr>
          <p:cNvSpPr txBox="1"/>
          <p:nvPr/>
        </p:nvSpPr>
        <p:spPr>
          <a:xfrm>
            <a:off x="5416640" y="3050446"/>
            <a:ext cx="1648208" cy="551090"/>
          </a:xfrm>
          <a:prstGeom prst="rect">
            <a:avLst/>
          </a:prstGeom>
          <a:noFill/>
        </p:spPr>
        <p:txBody>
          <a:bodyPr wrap="none" tIns="90000" bIns="9000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GB" sz="2400" dirty="0">
                <a:solidFill>
                  <a:srgbClr val="000000"/>
                </a:solidFill>
                <a:latin typeface="游ゴシック Medium"/>
              </a:rPr>
              <a:t>tool usage</a:t>
            </a: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9EA84B78-F0E6-D602-EFD6-4ACE12E34908}"/>
              </a:ext>
            </a:extLst>
          </p:cNvPr>
          <p:cNvSpPr txBox="1"/>
          <p:nvPr/>
        </p:nvSpPr>
        <p:spPr>
          <a:xfrm>
            <a:off x="9832188" y="3050446"/>
            <a:ext cx="1167307" cy="551090"/>
          </a:xfrm>
          <a:prstGeom prst="rect">
            <a:avLst/>
          </a:prstGeom>
          <a:noFill/>
        </p:spPr>
        <p:txBody>
          <a:bodyPr wrap="none" tIns="90000" bIns="9000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GB" sz="2400">
                <a:solidFill>
                  <a:srgbClr val="000000"/>
                </a:solidFill>
                <a:latin typeface="游ゴシック Medium"/>
              </a:rPr>
              <a:t>control</a:t>
            </a:r>
          </a:p>
        </p:txBody>
      </p:sp>
      <p:sp>
        <p:nvSpPr>
          <p:cNvPr id="19" name="TextBox 26">
            <a:extLst>
              <a:ext uri="{FF2B5EF4-FFF2-40B4-BE49-F238E27FC236}">
                <a16:creationId xmlns:a16="http://schemas.microsoft.com/office/drawing/2014/main" id="{CA4DEEFE-6684-8CD5-E3F1-184373D0975C}"/>
              </a:ext>
            </a:extLst>
          </p:cNvPr>
          <p:cNvSpPr txBox="1"/>
          <p:nvPr/>
        </p:nvSpPr>
        <p:spPr>
          <a:xfrm>
            <a:off x="2503531" y="5393107"/>
            <a:ext cx="907621" cy="551090"/>
          </a:xfrm>
          <a:prstGeom prst="rect">
            <a:avLst/>
          </a:prstGeom>
          <a:noFill/>
        </p:spPr>
        <p:txBody>
          <a:bodyPr wrap="none" tIns="90000" bIns="9000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GB" sz="2400" dirty="0">
                <a:solidFill>
                  <a:srgbClr val="000000"/>
                </a:solidFill>
                <a:latin typeface="游ゴシック Medium"/>
              </a:rPr>
              <a:t>input</a:t>
            </a:r>
          </a:p>
        </p:txBody>
      </p:sp>
      <p:sp>
        <p:nvSpPr>
          <p:cNvPr id="20" name="TextBox 27">
            <a:extLst>
              <a:ext uri="{FF2B5EF4-FFF2-40B4-BE49-F238E27FC236}">
                <a16:creationId xmlns:a16="http://schemas.microsoft.com/office/drawing/2014/main" id="{BF1ACE61-3336-BEB1-3010-893B4093EC2C}"/>
              </a:ext>
            </a:extLst>
          </p:cNvPr>
          <p:cNvSpPr txBox="1"/>
          <p:nvPr/>
        </p:nvSpPr>
        <p:spPr>
          <a:xfrm>
            <a:off x="8441358" y="5393107"/>
            <a:ext cx="907621" cy="551090"/>
          </a:xfrm>
          <a:prstGeom prst="rect">
            <a:avLst/>
          </a:prstGeom>
          <a:noFill/>
        </p:spPr>
        <p:txBody>
          <a:bodyPr wrap="none" tIns="90000" bIns="9000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GB" sz="2400" dirty="0">
                <a:solidFill>
                  <a:srgbClr val="000000"/>
                </a:solidFill>
                <a:latin typeface="游ゴシック Medium"/>
              </a:rPr>
              <a:t>input</a:t>
            </a:r>
          </a:p>
        </p:txBody>
      </p:sp>
      <p:cxnSp>
        <p:nvCxnSpPr>
          <p:cNvPr id="21" name="Straight Arrow Connector 31">
            <a:extLst>
              <a:ext uri="{FF2B5EF4-FFF2-40B4-BE49-F238E27FC236}">
                <a16:creationId xmlns:a16="http://schemas.microsoft.com/office/drawing/2014/main" id="{B8011727-3418-FD68-02B0-1455C5636B4E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2503531" y="4302625"/>
            <a:ext cx="2342985" cy="9847"/>
          </a:xfrm>
          <a:prstGeom prst="straightConnector1">
            <a:avLst/>
          </a:prstGeom>
          <a:noFill/>
          <a:ln w="12700" cap="flat" cmpd="sng" algn="ctr">
            <a:solidFill>
              <a:srgbClr val="00B7F1"/>
            </a:solidFill>
            <a:prstDash val="solid"/>
            <a:miter lim="800000"/>
            <a:headEnd type="triangl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8373756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BD2127B-53C4-3F52-0483-3AFB5EBED99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 anchor="b">
                <a:normAutofit/>
              </a:bodyPr>
              <a:lstStyle/>
              <a:p>
                <a:r>
                  <a:rPr lang="en-GB" sz="5400" dirty="0"/>
                  <a:t>LLMs </a:t>
                </a:r>
                <a14:m>
                  <m:oMath xmlns:m="http://schemas.openxmlformats.org/officeDocument/2006/math">
                    <m:r>
                      <a:rPr lang="en-GB" sz="5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GB" sz="5400" dirty="0"/>
                  <a:t> AGI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BD2127B-53C4-3F52-0483-3AFB5EBED9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3136" b="-285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F923F-79BC-C031-E369-846A413E8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75337"/>
            <a:ext cx="4473502" cy="38016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current AI good at learning statistical patterns and making predictions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but no real “understanding” or world model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000" dirty="0"/>
              <a:t>And don’t get fooled by alignment ;).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9EE254-08CF-85F9-193B-E90D024E5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849D05A8-43E9-1C49-8606-50AB68220DEC}" type="slidenum">
              <a:rPr lang="en-DE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20</a:t>
            </a:fld>
            <a:endParaRPr lang="en-DE">
              <a:solidFill>
                <a:srgbClr val="FFFFFF"/>
              </a:solidFill>
            </a:endParaRPr>
          </a:p>
        </p:txBody>
      </p:sp>
      <p:pic>
        <p:nvPicPr>
          <p:cNvPr id="5" name="Grafik 4" descr="Ein Bild, das Clipart, Cartoon, Animierter Cartoon, Menschliches Gesicht enthält.&#10;&#10;KI-generierte Inhalte können fehlerhaft sein.">
            <a:extLst>
              <a:ext uri="{FF2B5EF4-FFF2-40B4-BE49-F238E27FC236}">
                <a16:creationId xmlns:a16="http://schemas.microsoft.com/office/drawing/2014/main" id="{2C84D3D4-5D6D-4D71-AFE2-8873EC57ED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52" b="3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48304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518</Words>
  <Application>Microsoft Macintosh PowerPoint</Application>
  <PresentationFormat>Breitbild</PresentationFormat>
  <Paragraphs>129</Paragraphs>
  <Slides>20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7" baseType="lpstr">
      <vt:lpstr>游ゴシック Medium</vt:lpstr>
      <vt:lpstr>Aptos</vt:lpstr>
      <vt:lpstr>Aptos Display</vt:lpstr>
      <vt:lpstr>Arial</vt:lpstr>
      <vt:lpstr>Cambria Math</vt:lpstr>
      <vt:lpstr>Wingdings</vt:lpstr>
      <vt:lpstr>Office</vt:lpstr>
      <vt:lpstr>Agents</vt:lpstr>
      <vt:lpstr>Course Contents</vt:lpstr>
      <vt:lpstr>This Part: Agents</vt:lpstr>
      <vt:lpstr>Agentic Intelligence</vt:lpstr>
      <vt:lpstr>Intuitive and Analytical Thinking</vt:lpstr>
      <vt:lpstr>Tool Usage</vt:lpstr>
      <vt:lpstr>Acquistion of Tool Usage Skills</vt:lpstr>
      <vt:lpstr>Model Context Protocol (MCP)</vt:lpstr>
      <vt:lpstr>Memory</vt:lpstr>
      <vt:lpstr>Prompting Strategies</vt:lpstr>
      <vt:lpstr>Chain-of-Thought</vt:lpstr>
      <vt:lpstr>ReAct</vt:lpstr>
      <vt:lpstr>OPRO</vt:lpstr>
      <vt:lpstr>Test-Time Scaling</vt:lpstr>
      <vt:lpstr>Reasoning Models</vt:lpstr>
      <vt:lpstr>Test-Time Training</vt:lpstr>
      <vt:lpstr>Agents and LLM Orchestration</vt:lpstr>
      <vt:lpstr>Structured Outputs</vt:lpstr>
      <vt:lpstr>Goal: Autonomous End-to-End Workflow</vt:lpstr>
      <vt:lpstr>LLMs ≠ AGI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81</cp:revision>
  <dcterms:created xsi:type="dcterms:W3CDTF">2025-07-07T13:23:51Z</dcterms:created>
  <dcterms:modified xsi:type="dcterms:W3CDTF">2025-09-09T15:55:30Z</dcterms:modified>
</cp:coreProperties>
</file>