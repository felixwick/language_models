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792" r:id="rId3"/>
    <p:sldId id="790" r:id="rId4"/>
    <p:sldId id="835" r:id="rId5"/>
    <p:sldId id="754" r:id="rId6"/>
    <p:sldId id="832" r:id="rId7"/>
    <p:sldId id="816" r:id="rId8"/>
    <p:sldId id="834" r:id="rId9"/>
    <p:sldId id="833" r:id="rId10"/>
    <p:sldId id="815" r:id="rId11"/>
    <p:sldId id="814" r:id="rId12"/>
    <p:sldId id="804" r:id="rId13"/>
    <p:sldId id="812" r:id="rId14"/>
    <p:sldId id="736" r:id="rId15"/>
    <p:sldId id="766" r:id="rId16"/>
    <p:sldId id="280" r:id="rId17"/>
    <p:sldId id="828" r:id="rId18"/>
    <p:sldId id="810" r:id="rId19"/>
    <p:sldId id="829" r:id="rId20"/>
    <p:sldId id="841" r:id="rId21"/>
    <p:sldId id="830" r:id="rId22"/>
    <p:sldId id="800" r:id="rId23"/>
    <p:sldId id="819" r:id="rId24"/>
    <p:sldId id="821" r:id="rId25"/>
    <p:sldId id="831" r:id="rId26"/>
    <p:sldId id="333" r:id="rId27"/>
    <p:sldId id="837" r:id="rId28"/>
    <p:sldId id="840" r:id="rId29"/>
    <p:sldId id="839" r:id="rId3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90"/>
    <p:restoredTop sz="94663"/>
  </p:normalViewPr>
  <p:slideViewPr>
    <p:cSldViewPr snapToGrid="0">
      <p:cViewPr varScale="1">
        <p:scale>
          <a:sx n="117" d="100"/>
          <a:sy n="117" d="100"/>
        </p:scale>
        <p:origin x="12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288D3E87-5781-4F83-84CB-1610EAD21773}">
      <dgm:prSet/>
      <dgm:spPr/>
      <dgm:t>
        <a:bodyPr/>
        <a:lstStyle/>
        <a:p>
          <a:r>
            <a:rPr lang="de-DE" b="1"/>
            <a:t>Finetuning</a:t>
          </a:r>
          <a:endParaRPr lang="en-US" b="1" dirty="0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1" kern="1200"/>
            <a:t>Finetuning</a:t>
          </a:r>
          <a:endParaRPr lang="en-US" sz="2800" b="1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938448-F949-A340-94CF-EFC7FB146DC3}" type="datetimeFigureOut">
              <a:rPr lang="de-DE" smtClean="0"/>
              <a:t>17.09.25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788973-CD00-DE47-B22A-36778A77FC1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1237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7ACC2-601D-4B49-AF12-AE7E0A409668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4D07D-C13F-4E4C-B9AC-279F2B3CA927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61780-2A28-3749-A212-7540F54B9465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D020-F608-DA44-840A-F653D7B34645}" type="datetime1">
              <a:rPr lang="de-DE" smtClean="0"/>
              <a:t>17.09.25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84096-D809-3C4A-B49B-20A875EFDFE8}" type="datetime1">
              <a:rPr lang="de-DE" smtClean="0"/>
              <a:t>17.09.25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38CED-7C3B-D243-A7A7-180C1477BFE9}" type="datetime1">
              <a:rPr lang="de-DE" smtClean="0"/>
              <a:t>17.09.25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93341-36E1-684C-B37A-E1CF770EFEDF}" type="datetime1">
              <a:rPr lang="de-DE" smtClean="0"/>
              <a:t>17.09.25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489F-99E0-0B4E-AC85-0F547BC7C4E9}" type="datetime1">
              <a:rPr lang="de-DE" smtClean="0"/>
              <a:t>17.09.25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068F7F-BE24-2A45-927E-12FDF36DDAB4}" type="datetime1">
              <a:rPr lang="de-DE" smtClean="0"/>
              <a:t>17.09.25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6029-94C2-D041-AE64-8D99E258F8A3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C3790-B7B2-CE44-8ABE-1653D553799B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2EDA1-0F0F-7343-82D4-3054E662EA0E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1810.04805v2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10.01108" TargetMode="External"/><Relationship Id="rId2" Type="http://schemas.openxmlformats.org/officeDocument/2006/relationships/hyperlink" Target="https://arxiv.org/abs/1907.11692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mccormickml.com/2019/07/22/BERT-fine-tuning/" TargetMode="External"/><Relationship Id="rId2" Type="http://schemas.openxmlformats.org/officeDocument/2006/relationships/hyperlink" Target="https://www.kaggle.com/competitions/nlp-getting-started/overview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mccormickml.com/2019/07/22/BERT-fine-tuning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Two-types-of-fine-tuning-techniques-using-pretrained-model-trained-on-ImageNet-The-first_fig2_339658226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09.01652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docs/trl/main/en/sft_trainer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403.07691v1" TargetMode="External"/><Relationship Id="rId4" Type="http://schemas.openxmlformats.org/officeDocument/2006/relationships/hyperlink" Target="https://arxiv.org/abs/2305.18290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understanding-and-using-supervised" TargetMode="External"/><Relationship Id="rId2" Type="http://schemas.openxmlformats.org/officeDocument/2006/relationships/hyperlink" Target="https://arxiv.org/abs/2203.02155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rxiv.org/abs/2106.09685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sbt/LLMs-from-scratch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Finetuning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878794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A6BD21-F227-F385-D9F5-42230CC45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Finetuning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preference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parameter-</a:t>
            </a:r>
            <a:r>
              <a:rPr lang="de-DE" dirty="0" err="1"/>
              <a:t>efficient</a:t>
            </a:r>
            <a:r>
              <a:rPr lang="de-DE" dirty="0"/>
              <a:t> </a:t>
            </a:r>
            <a:r>
              <a:rPr lang="de-DE" dirty="0" err="1"/>
              <a:t>finetuning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8C123F-DC22-2183-82AC-AC846FE1A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bgerundetes Rechteck 15">
            <a:extLst>
              <a:ext uri="{FF2B5EF4-FFF2-40B4-BE49-F238E27FC236}">
                <a16:creationId xmlns:a16="http://schemas.microsoft.com/office/drawing/2014/main" id="{C2CF71D3-F9F6-B398-513E-188910BE90BC}"/>
              </a:ext>
            </a:extLst>
          </p:cNvPr>
          <p:cNvSpPr/>
          <p:nvPr/>
        </p:nvSpPr>
        <p:spPr>
          <a:xfrm>
            <a:off x="838198" y="1742480"/>
            <a:ext cx="10210802" cy="68223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bgerundetes Rechteck 14">
            <a:extLst>
              <a:ext uri="{FF2B5EF4-FFF2-40B4-BE49-F238E27FC236}">
                <a16:creationId xmlns:a16="http://schemas.microsoft.com/office/drawing/2014/main" id="{D1D2C1B1-5072-3473-0849-846900EBB4BA}"/>
              </a:ext>
            </a:extLst>
          </p:cNvPr>
          <p:cNvSpPr/>
          <p:nvPr/>
        </p:nvSpPr>
        <p:spPr>
          <a:xfrm>
            <a:off x="838198" y="2853230"/>
            <a:ext cx="10210802" cy="160556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bgerundetes Rechteck 7">
            <a:extLst>
              <a:ext uri="{FF2B5EF4-FFF2-40B4-BE49-F238E27FC236}">
                <a16:creationId xmlns:a16="http://schemas.microsoft.com/office/drawing/2014/main" id="{64A12374-ACEF-7777-B3C5-6F49491F5D56}"/>
              </a:ext>
            </a:extLst>
          </p:cNvPr>
          <p:cNvSpPr/>
          <p:nvPr/>
        </p:nvSpPr>
        <p:spPr>
          <a:xfrm>
            <a:off x="838198" y="4887309"/>
            <a:ext cx="10210802" cy="160556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6D4E78A-896B-C79A-E2FE-5D9193754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Modern Language Models in a Nutshell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908D6CC-B86F-1636-6F85-AB0B7A2A3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tokenization</a:t>
            </a:r>
            <a:r>
              <a:rPr lang="en-GB" dirty="0"/>
              <a:t>: split text into chunks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pretraining</a:t>
            </a:r>
            <a:r>
              <a:rPr lang="en-GB" dirty="0"/>
              <a:t>: self-supervised, next- or masked-token prediction</a:t>
            </a:r>
          </a:p>
          <a:p>
            <a:r>
              <a:rPr lang="en-GB" sz="1800" dirty="0"/>
              <a:t>vector embeddings from tokens (semantic meaning)</a:t>
            </a:r>
            <a:endParaRPr lang="en-GB" sz="1800" dirty="0">
              <a:sym typeface="Wingdings" pitchFamily="2" charset="2"/>
            </a:endParaRPr>
          </a:p>
          <a:p>
            <a:r>
              <a:rPr lang="en-GB" sz="1800" dirty="0"/>
              <a:t>add positional encoding (attention permutation-invariant)</a:t>
            </a:r>
          </a:p>
          <a:p>
            <a:r>
              <a:rPr lang="en-GB" sz="1800" dirty="0"/>
              <a:t>attention mechanism (transformer) </a:t>
            </a:r>
            <a:r>
              <a:rPr lang="en-GB" sz="1800" dirty="0">
                <a:sym typeface="Wingdings" pitchFamily="2" charset="2"/>
              </a:rPr>
              <a:t></a:t>
            </a:r>
            <a:r>
              <a:rPr lang="en-GB" sz="1800" dirty="0"/>
              <a:t> contextual embeddings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finetuning</a:t>
            </a:r>
            <a:r>
              <a:rPr lang="en-GB" dirty="0"/>
              <a:t>: specialization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568FCF-2CF1-B3CF-F33E-FD3F880A8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4</a:t>
            </a:fld>
            <a:endParaRPr lang="en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62D4140-AC0F-1879-1992-0E7A9644CA76}"/>
              </a:ext>
            </a:extLst>
          </p:cNvPr>
          <p:cNvSpPr txBox="1"/>
          <p:nvPr/>
        </p:nvSpPr>
        <p:spPr>
          <a:xfrm>
            <a:off x="6096000" y="5486399"/>
            <a:ext cx="46699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assistant</a:t>
            </a:r>
            <a:r>
              <a:rPr lang="de-DE" dirty="0"/>
              <a:t>/</a:t>
            </a:r>
            <a:r>
              <a:rPr lang="de-DE" dirty="0" err="1"/>
              <a:t>chatbot</a:t>
            </a:r>
            <a:r>
              <a:rPr lang="de-DE" dirty="0"/>
              <a:t> (</a:t>
            </a:r>
            <a:r>
              <a:rPr lang="de-DE" dirty="0" err="1"/>
              <a:t>multipurpose</a:t>
            </a:r>
            <a:r>
              <a:rPr lang="de-DE" dirty="0"/>
              <a:t>):</a:t>
            </a:r>
          </a:p>
          <a:p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(</a:t>
            </a:r>
            <a:r>
              <a:rPr lang="de-DE" dirty="0" err="1"/>
              <a:t>decoder-only</a:t>
            </a:r>
            <a:r>
              <a:rPr lang="de-DE" dirty="0"/>
              <a:t> </a:t>
            </a:r>
            <a:r>
              <a:rPr lang="de-DE" dirty="0" err="1"/>
              <a:t>transformer</a:t>
            </a:r>
            <a:r>
              <a:rPr lang="de-DE" dirty="0"/>
              <a:t>), </a:t>
            </a:r>
            <a:r>
              <a:rPr lang="de-DE" dirty="0" err="1"/>
              <a:t>potentially</a:t>
            </a:r>
            <a:r>
              <a:rPr lang="de-DE" dirty="0"/>
              <a:t> </a:t>
            </a:r>
            <a:r>
              <a:rPr lang="de-DE" dirty="0" err="1"/>
              <a:t>followed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ABA88E0-558D-4BEA-50DB-887EA4201B2E}"/>
              </a:ext>
            </a:extLst>
          </p:cNvPr>
          <p:cNvSpPr txBox="1"/>
          <p:nvPr/>
        </p:nvSpPr>
        <p:spPr>
          <a:xfrm>
            <a:off x="903515" y="5486399"/>
            <a:ext cx="42998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(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):</a:t>
            </a:r>
          </a:p>
          <a:p>
            <a:r>
              <a:rPr lang="de-DE" dirty="0" err="1"/>
              <a:t>finetuning</a:t>
            </a:r>
            <a:r>
              <a:rPr lang="de-DE" dirty="0"/>
              <a:t> on </a:t>
            </a:r>
            <a:r>
              <a:rPr lang="de-DE" dirty="0" err="1"/>
              <a:t>labeled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(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encoder-only</a:t>
            </a:r>
            <a:r>
              <a:rPr lang="de-DE" dirty="0"/>
              <a:t> </a:t>
            </a:r>
            <a:r>
              <a:rPr lang="de-DE" dirty="0" err="1"/>
              <a:t>transformer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6762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EF7C251-E411-67C1-497C-2BFFEBC05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Learning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Foundation</a:t>
            </a:r>
            <a:r>
              <a:rPr lang="de-DE" dirty="0"/>
              <a:t> Models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4FF263-6A7E-63B8-37B4-8152AC6DF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idea:</a:t>
            </a:r>
          </a:p>
          <a:p>
            <a:pPr marL="0" indent="0">
              <a:buNone/>
            </a:pPr>
            <a:r>
              <a:rPr lang="en-GB" dirty="0"/>
              <a:t>pretrain a big model (called foundation model) on a broad data set, and then use these learnings for subsequent trainings on specific (typically narrow) data by means of feature extraction or finetuning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here: self-supervised, internet-scale pretraining of models like BERT or GPT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B5BE9-331D-0505-FC7E-005F6B0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F66358C6-7FB2-EACB-408F-55037CA86FF9}"/>
              </a:ext>
            </a:extLst>
          </p:cNvPr>
          <p:cNvSpPr txBox="1"/>
          <p:nvPr/>
        </p:nvSpPr>
        <p:spPr>
          <a:xfrm>
            <a:off x="2799205" y="5988734"/>
            <a:ext cx="659358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works well for homogenous, unstructured data (e.g., text, images)</a:t>
            </a:r>
          </a:p>
          <a:p>
            <a:r>
              <a:rPr lang="en-GB" dirty="0"/>
              <a:t>but very difficult for heterogenous, structured/tabular data</a:t>
            </a:r>
          </a:p>
        </p:txBody>
      </p:sp>
    </p:spTree>
    <p:extLst>
      <p:ext uri="{BB962C8B-B14F-4D97-AF65-F5344CB8AC3E}">
        <p14:creationId xmlns:p14="http://schemas.microsoft.com/office/powerpoint/2010/main" val="2733141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E23BCC-EA2F-2E03-E8A6-ACECAA471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5D134A-03B5-8F8A-AB03-A32CFC6CB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/>
              <a:t>Classification </a:t>
            </a:r>
            <a:r>
              <a:rPr lang="de-DE" b="1" dirty="0" err="1"/>
              <a:t>tasks</a:t>
            </a:r>
            <a:r>
              <a:rPr lang="de-DE" dirty="0"/>
              <a:t> → [CLS] (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).</a:t>
            </a:r>
          </a:p>
          <a:p>
            <a:pPr marL="0" indent="0">
              <a:buNone/>
            </a:pPr>
            <a:r>
              <a:rPr lang="de-DE" b="1" dirty="0"/>
              <a:t>Token-level </a:t>
            </a:r>
            <a:r>
              <a:rPr lang="de-DE" b="1" dirty="0" err="1"/>
              <a:t>tasks</a:t>
            </a:r>
            <a:r>
              <a:rPr lang="de-DE" dirty="0"/>
              <a:t> →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b="1" dirty="0"/>
              <a:t>MLM</a:t>
            </a:r>
            <a:r>
              <a:rPr lang="de-DE" dirty="0"/>
              <a:t> → </a:t>
            </a:r>
            <a:r>
              <a:rPr lang="de-DE" dirty="0" err="1"/>
              <a:t>masked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7B8CF4-165F-DCF3-1604-8B15312E5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61088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FF0D77-63F1-825D-6560-C80B0DE3E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55EF91-9EAF-B878-3441-F9D7A7F93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b="1" dirty="0" err="1"/>
              <a:t>Sequence</a:t>
            </a:r>
            <a:r>
              <a:rPr lang="de-DE" b="1" dirty="0"/>
              <a:t> </a:t>
            </a:r>
            <a:r>
              <a:rPr lang="de-DE" b="1" dirty="0" err="1"/>
              <a:t>classification</a:t>
            </a:r>
            <a:r>
              <a:rPr lang="de-DE" b="1" dirty="0"/>
              <a:t> (</a:t>
            </a:r>
            <a:r>
              <a:rPr lang="de-DE" b="1" dirty="0" err="1"/>
              <a:t>sentiment</a:t>
            </a:r>
            <a:r>
              <a:rPr lang="de-DE" b="1" dirty="0"/>
              <a:t>, </a:t>
            </a:r>
            <a:r>
              <a:rPr lang="de-DE" b="1" dirty="0" err="1"/>
              <a:t>topic</a:t>
            </a:r>
            <a:r>
              <a:rPr lang="de-DE" b="1" dirty="0"/>
              <a:t>, NLI, etc.)</a:t>
            </a:r>
          </a:p>
          <a:p>
            <a:pPr marL="0" indent="0">
              <a:buNone/>
            </a:pPr>
            <a:r>
              <a:rPr lang="de-DE" dirty="0"/>
              <a:t>A </a:t>
            </a:r>
            <a:r>
              <a:rPr lang="de-DE" dirty="0" err="1"/>
              <a:t>special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b="1" dirty="0"/>
              <a:t>[CLS]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prepended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Its</a:t>
            </a:r>
            <a:r>
              <a:rPr lang="de-DE" dirty="0"/>
              <a:t> final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h_[CLS]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treated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</a:t>
            </a:r>
            <a:r>
              <a:rPr lang="de-DE" dirty="0" err="1"/>
              <a:t>summary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whole</a:t>
            </a:r>
            <a:r>
              <a:rPr lang="de-DE" dirty="0"/>
              <a:t> </a:t>
            </a:r>
            <a:r>
              <a:rPr lang="de-DE" dirty="0" err="1"/>
              <a:t>sequence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passed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 linear </a:t>
            </a:r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→ </a:t>
            </a:r>
            <a:r>
              <a:rPr lang="de-DE" dirty="0" err="1"/>
              <a:t>logits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classes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b="1" dirty="0" err="1"/>
              <a:t>default</a:t>
            </a:r>
            <a:r>
              <a:rPr lang="de-DE" b="1" dirty="0"/>
              <a:t> in BERT-style </a:t>
            </a:r>
            <a:r>
              <a:rPr lang="de-DE" b="1" dirty="0" err="1"/>
              <a:t>models</a:t>
            </a:r>
            <a:endParaRPr lang="de-DE" b="1" dirty="0"/>
          </a:p>
          <a:p>
            <a:pPr marL="0" indent="0">
              <a:buNone/>
            </a:pPr>
            <a:br>
              <a:rPr lang="de-DE" dirty="0"/>
            </a:br>
            <a:r>
              <a:rPr lang="de-DE" dirty="0"/>
              <a:t>(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variants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b="1" dirty="0" err="1"/>
              <a:t>average</a:t>
            </a:r>
            <a:r>
              <a:rPr lang="de-DE" b="1" dirty="0"/>
              <a:t> </a:t>
            </a:r>
            <a:r>
              <a:rPr lang="de-DE" b="1" dirty="0" err="1"/>
              <a:t>pooling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all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 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[CLS], but [CLS]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original/</a:t>
            </a:r>
            <a:r>
              <a:rPr lang="de-DE" dirty="0" err="1"/>
              <a:t>standard</a:t>
            </a:r>
            <a:r>
              <a:rPr lang="de-DE" dirty="0"/>
              <a:t> </a:t>
            </a:r>
            <a:r>
              <a:rPr lang="de-DE" dirty="0" err="1"/>
              <a:t>choice</a:t>
            </a:r>
            <a:r>
              <a:rPr lang="de-DE" dirty="0"/>
              <a:t>.)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4A72D0-DDFF-CBDD-9B6B-E819F5AD2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4237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8D2A51-B38D-9C57-1ABF-8D603A1E5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C6E1E0-93F3-C0C8-C345-1BD1F5C25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/>
              <a:t>Token </a:t>
            </a:r>
            <a:r>
              <a:rPr lang="de-DE" b="1" dirty="0" err="1"/>
              <a:t>classification</a:t>
            </a:r>
            <a:r>
              <a:rPr lang="de-DE" b="1" dirty="0"/>
              <a:t> (NER, POS </a:t>
            </a:r>
            <a:r>
              <a:rPr lang="de-DE" b="1" dirty="0" err="1"/>
              <a:t>tagging</a:t>
            </a:r>
            <a:r>
              <a:rPr lang="de-DE" b="1" dirty="0"/>
              <a:t>, etc.)</a:t>
            </a:r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token’s</a:t>
            </a:r>
            <a:r>
              <a:rPr lang="de-DE" dirty="0"/>
              <a:t>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projected</a:t>
            </a:r>
            <a:r>
              <a:rPr lang="de-DE" dirty="0"/>
              <a:t> </a:t>
            </a:r>
            <a:r>
              <a:rPr lang="de-DE" b="1" dirty="0" err="1"/>
              <a:t>independently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logits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entity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).</a:t>
            </a:r>
          </a:p>
          <a:p>
            <a:pPr marL="0" indent="0">
              <a:buNone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,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per-token </a:t>
            </a:r>
            <a:r>
              <a:rPr lang="de-DE" dirty="0" err="1"/>
              <a:t>predictions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logits_i</a:t>
            </a:r>
            <a:r>
              <a:rPr lang="de-DE" dirty="0"/>
              <a:t> = </a:t>
            </a:r>
            <a:r>
              <a:rPr lang="de-DE" dirty="0" err="1"/>
              <a:t>h_i</a:t>
            </a:r>
            <a:r>
              <a:rPr lang="de-DE" dirty="0"/>
              <a:t> W + b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870D76-8BA8-B35C-291C-27A5AEB55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1625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7F9850-863B-4A7C-99A5-A8ED55900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7E124F-2FF1-163C-3201-2FF90B52D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 err="1"/>
              <a:t>Sentence</a:t>
            </a:r>
            <a:r>
              <a:rPr lang="de-DE" b="1" dirty="0"/>
              <a:t> </a:t>
            </a:r>
            <a:r>
              <a:rPr lang="de-DE" b="1" dirty="0" err="1"/>
              <a:t>similarity</a:t>
            </a:r>
            <a:r>
              <a:rPr lang="de-DE" b="1" dirty="0"/>
              <a:t> / </a:t>
            </a:r>
            <a:r>
              <a:rPr lang="de-DE" b="1" dirty="0" err="1"/>
              <a:t>retrieval</a:t>
            </a:r>
            <a:endParaRPr lang="de-DE" b="1" dirty="0"/>
          </a:p>
          <a:p>
            <a:pPr marL="0" indent="0">
              <a:buNone/>
            </a:pP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 (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)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[CLS],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gives</a:t>
            </a:r>
            <a:r>
              <a:rPr lang="de-DE" dirty="0"/>
              <a:t> a smoother </a:t>
            </a:r>
            <a:r>
              <a:rPr lang="de-DE" dirty="0" err="1"/>
              <a:t>representation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That’s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b="1" dirty="0" err="1"/>
              <a:t>Sentence</a:t>
            </a:r>
            <a:r>
              <a:rPr lang="de-DE" b="1" dirty="0"/>
              <a:t>-BERT (SBERT)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3FA2F52-7FFF-92B0-F7A7-623ED745F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62227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93F29B-BD86-3EF8-10C3-E57EA752C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684A05-346A-6203-E269-C1F6CFBE4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dirty="0"/>
              <a:t>but uses a combination (average pooling or [CLS] token) of the hidden states of every token for projection to vector of logits</a:t>
            </a:r>
          </a:p>
          <a:p>
            <a:pPr marL="0" indent="0">
              <a:buNone/>
            </a:pPr>
            <a:endParaRPr lang="de-DE" dirty="0">
              <a:hlinkClick r:id="rId2"/>
            </a:endParaRPr>
          </a:p>
          <a:p>
            <a:pPr marL="0" indent="0">
              <a:buNone/>
            </a:pPr>
            <a:r>
              <a:rPr lang="en-DE">
                <a:hlinkClick r:id="rId2"/>
              </a:rPr>
              <a:t>BERT</a:t>
            </a:r>
            <a:r>
              <a:rPr lang="de-DE" dirty="0"/>
              <a:t> (</a:t>
            </a:r>
            <a:r>
              <a:rPr lang="de-DE" dirty="0" err="1"/>
              <a:t>uses</a:t>
            </a:r>
            <a:r>
              <a:rPr lang="de-DE" dirty="0"/>
              <a:t> </a:t>
            </a:r>
            <a:r>
              <a:rPr lang="en-GB" dirty="0"/>
              <a:t>next-sentence prediction as additional pretraining objective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selected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masking</a:t>
            </a:r>
            <a:r>
              <a:rPr lang="de-DE" dirty="0"/>
              <a:t> (15%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tokens</a:t>
            </a:r>
            <a:r>
              <a:rPr lang="de-DE" dirty="0"/>
              <a:t>):</a:t>
            </a:r>
          </a:p>
          <a:p>
            <a:r>
              <a:rPr lang="de-DE" b="1" dirty="0"/>
              <a:t>80%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time</a:t>
            </a:r>
            <a:r>
              <a:rPr lang="de-DE" dirty="0"/>
              <a:t> → </a:t>
            </a: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[MASK].</a:t>
            </a:r>
          </a:p>
          <a:p>
            <a:r>
              <a:rPr lang="de-DE" dirty="0" err="1"/>
              <a:t>Example</a:t>
            </a:r>
            <a:r>
              <a:rPr lang="de-DE" dirty="0"/>
              <a:t>: "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cat</a:t>
            </a:r>
            <a:r>
              <a:rPr lang="de-DE" dirty="0"/>
              <a:t> </a:t>
            </a:r>
            <a:r>
              <a:rPr lang="de-DE" dirty="0" err="1"/>
              <a:t>sat</a:t>
            </a:r>
            <a:r>
              <a:rPr lang="de-DE" dirty="0"/>
              <a:t>" → "</a:t>
            </a:r>
            <a:r>
              <a:rPr lang="de-DE" dirty="0" err="1"/>
              <a:t>the</a:t>
            </a:r>
            <a:r>
              <a:rPr lang="de-DE" dirty="0"/>
              <a:t> [MASK] </a:t>
            </a:r>
            <a:r>
              <a:rPr lang="de-DE" dirty="0" err="1"/>
              <a:t>sat</a:t>
            </a:r>
            <a:r>
              <a:rPr lang="de-DE" dirty="0"/>
              <a:t>".</a:t>
            </a:r>
          </a:p>
          <a:p>
            <a:r>
              <a:rPr lang="de-DE" dirty="0"/>
              <a:t>The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learned</a:t>
            </a:r>
            <a:r>
              <a:rPr lang="de-DE" dirty="0"/>
              <a:t>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[MASK] </a:t>
            </a:r>
            <a:r>
              <a:rPr lang="de-DE" dirty="0" err="1"/>
              <a:t>token</a:t>
            </a:r>
            <a:r>
              <a:rPr lang="de-DE" dirty="0"/>
              <a:t> (just like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).</a:t>
            </a:r>
          </a:p>
          <a:p>
            <a:r>
              <a:rPr lang="de-DE" b="1" dirty="0"/>
              <a:t>10%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time</a:t>
            </a:r>
            <a:r>
              <a:rPr lang="de-DE" dirty="0"/>
              <a:t> → </a:t>
            </a: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 </a:t>
            </a:r>
            <a:r>
              <a:rPr lang="de-DE" b="1" dirty="0" err="1"/>
              <a:t>random</a:t>
            </a:r>
            <a:r>
              <a:rPr lang="de-DE" b="1" dirty="0"/>
              <a:t> </a:t>
            </a:r>
            <a:r>
              <a:rPr lang="de-DE" b="1" dirty="0" err="1"/>
              <a:t>token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vocabulary</a:t>
            </a:r>
            <a:r>
              <a:rPr lang="de-DE" dirty="0"/>
              <a:t>.</a:t>
            </a:r>
          </a:p>
          <a:p>
            <a:r>
              <a:rPr lang="de-DE" dirty="0" err="1"/>
              <a:t>Prevents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overfitting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associating</a:t>
            </a:r>
            <a:r>
              <a:rPr lang="de-DE" dirty="0"/>
              <a:t> [MASK]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.</a:t>
            </a:r>
          </a:p>
          <a:p>
            <a:r>
              <a:rPr lang="de-DE" b="1" dirty="0"/>
              <a:t>10%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time</a:t>
            </a:r>
            <a:r>
              <a:rPr lang="de-DE" dirty="0"/>
              <a:t> → </a:t>
            </a:r>
            <a:r>
              <a:rPr lang="de-DE" dirty="0" err="1"/>
              <a:t>Leave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b="1" dirty="0" err="1"/>
              <a:t>unchanged</a:t>
            </a:r>
            <a:r>
              <a:rPr lang="de-DE" dirty="0"/>
              <a:t>.</a:t>
            </a:r>
          </a:p>
          <a:p>
            <a:r>
              <a:rPr lang="de-DE" dirty="0"/>
              <a:t>Forces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seeing</a:t>
            </a:r>
            <a:r>
              <a:rPr lang="de-DE" dirty="0"/>
              <a:t> an explicit [MASK].</a:t>
            </a:r>
          </a:p>
          <a:p>
            <a:pPr marL="0" indent="0">
              <a:buNone/>
            </a:pPr>
            <a:br>
              <a:rPr lang="de-DE" dirty="0"/>
            </a:br>
            <a:r>
              <a:rPr lang="de-DE" dirty="0" err="1"/>
              <a:t>Regardless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replacement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b="1" dirty="0" err="1"/>
              <a:t>loss</a:t>
            </a:r>
            <a:r>
              <a:rPr lang="de-DE" b="1" dirty="0"/>
              <a:t> </a:t>
            </a:r>
            <a:r>
              <a:rPr lang="de-DE" b="1" dirty="0" err="1"/>
              <a:t>is</a:t>
            </a:r>
            <a:r>
              <a:rPr lang="de-DE" b="1" dirty="0"/>
              <a:t> still </a:t>
            </a:r>
            <a:r>
              <a:rPr lang="de-DE" b="1" dirty="0" err="1"/>
              <a:t>computed</a:t>
            </a:r>
            <a:r>
              <a:rPr lang="de-DE" b="1" dirty="0"/>
              <a:t> </a:t>
            </a:r>
            <a:r>
              <a:rPr lang="de-DE" b="1" dirty="0" err="1"/>
              <a:t>against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original </a:t>
            </a:r>
            <a:r>
              <a:rPr lang="de-DE" b="1" dirty="0" err="1"/>
              <a:t>token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A71D12-1308-5AA4-28A9-50891017F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0839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377014-5C9A-61F9-AEB0-5422FFC74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BERT </a:t>
            </a:r>
            <a:r>
              <a:rPr lang="de-DE" dirty="0" err="1"/>
              <a:t>Variants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2E57AC-9AEC-A942-0A0F-644BB5F97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>
                <a:hlinkClick r:id="rId2"/>
              </a:rPr>
              <a:t>RoBERTa</a:t>
            </a:r>
            <a:r>
              <a:rPr lang="de-DE" sz="2400" b="1" dirty="0"/>
              <a:t>: </a:t>
            </a:r>
            <a:r>
              <a:rPr lang="de-DE" sz="2400" dirty="0" err="1"/>
              <a:t>improved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endParaRPr lang="de-DE" sz="2400" dirty="0"/>
          </a:p>
          <a:p>
            <a:r>
              <a:rPr lang="de-DE" sz="1800" dirty="0" err="1"/>
              <a:t>removed</a:t>
            </a:r>
            <a:r>
              <a:rPr lang="de-DE" sz="1800" dirty="0"/>
              <a:t> </a:t>
            </a:r>
            <a:r>
              <a:rPr lang="de-DE" sz="1800" dirty="0" err="1"/>
              <a:t>next</a:t>
            </a:r>
            <a:r>
              <a:rPr lang="de-DE" sz="1800" dirty="0"/>
              <a:t> </a:t>
            </a:r>
            <a:r>
              <a:rPr lang="de-DE" sz="1800" dirty="0" err="1"/>
              <a:t>sentence</a:t>
            </a:r>
            <a:r>
              <a:rPr lang="de-DE" sz="1800" dirty="0"/>
              <a:t> </a:t>
            </a:r>
            <a:r>
              <a:rPr lang="de-DE" sz="1800" dirty="0" err="1"/>
              <a:t>prediction</a:t>
            </a:r>
            <a:r>
              <a:rPr lang="de-DE" sz="1800" dirty="0"/>
              <a:t> </a:t>
            </a:r>
            <a:r>
              <a:rPr lang="de-DE" sz="1800" dirty="0" err="1"/>
              <a:t>as</a:t>
            </a:r>
            <a:r>
              <a:rPr lang="de-DE" sz="1800" dirty="0"/>
              <a:t> </a:t>
            </a:r>
            <a:r>
              <a:rPr lang="de-DE" sz="1800" dirty="0" err="1"/>
              <a:t>pretraining</a:t>
            </a:r>
            <a:r>
              <a:rPr lang="de-DE" sz="1800" dirty="0"/>
              <a:t> </a:t>
            </a:r>
            <a:r>
              <a:rPr lang="de-DE" sz="1800" dirty="0" err="1"/>
              <a:t>objective</a:t>
            </a:r>
            <a:r>
              <a:rPr lang="de-DE" sz="1800" dirty="0"/>
              <a:t> and …</a:t>
            </a:r>
          </a:p>
          <a:p>
            <a:r>
              <a:rPr lang="de-DE" sz="1800" dirty="0"/>
              <a:t>~</a:t>
            </a:r>
            <a:r>
              <a:rPr lang="de-DE" sz="1800" dirty="0" err="1"/>
              <a:t>ten</a:t>
            </a:r>
            <a:r>
              <a:rPr lang="de-DE" sz="1800" dirty="0"/>
              <a:t> </a:t>
            </a:r>
            <a:r>
              <a:rPr lang="de-DE" sz="1800" dirty="0" err="1"/>
              <a:t>times</a:t>
            </a:r>
            <a:r>
              <a:rPr lang="de-DE" sz="1800" dirty="0"/>
              <a:t> </a:t>
            </a:r>
            <a:r>
              <a:rPr lang="de-DE" sz="1800" dirty="0" err="1"/>
              <a:t>more</a:t>
            </a:r>
            <a:r>
              <a:rPr lang="de-DE" sz="1800" dirty="0"/>
              <a:t> </a:t>
            </a:r>
            <a:r>
              <a:rPr lang="de-DE" sz="1800" dirty="0" err="1"/>
              <a:t>training</a:t>
            </a:r>
            <a:r>
              <a:rPr lang="de-DE" sz="1800" dirty="0"/>
              <a:t> </a:t>
            </a:r>
            <a:r>
              <a:rPr lang="de-DE" sz="1800" dirty="0" err="1"/>
              <a:t>data</a:t>
            </a:r>
            <a:r>
              <a:rPr lang="de-DE" sz="1800" dirty="0"/>
              <a:t>, </a:t>
            </a:r>
            <a:r>
              <a:rPr lang="de-DE" sz="1800" dirty="0" err="1"/>
              <a:t>longer</a:t>
            </a:r>
            <a:r>
              <a:rPr lang="de-DE" sz="1800" dirty="0"/>
              <a:t> </a:t>
            </a:r>
            <a:r>
              <a:rPr lang="de-DE" sz="1800" dirty="0" err="1"/>
              <a:t>training</a:t>
            </a:r>
            <a:r>
              <a:rPr lang="de-DE" sz="1800" dirty="0"/>
              <a:t>, larger </a:t>
            </a:r>
            <a:r>
              <a:rPr lang="de-DE" sz="1800" dirty="0" err="1"/>
              <a:t>batches</a:t>
            </a:r>
            <a:r>
              <a:rPr lang="de-DE" sz="1800" dirty="0"/>
              <a:t>, </a:t>
            </a:r>
            <a:r>
              <a:rPr lang="de-DE" sz="1800" dirty="0" err="1"/>
              <a:t>longer</a:t>
            </a:r>
            <a:r>
              <a:rPr lang="de-DE" sz="1800" dirty="0"/>
              <a:t> </a:t>
            </a:r>
            <a:r>
              <a:rPr lang="de-DE" sz="1800" dirty="0" err="1"/>
              <a:t>sequences</a:t>
            </a:r>
            <a:endParaRPr lang="de-DE" sz="1800" dirty="0"/>
          </a:p>
          <a:p>
            <a:r>
              <a:rPr lang="de-DE" sz="1800" dirty="0" err="1"/>
              <a:t>dynamic</a:t>
            </a:r>
            <a:r>
              <a:rPr lang="de-DE" sz="1800" dirty="0"/>
              <a:t> </a:t>
            </a:r>
            <a:r>
              <a:rPr lang="de-DE" sz="1800" dirty="0" err="1"/>
              <a:t>masking</a:t>
            </a:r>
            <a:r>
              <a:rPr lang="de-DE" sz="1800" dirty="0"/>
              <a:t>: </a:t>
            </a:r>
            <a:r>
              <a:rPr lang="de-DE" sz="1800" dirty="0" err="1"/>
              <a:t>instead</a:t>
            </a:r>
            <a:r>
              <a:rPr lang="de-DE" sz="1800" dirty="0"/>
              <a:t> </a:t>
            </a:r>
            <a:r>
              <a:rPr lang="de-DE" sz="1800" dirty="0" err="1"/>
              <a:t>of</a:t>
            </a:r>
            <a:r>
              <a:rPr lang="de-DE" sz="1800" dirty="0"/>
              <a:t> </a:t>
            </a:r>
            <a:r>
              <a:rPr lang="de-DE" sz="1800" dirty="0" err="1"/>
              <a:t>fixed</a:t>
            </a:r>
            <a:r>
              <a:rPr lang="de-DE" sz="1800" dirty="0"/>
              <a:t> </a:t>
            </a:r>
            <a:r>
              <a:rPr lang="de-DE" sz="1800" dirty="0" err="1"/>
              <a:t>masked</a:t>
            </a:r>
            <a:r>
              <a:rPr lang="de-DE" sz="1800" dirty="0"/>
              <a:t> </a:t>
            </a:r>
            <a:r>
              <a:rPr lang="de-DE" sz="1800" dirty="0" err="1"/>
              <a:t>tokens</a:t>
            </a:r>
            <a:r>
              <a:rPr lang="de-DE" sz="1800" dirty="0"/>
              <a:t> </a:t>
            </a:r>
            <a:r>
              <a:rPr lang="de-DE" sz="1800" dirty="0" err="1"/>
              <a:t>for</a:t>
            </a:r>
            <a:r>
              <a:rPr lang="de-DE" sz="1800" dirty="0"/>
              <a:t> </a:t>
            </a:r>
            <a:r>
              <a:rPr lang="de-DE" sz="1800" dirty="0" err="1"/>
              <a:t>each</a:t>
            </a:r>
            <a:r>
              <a:rPr lang="de-DE" sz="1800" dirty="0"/>
              <a:t> </a:t>
            </a:r>
            <a:r>
              <a:rPr lang="de-DE" sz="1800" dirty="0" err="1"/>
              <a:t>sequence</a:t>
            </a:r>
            <a:r>
              <a:rPr lang="de-DE" sz="1800" dirty="0"/>
              <a:t>, </a:t>
            </a:r>
            <a:r>
              <a:rPr lang="de-DE" sz="1800" dirty="0" err="1"/>
              <a:t>masks</a:t>
            </a:r>
            <a:r>
              <a:rPr lang="de-DE" sz="1800" dirty="0"/>
              <a:t> </a:t>
            </a:r>
            <a:r>
              <a:rPr lang="de-DE" sz="1800" dirty="0" err="1"/>
              <a:t>change</a:t>
            </a:r>
            <a:r>
              <a:rPr lang="de-DE" sz="1800" dirty="0"/>
              <a:t> </a:t>
            </a:r>
            <a:r>
              <a:rPr lang="de-DE" sz="1800" dirty="0" err="1"/>
              <a:t>each</a:t>
            </a:r>
            <a:r>
              <a:rPr lang="de-DE" sz="1800" dirty="0"/>
              <a:t> </a:t>
            </a:r>
            <a:r>
              <a:rPr lang="de-DE" sz="1800" dirty="0" err="1"/>
              <a:t>epoch</a:t>
            </a:r>
            <a:endParaRPr lang="de-DE" sz="18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>
                <a:hlinkClick r:id="rId3"/>
              </a:rPr>
              <a:t>DistilBERT</a:t>
            </a:r>
            <a:r>
              <a:rPr lang="de-DE" sz="2400" dirty="0"/>
              <a:t>: </a:t>
            </a:r>
            <a:r>
              <a:rPr lang="de-DE" sz="2400" dirty="0" err="1"/>
              <a:t>much</a:t>
            </a:r>
            <a:r>
              <a:rPr lang="de-DE" sz="2400" dirty="0"/>
              <a:t> </a:t>
            </a:r>
            <a:r>
              <a:rPr lang="de-DE" sz="2400" dirty="0" err="1"/>
              <a:t>lighter</a:t>
            </a:r>
            <a:r>
              <a:rPr lang="de-DE" sz="2400" dirty="0"/>
              <a:t> and </a:t>
            </a:r>
            <a:r>
              <a:rPr lang="de-DE" sz="2400" dirty="0" err="1"/>
              <a:t>faster</a:t>
            </a:r>
            <a:r>
              <a:rPr lang="de-DE" sz="2400" dirty="0"/>
              <a:t>, </a:t>
            </a:r>
            <a:r>
              <a:rPr lang="de-DE" sz="2400" dirty="0" err="1"/>
              <a:t>retaining</a:t>
            </a:r>
            <a:r>
              <a:rPr lang="de-DE" sz="2400" dirty="0"/>
              <a:t> ~95%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BERT’s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endParaRPr lang="de-DE" sz="2400" dirty="0"/>
          </a:p>
          <a:p>
            <a:r>
              <a:rPr lang="de-DE" sz="1800" dirty="0"/>
              <a:t>a </a:t>
            </a:r>
            <a:r>
              <a:rPr lang="de-DE" sz="1800" dirty="0" err="1"/>
              <a:t>smaller</a:t>
            </a:r>
            <a:r>
              <a:rPr lang="de-DE" sz="1800" dirty="0"/>
              <a:t> “</a:t>
            </a:r>
            <a:r>
              <a:rPr lang="de-DE" sz="1800" dirty="0" err="1"/>
              <a:t>student</a:t>
            </a:r>
            <a:r>
              <a:rPr lang="de-DE" sz="1800" dirty="0"/>
              <a:t>” </a:t>
            </a:r>
            <a:r>
              <a:rPr lang="de-DE" sz="1800" dirty="0" err="1"/>
              <a:t>model</a:t>
            </a:r>
            <a:r>
              <a:rPr lang="de-DE" sz="1800" dirty="0"/>
              <a:t> </a:t>
            </a:r>
            <a:r>
              <a:rPr lang="de-DE" sz="1800" dirty="0" err="1"/>
              <a:t>is</a:t>
            </a:r>
            <a:r>
              <a:rPr lang="de-DE" sz="1800" dirty="0"/>
              <a:t> </a:t>
            </a:r>
            <a:r>
              <a:rPr lang="de-DE" sz="1800" dirty="0" err="1"/>
              <a:t>trained</a:t>
            </a:r>
            <a:r>
              <a:rPr lang="de-DE" sz="1800" dirty="0"/>
              <a:t> </a:t>
            </a:r>
            <a:r>
              <a:rPr lang="de-DE" sz="1800" dirty="0" err="1"/>
              <a:t>to</a:t>
            </a:r>
            <a:r>
              <a:rPr lang="de-DE" sz="1800" dirty="0"/>
              <a:t> </a:t>
            </a:r>
            <a:r>
              <a:rPr lang="de-DE" sz="1800" dirty="0" err="1"/>
              <a:t>mimic</a:t>
            </a:r>
            <a:r>
              <a:rPr lang="de-DE" sz="1800" dirty="0"/>
              <a:t> </a:t>
            </a:r>
            <a:r>
              <a:rPr lang="de-DE" sz="1800" dirty="0" err="1"/>
              <a:t>BERT’s</a:t>
            </a:r>
            <a:r>
              <a:rPr lang="de-DE" sz="1800" dirty="0"/>
              <a:t> </a:t>
            </a:r>
            <a:r>
              <a:rPr lang="de-DE" sz="1800" dirty="0" err="1"/>
              <a:t>predictions</a:t>
            </a:r>
            <a:endParaRPr lang="de-DE" sz="1800" dirty="0"/>
          </a:p>
          <a:p>
            <a:r>
              <a:rPr lang="de-DE" sz="1800" dirty="0"/>
              <a:t>40% </a:t>
            </a:r>
            <a:r>
              <a:rPr lang="de-DE" sz="1800" dirty="0" err="1"/>
              <a:t>fewer</a:t>
            </a:r>
            <a:r>
              <a:rPr lang="de-DE" sz="1800" dirty="0"/>
              <a:t> </a:t>
            </a:r>
            <a:r>
              <a:rPr lang="de-DE" sz="1800" dirty="0" err="1"/>
              <a:t>parameters</a:t>
            </a:r>
            <a:r>
              <a:rPr lang="de-DE" sz="1800" dirty="0"/>
              <a:t> </a:t>
            </a:r>
            <a:r>
              <a:rPr lang="de-DE" sz="1800" dirty="0" err="1"/>
              <a:t>than</a:t>
            </a:r>
            <a:r>
              <a:rPr lang="de-DE" sz="1800" dirty="0"/>
              <a:t> BERT, 60% </a:t>
            </a:r>
            <a:r>
              <a:rPr lang="de-DE" sz="1800" dirty="0" err="1"/>
              <a:t>faster</a:t>
            </a:r>
            <a:r>
              <a:rPr lang="de-DE" sz="1800" dirty="0"/>
              <a:t> </a:t>
            </a:r>
            <a:r>
              <a:rPr lang="de-DE" sz="1800" dirty="0" err="1"/>
              <a:t>inference</a:t>
            </a:r>
            <a:r>
              <a:rPr lang="de-DE" sz="1800" dirty="0"/>
              <a:t>, </a:t>
            </a:r>
            <a:r>
              <a:rPr lang="de-DE" sz="1800" dirty="0" err="1"/>
              <a:t>using</a:t>
            </a:r>
            <a:r>
              <a:rPr lang="de-DE" sz="1800" dirty="0"/>
              <a:t> half </a:t>
            </a:r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memory</a:t>
            </a:r>
            <a:endParaRPr lang="de-DE" sz="1800" dirty="0"/>
          </a:p>
          <a:p>
            <a:r>
              <a:rPr lang="de-DE" sz="1800" dirty="0"/>
              <a:t>… also </a:t>
            </a:r>
            <a:r>
              <a:rPr lang="de-DE" sz="1800" dirty="0" err="1"/>
              <a:t>removed</a:t>
            </a:r>
            <a:r>
              <a:rPr lang="de-DE" sz="1800" dirty="0"/>
              <a:t> </a:t>
            </a:r>
            <a:r>
              <a:rPr lang="de-DE" sz="1800" dirty="0" err="1"/>
              <a:t>next</a:t>
            </a:r>
            <a:r>
              <a:rPr lang="de-DE" sz="1800" dirty="0"/>
              <a:t> </a:t>
            </a:r>
            <a:r>
              <a:rPr lang="de-DE" sz="1800" dirty="0" err="1"/>
              <a:t>sentence</a:t>
            </a:r>
            <a:r>
              <a:rPr lang="de-DE" sz="1800" dirty="0"/>
              <a:t> </a:t>
            </a:r>
            <a:r>
              <a:rPr lang="de-DE" sz="1800" dirty="0" err="1"/>
              <a:t>prediction</a:t>
            </a:r>
            <a:r>
              <a:rPr lang="de-DE" sz="1800" dirty="0"/>
              <a:t> </a:t>
            </a:r>
            <a:r>
              <a:rPr lang="de-DE" sz="1800" dirty="0" err="1"/>
              <a:t>as</a:t>
            </a:r>
            <a:r>
              <a:rPr lang="de-DE" sz="1800" dirty="0"/>
              <a:t> </a:t>
            </a:r>
            <a:r>
              <a:rPr lang="de-DE" sz="1800" dirty="0" err="1"/>
              <a:t>pretraining</a:t>
            </a:r>
            <a:r>
              <a:rPr lang="de-DE" sz="1800" dirty="0"/>
              <a:t> </a:t>
            </a:r>
            <a:r>
              <a:rPr lang="de-DE" sz="1800" dirty="0" err="1"/>
              <a:t>objective</a:t>
            </a:r>
            <a:r>
              <a:rPr lang="de-DE" sz="1800" dirty="0"/>
              <a:t> 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9E7DDC-F9E4-F124-BF7B-7A2E77B7C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5046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835DB9-A493-0493-6DC6-1A59F1955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Text Classification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8B9C882-7432-CB1C-F348-C72E3D7AB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…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n-GB" dirty="0"/>
              <a:t>exercise: </a:t>
            </a:r>
            <a:r>
              <a:rPr lang="en-GB" dirty="0">
                <a:hlinkClick r:id="rId2"/>
              </a:rPr>
              <a:t>Kaggle Disaster Tweets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68B0B8-AEDC-2BFB-161C-7E00CD7BC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99F652-C896-0305-B650-D8E63E971F3C}"/>
              </a:ext>
            </a:extLst>
          </p:cNvPr>
          <p:cNvSpPr txBox="1"/>
          <p:nvPr/>
        </p:nvSpPr>
        <p:spPr>
          <a:xfrm>
            <a:off x="11529848" y="5325559"/>
            <a:ext cx="5728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6" name="Picture 7" descr="A screen shot of a computer&#10;&#10;Description automatically generated">
            <a:extLst>
              <a:ext uri="{FF2B5EF4-FFF2-40B4-BE49-F238E27FC236}">
                <a16:creationId xmlns:a16="http://schemas.microsoft.com/office/drawing/2014/main" id="{C8F59914-648D-5650-D612-D3EE33542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2458788"/>
            <a:ext cx="3581400" cy="2866770"/>
          </a:xfrm>
          <a:prstGeom prst="rect">
            <a:avLst/>
          </a:prstGeom>
        </p:spPr>
      </p:pic>
      <p:sp>
        <p:nvSpPr>
          <p:cNvPr id="7" name="TextBox 8">
            <a:extLst>
              <a:ext uri="{FF2B5EF4-FFF2-40B4-BE49-F238E27FC236}">
                <a16:creationId xmlns:a16="http://schemas.microsoft.com/office/drawing/2014/main" id="{BD7EAC5A-7507-A820-5AD8-104092932C7D}"/>
              </a:ext>
            </a:extLst>
          </p:cNvPr>
          <p:cNvSpPr txBox="1"/>
          <p:nvPr/>
        </p:nvSpPr>
        <p:spPr>
          <a:xfrm>
            <a:off x="8958029" y="5568144"/>
            <a:ext cx="2878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sentence classification via [CLS] token</a:t>
            </a:r>
          </a:p>
        </p:txBody>
      </p:sp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EB53C338-64C6-0C11-4269-811E0771F4FD}"/>
              </a:ext>
            </a:extLst>
          </p:cNvPr>
          <p:cNvCxnSpPr>
            <a:cxnSpLocks/>
          </p:cNvCxnSpPr>
          <p:nvPr/>
        </p:nvCxnSpPr>
        <p:spPr>
          <a:xfrm flipH="1" flipV="1">
            <a:off x="8958029" y="5004381"/>
            <a:ext cx="228304" cy="651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4381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DF84C9-7C51-3B5E-CEAC-B8DAC520A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Extraction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397F5D-3B96-44CC-0D86-A08B51D4C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683059" cy="4351338"/>
          </a:xfrm>
        </p:spPr>
        <p:txBody>
          <a:bodyPr>
            <a:normAutofit fontScale="92500"/>
          </a:bodyPr>
          <a:lstStyle/>
          <a:p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pretrained</a:t>
            </a:r>
            <a:r>
              <a:rPr lang="de-DE" dirty="0"/>
              <a:t> </a:t>
            </a:r>
            <a:r>
              <a:rPr lang="de-DE" dirty="0" err="1"/>
              <a:t>encoder</a:t>
            </a:r>
            <a:r>
              <a:rPr lang="de-DE" dirty="0"/>
              <a:t> LLM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remove</a:t>
            </a:r>
            <a:r>
              <a:rPr lang="de-DE" dirty="0"/>
              <a:t> </a:t>
            </a:r>
            <a:r>
              <a:rPr lang="de-DE" dirty="0" err="1"/>
              <a:t>classifier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pretraining</a:t>
            </a:r>
            <a:r>
              <a:rPr lang="de-DE" dirty="0"/>
              <a:t> (after final </a:t>
            </a:r>
            <a:r>
              <a:rPr lang="de-DE" dirty="0" err="1"/>
              <a:t>contextual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pass </a:t>
            </a:r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(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at </a:t>
            </a:r>
            <a:r>
              <a:rPr lang="de-DE" dirty="0" err="1"/>
              <a:t>hand</a:t>
            </a:r>
            <a:r>
              <a:rPr lang="de-DE" dirty="0"/>
              <a:t>)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and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[CLS]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small</a:t>
            </a:r>
            <a:r>
              <a:rPr lang="de-DE" dirty="0"/>
              <a:t>, task-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alternative </a:t>
            </a:r>
            <a:r>
              <a:rPr lang="de-DE" dirty="0" err="1"/>
              <a:t>to</a:t>
            </a:r>
            <a:r>
              <a:rPr lang="de-DE" dirty="0"/>
              <a:t> [CLS] </a:t>
            </a:r>
            <a:r>
              <a:rPr lang="de-DE" dirty="0" err="1"/>
              <a:t>token</a:t>
            </a:r>
            <a:r>
              <a:rPr lang="de-DE" dirty="0"/>
              <a:t>: </a:t>
            </a:r>
            <a:r>
              <a:rPr lang="de-DE" dirty="0" err="1"/>
              <a:t>mean</a:t>
            </a:r>
            <a:r>
              <a:rPr lang="de-DE" dirty="0"/>
              <a:t>/</a:t>
            </a:r>
            <a:r>
              <a:rPr lang="de-DE" dirty="0" err="1"/>
              <a:t>max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final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(e.g.,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sentence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)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F87474-2FE1-1D25-ABD2-967B5E868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13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10B2C6-3A5F-9519-04DA-E6239220BB59}"/>
              </a:ext>
            </a:extLst>
          </p:cNvPr>
          <p:cNvSpPr txBox="1"/>
          <p:nvPr/>
        </p:nvSpPr>
        <p:spPr>
          <a:xfrm>
            <a:off x="11529848" y="4800045"/>
            <a:ext cx="5728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6" name="Picture 7" descr="A screen shot of a computer&#10;&#10;Description automatically generated">
            <a:extLst>
              <a:ext uri="{FF2B5EF4-FFF2-40B4-BE49-F238E27FC236}">
                <a16:creationId xmlns:a16="http://schemas.microsoft.com/office/drawing/2014/main" id="{3E9F7FDF-48D5-7328-35E3-E99E3D3B4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933274"/>
            <a:ext cx="3581400" cy="2866770"/>
          </a:xfrm>
          <a:prstGeom prst="rect">
            <a:avLst/>
          </a:prstGeom>
        </p:spPr>
      </p:pic>
      <p:sp>
        <p:nvSpPr>
          <p:cNvPr id="7" name="TextBox 8">
            <a:extLst>
              <a:ext uri="{FF2B5EF4-FFF2-40B4-BE49-F238E27FC236}">
                <a16:creationId xmlns:a16="http://schemas.microsoft.com/office/drawing/2014/main" id="{D4D6E73C-E984-5CF0-54C9-1C7FBF2544C7}"/>
              </a:ext>
            </a:extLst>
          </p:cNvPr>
          <p:cNvSpPr txBox="1"/>
          <p:nvPr/>
        </p:nvSpPr>
        <p:spPr>
          <a:xfrm>
            <a:off x="8958029" y="5042630"/>
            <a:ext cx="2878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sentence classification via [CLS] token</a:t>
            </a:r>
          </a:p>
        </p:txBody>
      </p:sp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001A42F3-47EB-3340-CC48-9BE4AC6D2692}"/>
              </a:ext>
            </a:extLst>
          </p:cNvPr>
          <p:cNvCxnSpPr>
            <a:cxnSpLocks/>
          </p:cNvCxnSpPr>
          <p:nvPr/>
        </p:nvCxnSpPr>
        <p:spPr>
          <a:xfrm flipH="1" flipV="1">
            <a:off x="8958029" y="4478867"/>
            <a:ext cx="228304" cy="651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8369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8E18EF-EC53-ACA5-61E8-A95521813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Finetuning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F4B16-9855-AFD2-D174-7FE3153304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19637" cy="4530725"/>
          </a:xfrm>
        </p:spPr>
        <p:txBody>
          <a:bodyPr>
            <a:normAutofit/>
          </a:bodyPr>
          <a:lstStyle/>
          <a:p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pretrained</a:t>
            </a:r>
            <a:r>
              <a:rPr lang="de-DE" dirty="0"/>
              <a:t> </a:t>
            </a:r>
            <a:r>
              <a:rPr lang="de-DE" dirty="0" err="1"/>
              <a:t>encoder</a:t>
            </a:r>
            <a:r>
              <a:rPr lang="de-DE" dirty="0"/>
              <a:t> LLM as </a:t>
            </a: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classifier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pretraining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task-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head</a:t>
            </a:r>
            <a:endParaRPr lang="de-DE" dirty="0"/>
          </a:p>
          <a:p>
            <a:pPr marL="0" indent="0">
              <a:buNone/>
            </a:pPr>
            <a:endParaRPr lang="en-GB" dirty="0"/>
          </a:p>
          <a:p>
            <a:r>
              <a:rPr lang="de-DE" dirty="0"/>
              <a:t>continue (starting with weights after pretraining) training with data for task at </a:t>
            </a:r>
            <a:r>
              <a:rPr lang="de-DE" dirty="0" err="1"/>
              <a:t>hand</a:t>
            </a:r>
            <a:endParaRPr lang="de-DE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5EA56-7CB1-7041-F3BA-0AEA9E42E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14</a:t>
            </a:fld>
            <a:endParaRPr lang="en-GB"/>
          </a:p>
        </p:txBody>
      </p:sp>
      <p:pic>
        <p:nvPicPr>
          <p:cNvPr id="5" name="44F0CE3B-0B30-475E-9AB0-8A52FDC60368" descr="Two-types-of-fine-tuning-techniques-using-pretrained-model-trained-on-ImageNet-The-first.png">
            <a:extLst>
              <a:ext uri="{FF2B5EF4-FFF2-40B4-BE49-F238E27FC236}">
                <a16:creationId xmlns:a16="http://schemas.microsoft.com/office/drawing/2014/main" id="{41955F9F-8537-8F49-68AF-A52D399B0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8098" y="1117410"/>
            <a:ext cx="5829368" cy="53083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EDA80F-387A-F82C-BB62-44CC7DCEF2FD}"/>
              </a:ext>
            </a:extLst>
          </p:cNvPr>
          <p:cNvSpPr txBox="1"/>
          <p:nvPr/>
        </p:nvSpPr>
        <p:spPr>
          <a:xfrm>
            <a:off x="7230529" y="653891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527FE3-CED6-2943-D4A9-D8312B6F38C1}"/>
              </a:ext>
            </a:extLst>
          </p:cNvPr>
          <p:cNvSpPr txBox="1"/>
          <p:nvPr/>
        </p:nvSpPr>
        <p:spPr>
          <a:xfrm>
            <a:off x="6944578" y="291397"/>
            <a:ext cx="516288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options: finetune all weights or just </a:t>
            </a:r>
            <a:r>
              <a:rPr lang="de-DE" sz="2200" dirty="0" err="1"/>
              <a:t>some</a:t>
            </a:r>
            <a:endParaRPr lang="de-DE" sz="2200" dirty="0"/>
          </a:p>
          <a:p>
            <a:r>
              <a:rPr lang="de-DE" sz="2200" dirty="0"/>
              <a:t>(</a:t>
            </a:r>
            <a:r>
              <a:rPr lang="de-DE" sz="2200" dirty="0" err="1"/>
              <a:t>image</a:t>
            </a:r>
            <a:r>
              <a:rPr lang="de-DE" sz="2200" dirty="0"/>
              <a:t> </a:t>
            </a:r>
            <a:r>
              <a:rPr lang="de-DE" sz="2200" dirty="0" err="1"/>
              <a:t>classfication</a:t>
            </a:r>
            <a:r>
              <a:rPr lang="de-DE" sz="2200" dirty="0"/>
              <a:t> </a:t>
            </a:r>
            <a:r>
              <a:rPr lang="de-DE" sz="2200" dirty="0" err="1"/>
              <a:t>example</a:t>
            </a:r>
            <a:r>
              <a:rPr lang="de-DE" sz="2200" dirty="0"/>
              <a:t>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880903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70418-8F83-3C9E-7A93-DF61EC41A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Finetuning Scenarios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FF65F-2B24-83B6-1383-8EC4F9454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finetuning gives better adjustment to new task than feature extraction (important if new task differs a lot from pretraining task)</a:t>
            </a:r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coming along with </a:t>
            </a:r>
            <a:r>
              <a:rPr lang="en-GB" sz="2400" dirty="0"/>
              <a:t>danger of overfitting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features more generic in early layers (</a:t>
            </a:r>
            <a:r>
              <a:rPr lang="de-DE" sz="2400" dirty="0"/>
              <a:t>e.g., </a:t>
            </a:r>
            <a:r>
              <a:rPr lang="de-DE" sz="2400" dirty="0" err="1"/>
              <a:t>token</a:t>
            </a:r>
            <a:r>
              <a:rPr lang="de-DE" sz="2400" dirty="0"/>
              <a:t> </a:t>
            </a:r>
            <a:r>
              <a:rPr lang="de-DE" sz="2400" dirty="0" err="1"/>
              <a:t>structure</a:t>
            </a:r>
            <a:r>
              <a:rPr lang="de-DE" sz="2400" dirty="0"/>
              <a:t>, </a:t>
            </a:r>
            <a:r>
              <a:rPr lang="de-DE" sz="2400" dirty="0" err="1"/>
              <a:t>syntax</a:t>
            </a:r>
            <a:r>
              <a:rPr lang="de-DE" sz="2400" dirty="0"/>
              <a:t>, </a:t>
            </a:r>
            <a:r>
              <a:rPr lang="de-DE" sz="2400" dirty="0" err="1"/>
              <a:t>part-of-speech</a:t>
            </a:r>
            <a:r>
              <a:rPr lang="en-GB" sz="2400" dirty="0"/>
              <a:t>) and more specific to the pretraining data in later layers (</a:t>
            </a:r>
            <a:r>
              <a:rPr lang="de-DE" sz="2400" dirty="0"/>
              <a:t>e.g., </a:t>
            </a:r>
            <a:r>
              <a:rPr lang="de-DE" sz="2400" dirty="0" err="1"/>
              <a:t>word</a:t>
            </a:r>
            <a:r>
              <a:rPr lang="de-DE" sz="2400" dirty="0"/>
              <a:t> sense, </a:t>
            </a:r>
            <a:r>
              <a:rPr lang="de-DE" sz="2400" dirty="0" err="1"/>
              <a:t>entity</a:t>
            </a:r>
            <a:r>
              <a:rPr lang="de-DE" sz="2400" dirty="0"/>
              <a:t> </a:t>
            </a:r>
            <a:r>
              <a:rPr lang="de-DE" sz="2400" dirty="0" err="1"/>
              <a:t>linking</a:t>
            </a:r>
            <a:r>
              <a:rPr lang="en-GB" sz="2400" dirty="0"/>
              <a:t>)</a:t>
            </a:r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for small finetuning data sets, typically keep weights of early layers fixed to avoid overfitting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for large finetuning data sets (less danger of overfitting), finetuning all layers can be beneficial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47A66-9C27-B5A5-879C-001B25065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20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EFB21-2CCA-564A-D312-3A4B41E5A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Finetuning? 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15F20-2568-EEBA-AF76-03A86D63D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16</a:t>
            </a:fld>
            <a:endParaRPr lang="en-D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758AB1-B3B0-0616-5CEB-865CA618E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454" y="4100715"/>
            <a:ext cx="6965091" cy="22616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BF6A85-5F13-3267-7016-A5B242B7FF98}"/>
              </a:ext>
            </a:extLst>
          </p:cNvPr>
          <p:cNvSpPr txBox="1"/>
          <p:nvPr/>
        </p:nvSpPr>
        <p:spPr>
          <a:xfrm>
            <a:off x="6302826" y="6356350"/>
            <a:ext cx="6445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26BAE1A0-1615-EE5C-7E82-5B0C212C8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own </a:t>
            </a:r>
            <a:r>
              <a:rPr lang="de-DE" dirty="0" err="1"/>
              <a:t>data</a:t>
            </a:r>
            <a:r>
              <a:rPr lang="de-DE" dirty="0"/>
              <a:t> (domain-</a:t>
            </a:r>
            <a:r>
              <a:rPr lang="de-DE" dirty="0" err="1"/>
              <a:t>specific</a:t>
            </a:r>
            <a:r>
              <a:rPr lang="de-DE" dirty="0"/>
              <a:t>, high-quality)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generic</a:t>
            </a:r>
            <a:r>
              <a:rPr lang="de-DE" dirty="0"/>
              <a:t> expert, like </a:t>
            </a:r>
            <a:r>
              <a:rPr lang="de-DE" dirty="0" err="1"/>
              <a:t>coding</a:t>
            </a:r>
            <a:r>
              <a:rPr lang="de-DE" dirty="0"/>
              <a:t> (but </a:t>
            </a:r>
            <a:r>
              <a:rPr lang="de-DE" dirty="0" err="1"/>
              <a:t>can</a:t>
            </a:r>
            <a:r>
              <a:rPr lang="de-DE" dirty="0"/>
              <a:t> also </a:t>
            </a:r>
            <a:r>
              <a:rPr lang="de-DE" dirty="0" err="1"/>
              <a:t>be</a:t>
            </a:r>
            <a:r>
              <a:rPr lang="de-DE" dirty="0"/>
              <a:t> a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thing</a:t>
            </a:r>
            <a:r>
              <a:rPr lang="de-DE" dirty="0"/>
              <a:t> on private </a:t>
            </a:r>
            <a:r>
              <a:rPr lang="de-DE" dirty="0" err="1"/>
              <a:t>data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332147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4ED462E1-7391-FF3F-8ADF-6D5135CCE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B347D77-2736-E668-977C-E7F81439B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  <p:pic>
        <p:nvPicPr>
          <p:cNvPr id="7" name="Grafik 6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140FEE93-8F5D-CF9B-C151-C259F9021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308259"/>
            <a:ext cx="7772400" cy="4184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775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DCEE70-38C0-6533-2AC9-319D2394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Instruction</a:t>
            </a:r>
            <a:r>
              <a:rPr lang="de-DE" dirty="0"/>
              <a:t> 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58E5BD-E8C1-3A42-10A3-CBE78B1726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  <a:p>
            <a:r>
              <a:rPr lang="en-GB" dirty="0"/>
              <a:t>supervised fine-tuning (</a:t>
            </a:r>
            <a:r>
              <a:rPr lang="en-GB" dirty="0">
                <a:hlinkClick r:id="rId2"/>
              </a:rPr>
              <a:t>SFT</a:t>
            </a:r>
            <a:r>
              <a:rPr lang="en-GB" dirty="0"/>
              <a:t>)</a:t>
            </a:r>
          </a:p>
          <a:p>
            <a:r>
              <a:rPr lang="en-GB" dirty="0"/>
              <a:t>(e.g., formatting)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D7E70E-8F09-7DCF-2E5A-5879BF10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95323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694547-5151-D7D3-A925-23192933D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Case: Question </a:t>
            </a:r>
            <a:r>
              <a:rPr lang="de-DE" dirty="0" err="1"/>
              <a:t>Answering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CF3B4-00CD-08EC-E43D-808D6F92E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4B0235-81C4-B185-7A07-065F0D447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70813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84EF70-DD53-EE93-A295-AE17AAE3F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08A8D4-7493-94C3-D8F7-BDE4EBBC2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 …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 </a:t>
            </a:r>
            <a:r>
              <a:rPr lang="de-DE" dirty="0" err="1"/>
              <a:t>Kaggle</a:t>
            </a:r>
            <a:r>
              <a:rPr lang="de-DE" dirty="0"/>
              <a:t> </a:t>
            </a:r>
            <a:r>
              <a:rPr lang="de-DE" dirty="0" err="1"/>
              <a:t>disaster</a:t>
            </a:r>
            <a:r>
              <a:rPr lang="de-DE" dirty="0"/>
              <a:t> </a:t>
            </a:r>
            <a:r>
              <a:rPr lang="de-DE" dirty="0" err="1"/>
              <a:t>tweets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4AA4BB-A69A-19C2-88BD-3D0A692B2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3899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96747100-59AE-6262-89EF-8C7470AFF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334977"/>
            <a:ext cx="10515600" cy="329852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2D747F7-B5C9-14F0-BC67-84479A07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Alignment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F9E407-E7CD-CEC9-08A9-C9287C7FD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  <a:p>
            <a:r>
              <a:rPr lang="en-GB" dirty="0"/>
              <a:t>reinforcement learning from human feedback (</a:t>
            </a:r>
            <a:r>
              <a:rPr lang="en-GB" dirty="0">
                <a:hlinkClick r:id="rId3"/>
              </a:rPr>
              <a:t>RLHF</a:t>
            </a:r>
            <a:r>
              <a:rPr lang="en-GB" dirty="0"/>
              <a:t>)</a:t>
            </a:r>
          </a:p>
          <a:p>
            <a:r>
              <a:rPr lang="en-GB" dirty="0"/>
              <a:t>alternatives: </a:t>
            </a:r>
            <a:r>
              <a:rPr lang="en-GB" dirty="0">
                <a:hlinkClick r:id="rId4"/>
              </a:rPr>
              <a:t>DPO</a:t>
            </a:r>
            <a:r>
              <a:rPr lang="en-GB" dirty="0"/>
              <a:t>, </a:t>
            </a:r>
            <a:r>
              <a:rPr lang="en-GB" dirty="0">
                <a:hlinkClick r:id="rId5"/>
              </a:rPr>
              <a:t>ORPO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E107DF-A4FD-7351-4A7D-0434F1EA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68741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D99FF-C910-A0E8-3381-C448E5F1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hlinkClick r:id="rId2"/>
              </a:rPr>
              <a:t>InstructGPT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F788B-7FE4-0E3B-1C93-49275F5E6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22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F48B22-F5A5-3996-02A4-5527B567641F}"/>
              </a:ext>
            </a:extLst>
          </p:cNvPr>
          <p:cNvSpPr txBox="1"/>
          <p:nvPr/>
        </p:nvSpPr>
        <p:spPr>
          <a:xfrm>
            <a:off x="11277600" y="5178391"/>
            <a:ext cx="608718" cy="246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7" name="Grafik 6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51ABF00D-E8BF-27E7-1A48-C092AAB64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605" y="1690688"/>
            <a:ext cx="11449713" cy="325816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FB0CE71-E065-7443-636C-0D3D508B9E73}"/>
              </a:ext>
            </a:extLst>
          </p:cNvPr>
          <p:cNvSpPr txBox="1"/>
          <p:nvPr/>
        </p:nvSpPr>
        <p:spPr>
          <a:xfrm>
            <a:off x="2984938" y="5424610"/>
            <a:ext cx="622212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600" dirty="0"/>
              <a:t>aligning LLM output with human intention</a:t>
            </a:r>
          </a:p>
        </p:txBody>
      </p:sp>
    </p:spTree>
    <p:extLst>
      <p:ext uri="{BB962C8B-B14F-4D97-AF65-F5344CB8AC3E}">
        <p14:creationId xmlns:p14="http://schemas.microsoft.com/office/powerpoint/2010/main" val="28598189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493DE1-8681-E946-F35C-2A338BAFE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C5182F-76D3-02B3-807F-78D531F2C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GPT-3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InstructGPT</a:t>
            </a:r>
            <a:r>
              <a:rPr lang="de-DE" dirty="0"/>
              <a:t> and ChatGPT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5A7FC5-9ED3-4885-ECCE-73FBD8CB7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47628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1B08B0-5FAB-8E36-9583-086C5FE7F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Multi-Turn </a:t>
            </a:r>
            <a:r>
              <a:rPr lang="de-DE" dirty="0" err="1"/>
              <a:t>Dialogue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FDAE060-03E4-7410-C0A6-AE36D4674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Handled</a:t>
            </a:r>
            <a:r>
              <a:rPr lang="de-DE" dirty="0"/>
              <a:t> </a:t>
            </a:r>
            <a:r>
              <a:rPr lang="de-DE" dirty="0" err="1"/>
              <a:t>entirely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passing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conversation</a:t>
            </a:r>
            <a:r>
              <a:rPr lang="de-DE" dirty="0"/>
              <a:t> </a:t>
            </a:r>
            <a:r>
              <a:rPr lang="de-DE" dirty="0" err="1"/>
              <a:t>history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at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41BFF8-BEC1-70D4-324B-8FD51E0DA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57809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EB045E-1272-3E62-6E68-080CE472E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Dialog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6BFCD0-FDF6-89AF-2AC1-D92E4EB10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instruction-tuned</a:t>
            </a:r>
            <a:r>
              <a:rPr lang="de-DE" dirty="0"/>
              <a:t> and </a:t>
            </a:r>
            <a:r>
              <a:rPr lang="de-DE" dirty="0" err="1"/>
              <a:t>aligned</a:t>
            </a:r>
            <a:r>
              <a:rPr lang="de-DE" dirty="0"/>
              <a:t> LLMs: </a:t>
            </a:r>
            <a:r>
              <a:rPr lang="de-DE" dirty="0" err="1"/>
              <a:t>assistant</a:t>
            </a:r>
            <a:r>
              <a:rPr lang="de-DE" dirty="0"/>
              <a:t>-style </a:t>
            </a:r>
            <a:r>
              <a:rPr lang="de-DE" dirty="0" err="1"/>
              <a:t>models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D7745C-33A3-5E08-9676-31B82A7FE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29402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AD07C-8362-D471-3F09-B2FC34755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Parameter-Efficient Finetuning (PEFT)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76C3D-25E9-6468-66D7-A1D0E870E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009239" cy="44312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… </a:t>
            </a:r>
            <a:r>
              <a:rPr lang="en-GB" dirty="0">
                <a:hlinkClick r:id="rId2"/>
              </a:rPr>
              <a:t>LoRA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4E765-465F-5DF8-7C82-EFF8EB0E6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26</a:t>
            </a:fld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E85E75-380C-048D-109E-337786578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9485" y="2282775"/>
            <a:ext cx="3983086" cy="3517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7466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44D5EC-B5AA-E834-EBB8-678B95596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87694A-0859-8A10-3458-6B8052C23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>
                <a:hlinkClick r:id="rId2"/>
              </a:rPr>
              <a:t>Build</a:t>
            </a:r>
            <a:r>
              <a:rPr lang="de-DE" dirty="0">
                <a:hlinkClick r:id="rId2"/>
              </a:rPr>
              <a:t> a Large Language Model (</a:t>
            </a:r>
            <a:r>
              <a:rPr lang="de-DE" dirty="0" err="1">
                <a:hlinkClick r:id="rId2"/>
              </a:rPr>
              <a:t>From</a:t>
            </a:r>
            <a:r>
              <a:rPr lang="de-DE" dirty="0">
                <a:hlinkClick r:id="rId2"/>
              </a:rPr>
              <a:t> Scratch)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51A0954-1AA4-E4D1-74D2-588420CC4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30040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8399663-9922-19FF-0C11-ACBEFDAAA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28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567973F-4CA1-AD37-154D-E291AE0C5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214" y="68262"/>
            <a:ext cx="8517571" cy="6721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1948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F1E6E-F30A-7F8D-50CD-E883ED225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Next: </a:t>
            </a:r>
            <a:r>
              <a:rPr lang="de-DE" dirty="0" err="1"/>
              <a:t>Agents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1F7B0-46FA-7E09-1BEB-4B91C37A02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latest</a:t>
            </a:r>
            <a:r>
              <a:rPr lang="de-DE" dirty="0"/>
              <a:t> AI </a:t>
            </a:r>
            <a:r>
              <a:rPr lang="de-DE" dirty="0" err="1"/>
              <a:t>evolutionary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: </a:t>
            </a:r>
            <a:r>
              <a:rPr lang="de-DE" b="1" dirty="0"/>
              <a:t>LLMs </a:t>
            </a:r>
            <a:r>
              <a:rPr lang="de-DE" b="1" dirty="0" err="1"/>
              <a:t>as</a:t>
            </a:r>
            <a:r>
              <a:rPr lang="de-DE" b="1" dirty="0"/>
              <a:t> </a:t>
            </a:r>
            <a:r>
              <a:rPr lang="de-DE" b="1" dirty="0" err="1"/>
              <a:t>assistants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b="1" dirty="0"/>
              <a:t>LLMs </a:t>
            </a:r>
            <a:r>
              <a:rPr lang="de-DE" b="1" dirty="0" err="1"/>
              <a:t>as</a:t>
            </a:r>
            <a:r>
              <a:rPr lang="de-DE" b="1" dirty="0"/>
              <a:t> </a:t>
            </a:r>
            <a:r>
              <a:rPr lang="de-DE" b="1" dirty="0" err="1"/>
              <a:t>agents</a:t>
            </a:r>
            <a:endParaRPr lang="de-DE" b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ED79EF-B4D0-08EC-3556-26AD11F21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29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F9B6036-572A-3224-B445-73009FB1AF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6985" y="2540226"/>
            <a:ext cx="5998029" cy="3998686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6569F2A-99DD-137E-168F-1D632F00FA33}"/>
              </a:ext>
            </a:extLst>
          </p:cNvPr>
          <p:cNvSpPr txBox="1"/>
          <p:nvPr/>
        </p:nvSpPr>
        <p:spPr>
          <a:xfrm>
            <a:off x="9095014" y="3339574"/>
            <a:ext cx="291192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000" dirty="0" err="1"/>
              <a:t>active</a:t>
            </a:r>
            <a:r>
              <a:rPr lang="de-DE" sz="2000" dirty="0"/>
              <a:t>, </a:t>
            </a:r>
            <a:r>
              <a:rPr lang="de-DE" sz="2000" dirty="0" err="1"/>
              <a:t>autonomous</a:t>
            </a:r>
            <a:r>
              <a:rPr lang="de-DE" sz="2000" dirty="0"/>
              <a:t>, </a:t>
            </a:r>
            <a:r>
              <a:rPr lang="de-DE" sz="2000" dirty="0" err="1"/>
              <a:t>decision-making</a:t>
            </a:r>
            <a:r>
              <a:rPr lang="de-DE" sz="2000" dirty="0"/>
              <a:t> </a:t>
            </a:r>
            <a:r>
              <a:rPr lang="de-DE" sz="2000" dirty="0" err="1"/>
              <a:t>entities</a:t>
            </a:r>
            <a:endParaRPr lang="de-DE" sz="2000" dirty="0"/>
          </a:p>
          <a:p>
            <a:endParaRPr lang="de-DE" sz="2000" dirty="0"/>
          </a:p>
          <a:p>
            <a:r>
              <a:rPr lang="de-DE" sz="2000" dirty="0" err="1"/>
              <a:t>acting</a:t>
            </a:r>
            <a:r>
              <a:rPr lang="de-DE" sz="2000" dirty="0"/>
              <a:t> on </a:t>
            </a:r>
            <a:r>
              <a:rPr lang="de-DE" sz="2000" dirty="0" err="1"/>
              <a:t>goals</a:t>
            </a:r>
            <a:r>
              <a:rPr lang="de-DE" sz="2000" dirty="0"/>
              <a:t> </a:t>
            </a:r>
            <a:r>
              <a:rPr lang="de-DE" sz="2000" dirty="0" err="1"/>
              <a:t>or</a:t>
            </a:r>
            <a:r>
              <a:rPr lang="de-DE" sz="2000" dirty="0"/>
              <a:t> </a:t>
            </a:r>
            <a:r>
              <a:rPr lang="de-DE" sz="2000" dirty="0" err="1"/>
              <a:t>tasks</a:t>
            </a:r>
            <a:endParaRPr lang="de-DE" sz="20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0A239DC-E007-4DEE-0753-ACE01E85E9D0}"/>
              </a:ext>
            </a:extLst>
          </p:cNvPr>
          <p:cNvSpPr txBox="1"/>
          <p:nvPr/>
        </p:nvSpPr>
        <p:spPr>
          <a:xfrm>
            <a:off x="1055914" y="3339574"/>
            <a:ext cx="204107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000" dirty="0"/>
              <a:t>passive, </a:t>
            </a:r>
            <a:r>
              <a:rPr lang="de-DE" sz="2000" dirty="0" err="1"/>
              <a:t>reactive</a:t>
            </a:r>
            <a:endParaRPr lang="de-DE" sz="2000" dirty="0"/>
          </a:p>
          <a:p>
            <a:endParaRPr lang="de-DE" sz="2000" dirty="0"/>
          </a:p>
          <a:p>
            <a:r>
              <a:rPr lang="de-DE" sz="2000" dirty="0" err="1"/>
              <a:t>responding</a:t>
            </a:r>
            <a:r>
              <a:rPr lang="de-DE" sz="2000" dirty="0"/>
              <a:t> </a:t>
            </a:r>
            <a:r>
              <a:rPr lang="de-DE" sz="2000" dirty="0" err="1"/>
              <a:t>to</a:t>
            </a:r>
            <a:r>
              <a:rPr lang="de-DE" sz="2000" dirty="0"/>
              <a:t> </a:t>
            </a:r>
            <a:r>
              <a:rPr lang="de-DE" sz="2000" dirty="0" err="1"/>
              <a:t>user</a:t>
            </a:r>
            <a:r>
              <a:rPr lang="de-DE" sz="2000" dirty="0"/>
              <a:t> </a:t>
            </a:r>
            <a:r>
              <a:rPr lang="de-DE" sz="2000" dirty="0" err="1"/>
              <a:t>prompts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350334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1103</Words>
  <Application>Microsoft Macintosh PowerPoint</Application>
  <PresentationFormat>Breitbild</PresentationFormat>
  <Paragraphs>177</Paragraphs>
  <Slides>29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Wingdings</vt:lpstr>
      <vt:lpstr>Office</vt:lpstr>
      <vt:lpstr>Finetuning</vt:lpstr>
      <vt:lpstr>Course Contents</vt:lpstr>
      <vt:lpstr>This Part: Finetuning</vt:lpstr>
      <vt:lpstr>Modern Language Models in a Nutshell</vt:lpstr>
      <vt:lpstr>Transfer Learning from Foundation Models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BERT Variants</vt:lpstr>
      <vt:lpstr>Text Classification</vt:lpstr>
      <vt:lpstr>Feature Extraction</vt:lpstr>
      <vt:lpstr>Finetuning</vt:lpstr>
      <vt:lpstr>Finetuning Scenarios</vt:lpstr>
      <vt:lpstr>Why Finetuning? </vt:lpstr>
      <vt:lpstr>PowerPoint-Präsentation</vt:lpstr>
      <vt:lpstr>Instruction Tuning</vt:lpstr>
      <vt:lpstr>Use Case: Question Answering</vt:lpstr>
      <vt:lpstr>PowerPoint-Präsentation</vt:lpstr>
      <vt:lpstr>Alignment</vt:lpstr>
      <vt:lpstr>InstructGPT</vt:lpstr>
      <vt:lpstr>PowerPoint-Präsentation</vt:lpstr>
      <vt:lpstr>Multi-Turn Dialogue</vt:lpstr>
      <vt:lpstr>Dialog Systems</vt:lpstr>
      <vt:lpstr>Parameter-Efficient Finetuning (PEFT)</vt:lpstr>
      <vt:lpstr>PowerPoint-Präsentation</vt:lpstr>
      <vt:lpstr>PowerPoint-Präsentation</vt:lpstr>
      <vt:lpstr>Next: Agents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88</cp:revision>
  <dcterms:created xsi:type="dcterms:W3CDTF">2025-07-07T13:23:51Z</dcterms:created>
  <dcterms:modified xsi:type="dcterms:W3CDTF">2025-09-17T19:25:47Z</dcterms:modified>
</cp:coreProperties>
</file>