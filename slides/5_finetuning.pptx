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792" r:id="rId3"/>
    <p:sldId id="790" r:id="rId4"/>
    <p:sldId id="835" r:id="rId5"/>
    <p:sldId id="754" r:id="rId6"/>
    <p:sldId id="812" r:id="rId7"/>
    <p:sldId id="816" r:id="rId8"/>
    <p:sldId id="841" r:id="rId9"/>
    <p:sldId id="814" r:id="rId10"/>
    <p:sldId id="833" r:id="rId11"/>
    <p:sldId id="842" r:id="rId12"/>
    <p:sldId id="834" r:id="rId13"/>
    <p:sldId id="766" r:id="rId14"/>
    <p:sldId id="280" r:id="rId15"/>
    <p:sldId id="829" r:id="rId16"/>
    <p:sldId id="844" r:id="rId17"/>
    <p:sldId id="843" r:id="rId18"/>
    <p:sldId id="847" r:id="rId19"/>
    <p:sldId id="333" r:id="rId20"/>
    <p:sldId id="800" r:id="rId21"/>
    <p:sldId id="846" r:id="rId22"/>
    <p:sldId id="819" r:id="rId23"/>
    <p:sldId id="830" r:id="rId24"/>
    <p:sldId id="840" r:id="rId25"/>
    <p:sldId id="839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5"/>
    <p:restoredTop sz="94602"/>
  </p:normalViewPr>
  <p:slideViewPr>
    <p:cSldViewPr snapToGrid="0">
      <p:cViewPr varScale="1">
        <p:scale>
          <a:sx n="115" d="100"/>
          <a:sy n="115" d="100"/>
        </p:scale>
        <p:origin x="14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288D3E87-5781-4F83-84CB-1610EAD21773}">
      <dgm:prSet/>
      <dgm:spPr/>
      <dgm:t>
        <a:bodyPr/>
        <a:lstStyle/>
        <a:p>
          <a:r>
            <a:rPr lang="de-DE" b="1"/>
            <a:t>Finetuning</a:t>
          </a:r>
          <a:endParaRPr lang="en-US" b="1" dirty="0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Deep Learning</a:t>
          </a:r>
          <a:endParaRPr lang="en-US" sz="2800" b="0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Transformer</a:t>
          </a:r>
          <a:endParaRPr lang="en-US" sz="2800" b="0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/>
            <a:t>Finetuning</a:t>
          </a:r>
          <a:endParaRPr lang="en-US" sz="2800" b="1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Agents</a:t>
          </a:r>
          <a:endParaRPr lang="en-US" sz="2800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The Bigger Picture</a:t>
          </a:r>
          <a:endParaRPr lang="en-US" sz="2800" b="0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38448-F949-A340-94CF-EFC7FB146DC3}" type="datetimeFigureOut">
              <a:rPr lang="de-DE" smtClean="0"/>
              <a:t>19.09.25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88973-CD00-DE47-B22A-36778A77FC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237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3381-758E-0A6B-C899-EE7B45C9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BE904A-0D34-BF1F-C60B-AB2B79C2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F2103-A9E7-0F7A-20F0-3D0D2254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ACC2-601D-4B49-AF12-AE7E0A409668}" type="datetime1">
              <a:rPr lang="de-DE" smtClean="0"/>
              <a:t>19.09.25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4E0A6-36C8-1189-39ED-220EA3F9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ED9AC-2E2B-7D50-57E1-82DB568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0CFF6-86AD-6ADD-B20D-10768B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6DF11-A587-5A55-A9C7-00ECEB97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515BA-ADCD-3F33-A6C7-EA3050DA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D07D-C13F-4E4C-B9AC-279F2B3CA927}" type="datetime1">
              <a:rPr lang="de-DE" smtClean="0"/>
              <a:t>19.09.25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95CDF-844D-CC6E-6717-53613FEA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0EC7B-EDAB-00A6-6F74-C7093265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C1590-182F-2FCF-C924-4F3EE844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60AF3-91B0-8C3D-5523-C00018D8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08590-6CEA-A08F-D3D5-07D3C50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1780-2A28-3749-A212-7540F54B9465}" type="datetime1">
              <a:rPr lang="de-DE" smtClean="0"/>
              <a:t>19.09.25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5F9-B12A-A47E-8A66-43CB636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8A3A1-1ED4-2B00-F774-0770579A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4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74FDE-7C6E-8847-DDBD-9E1BB18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2620F-4E5D-4917-8505-0C755E88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EAEB3-4A3B-9231-1314-64AB817B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E2B1EE-5C88-59AD-4B9E-761AE24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D020-F608-DA44-840A-F653D7B34645}" type="datetime1">
              <a:rPr lang="de-DE" smtClean="0"/>
              <a:t>19.09.25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E95AD-80EB-62FF-C99A-9E38000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2B332-87AD-48FB-7E02-68E3577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9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F542A-653F-1437-8B84-07A7E33D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C182E-D365-DE63-5600-920A7C0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DFDA3A-9427-025F-5994-3996B4E1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CAF632-C1ED-1E3C-10F3-CDCE7FCF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A83CEB-0EF1-FFA3-73F4-99558B22D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EAC70-EC21-893E-AC85-B37AD25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096-D809-3C4A-B49B-20A875EFDFE8}" type="datetime1">
              <a:rPr lang="de-DE" smtClean="0"/>
              <a:t>19.09.25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A1FA19-17AC-5EB2-96AD-6F9D853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23032A-0F25-C17F-2A05-0CCD6E8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6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C254-D066-3A14-91DE-A70EBF1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A743DC-54A8-CD48-26ED-0D2A07C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8CED-7C3B-D243-A7A7-180C1477BFE9}" type="datetime1">
              <a:rPr lang="de-DE" smtClean="0"/>
              <a:t>19.09.25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D36842-29E9-EF66-8D63-2BCBAE4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2C2E3-CAD7-E9F5-63AD-736D4A1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1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908658-FD8E-0CEF-21BC-B8FF795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3341-36E1-684C-B37A-E1CF770EFEDF}" type="datetime1">
              <a:rPr lang="de-DE" smtClean="0"/>
              <a:t>19.09.25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EC9D7A-C677-3F2C-74CE-431B846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1F798-6679-1AE5-2207-1932FD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9BBD-7D97-E0F7-1065-25AA2366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C46EEB-64CF-7A84-CB75-32E6DA50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EAAF5-AD44-3515-D676-A2172B69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9EECB0-76E8-CEAF-655D-BFF6669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489F-99E0-0B4E-AC85-0F547BC7C4E9}" type="datetime1">
              <a:rPr lang="de-DE" smtClean="0"/>
              <a:t>19.09.25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8A5A91-F424-7E07-D578-0E7CC98D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D5CA1-07D1-05B6-EA2B-31CBAB2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3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B213C-7480-D134-315D-EADD8D2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467DD8-B9BD-A36F-5B4F-3CE366207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00F4BA-D8C5-5332-F436-B65FF860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7A1C9-E1E6-58BE-52E8-34EC9B8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8F7F-BE24-2A45-927E-12FDF36DDAB4}" type="datetime1">
              <a:rPr lang="de-DE" smtClean="0"/>
              <a:t>19.09.25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30B87-C20C-7EF3-B7A1-61799D63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1909B-4950-379F-8A9A-81A057F2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50051-6EFD-35CE-85D9-C783C6D6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0DD0C-3A69-15AB-3CD0-2DBF5BFE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661AC-11CB-9C29-3643-17779ED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6029-94C2-D041-AE64-8D99E258F8A3}" type="datetime1">
              <a:rPr lang="de-DE" smtClean="0"/>
              <a:t>19.09.25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74B47-69F2-8E3F-A878-A5B29BA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59C75-0843-9F52-F09A-45713AED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25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08531-46C2-C27E-E410-4D516F6E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82FE20-CC8E-8053-BE5E-79D75205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817AE-96C8-22CB-55CB-28DE3F7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3790-B7B2-CE44-8ABE-1653D553799B}" type="datetime1">
              <a:rPr lang="de-DE" smtClean="0"/>
              <a:t>19.09.25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C57D71-8770-E80A-1931-13A2BF38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0A003E-85F4-1C42-C7F1-F9E6A0E1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3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6AFC4F-27C6-4EAD-2564-2A70828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FAFB6-DFBC-D5F1-F54C-1D25DA0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B3817-4790-FF66-D7D8-C8833174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2EDA1-0F0F-7343-82D4-3054E662EA0E}" type="datetime1">
              <a:rPr lang="de-DE" smtClean="0"/>
              <a:t>19.09.25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15EF2-7973-74A4-106A-53509B65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5449-14F8-CDD0-9C9E-976594BA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ccormickml.com/2019/07/22/BERT-fine-tunin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01108" TargetMode="External"/><Relationship Id="rId2" Type="http://schemas.openxmlformats.org/officeDocument/2006/relationships/hyperlink" Target="https://arxiv.org/abs/1907.1169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9.0165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ocs/trl/main/en/sft_train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abs/2106.09685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ameronrwolfe.substack.com/p/understanding-and-using-supervise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03.0215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18290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3.07691v1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FF727-F4B3-3376-8344-F8D9ED808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Finetuning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D8156-C5C8-1852-17C9-3396BF98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67223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7879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A6BD21-F227-F385-D9F5-42230CC4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Finetuning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instruction</a:t>
            </a:r>
            <a:r>
              <a:rPr lang="de-DE" dirty="0"/>
              <a:t> </a:t>
            </a:r>
            <a:r>
              <a:rPr lang="de-DE" dirty="0" err="1"/>
              <a:t>tuning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parameter-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finetuning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preference</a:t>
            </a:r>
            <a:r>
              <a:rPr lang="de-DE" dirty="0"/>
              <a:t> </a:t>
            </a:r>
            <a:r>
              <a:rPr lang="de-DE" dirty="0" err="1"/>
              <a:t>alignment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8C123F-DC22-2183-82AC-AC846FE1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2CF71D3-F9F6-B398-513E-188910BE90BC}"/>
              </a:ext>
            </a:extLst>
          </p:cNvPr>
          <p:cNvSpPr/>
          <p:nvPr/>
        </p:nvSpPr>
        <p:spPr>
          <a:xfrm>
            <a:off x="838198" y="1742480"/>
            <a:ext cx="10210802" cy="68223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D1D2C1B1-5072-3473-0849-846900EBB4BA}"/>
              </a:ext>
            </a:extLst>
          </p:cNvPr>
          <p:cNvSpPr/>
          <p:nvPr/>
        </p:nvSpPr>
        <p:spPr>
          <a:xfrm>
            <a:off x="838198" y="2853230"/>
            <a:ext cx="10210802" cy="16055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64A12374-ACEF-7777-B3C5-6F49491F5D56}"/>
              </a:ext>
            </a:extLst>
          </p:cNvPr>
          <p:cNvSpPr/>
          <p:nvPr/>
        </p:nvSpPr>
        <p:spPr>
          <a:xfrm>
            <a:off x="838198" y="4887309"/>
            <a:ext cx="10210802" cy="16055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D4E78A-896B-C79A-E2FE-5D919375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Modern Language Models in a Nutshell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08D6CC-B86F-1636-6F85-AB0B7A2A3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tokenization</a:t>
            </a:r>
            <a:r>
              <a:rPr lang="en-GB" dirty="0"/>
              <a:t>: split text into chunks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pretraining</a:t>
            </a:r>
            <a:r>
              <a:rPr lang="en-GB" dirty="0"/>
              <a:t>: self-supervised, next- or masked-token prediction</a:t>
            </a:r>
          </a:p>
          <a:p>
            <a:r>
              <a:rPr lang="en-GB" sz="1800" dirty="0"/>
              <a:t>vector embeddings from tokens (semantic meaning)</a:t>
            </a:r>
            <a:endParaRPr lang="en-GB" sz="1800" dirty="0">
              <a:sym typeface="Wingdings" pitchFamily="2" charset="2"/>
            </a:endParaRPr>
          </a:p>
          <a:p>
            <a:r>
              <a:rPr lang="en-GB" sz="1800" dirty="0"/>
              <a:t>add positional encoding (attention permutation-invariant)</a:t>
            </a:r>
          </a:p>
          <a:p>
            <a:r>
              <a:rPr lang="en-GB" sz="1800" dirty="0"/>
              <a:t>attention mechanism (transformer) </a:t>
            </a:r>
            <a:r>
              <a:rPr lang="en-GB" sz="1800" dirty="0">
                <a:sym typeface="Wingdings" pitchFamily="2" charset="2"/>
              </a:rPr>
              <a:t></a:t>
            </a:r>
            <a:r>
              <a:rPr lang="en-GB" sz="1800" dirty="0"/>
              <a:t> contextual embeddings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finetuning</a:t>
            </a:r>
            <a:r>
              <a:rPr lang="en-GB" dirty="0"/>
              <a:t>: specialization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68FCF-2CF1-B3CF-F33E-FD3F880A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4</a:t>
            </a:fld>
            <a:endParaRPr lang="en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62D4140-AC0F-1879-1992-0E7A9644CA76}"/>
              </a:ext>
            </a:extLst>
          </p:cNvPr>
          <p:cNvSpPr txBox="1"/>
          <p:nvPr/>
        </p:nvSpPr>
        <p:spPr>
          <a:xfrm>
            <a:off x="6096000" y="5486399"/>
            <a:ext cx="4669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assistant</a:t>
            </a:r>
            <a:r>
              <a:rPr lang="de-DE" dirty="0"/>
              <a:t>/</a:t>
            </a:r>
            <a:r>
              <a:rPr lang="de-DE" dirty="0" err="1"/>
              <a:t>chatbot</a:t>
            </a:r>
            <a:r>
              <a:rPr lang="de-DE" dirty="0"/>
              <a:t> (</a:t>
            </a:r>
            <a:r>
              <a:rPr lang="de-DE" dirty="0" err="1"/>
              <a:t>multipurpose</a:t>
            </a:r>
            <a:r>
              <a:rPr lang="de-DE" dirty="0"/>
              <a:t>):</a:t>
            </a:r>
          </a:p>
          <a:p>
            <a:r>
              <a:rPr lang="de-DE" dirty="0" err="1"/>
              <a:t>instruction</a:t>
            </a:r>
            <a:r>
              <a:rPr lang="de-DE" dirty="0"/>
              <a:t> </a:t>
            </a:r>
            <a:r>
              <a:rPr lang="de-DE" dirty="0" err="1"/>
              <a:t>tuning</a:t>
            </a:r>
            <a:r>
              <a:rPr lang="de-DE" dirty="0"/>
              <a:t> (</a:t>
            </a:r>
            <a:r>
              <a:rPr lang="de-DE" dirty="0" err="1"/>
              <a:t>decoder-only</a:t>
            </a:r>
            <a:r>
              <a:rPr lang="de-DE" dirty="0"/>
              <a:t> </a:t>
            </a:r>
            <a:r>
              <a:rPr lang="de-DE" dirty="0" err="1"/>
              <a:t>transformer</a:t>
            </a:r>
            <a:r>
              <a:rPr lang="de-DE" dirty="0"/>
              <a:t>), </a:t>
            </a:r>
            <a:r>
              <a:rPr lang="de-DE" dirty="0" err="1"/>
              <a:t>potentially</a:t>
            </a:r>
            <a:r>
              <a:rPr lang="de-DE" dirty="0"/>
              <a:t> </a:t>
            </a:r>
            <a:r>
              <a:rPr lang="de-DE" dirty="0" err="1"/>
              <a:t>followed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alignment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ABA88E0-558D-4BEA-50DB-887EA4201B2E}"/>
              </a:ext>
            </a:extLst>
          </p:cNvPr>
          <p:cNvSpPr txBox="1"/>
          <p:nvPr/>
        </p:nvSpPr>
        <p:spPr>
          <a:xfrm>
            <a:off x="903515" y="5486399"/>
            <a:ext cx="4299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classification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(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):</a:t>
            </a:r>
          </a:p>
          <a:p>
            <a:r>
              <a:rPr lang="de-DE" dirty="0" err="1"/>
              <a:t>finetuning</a:t>
            </a:r>
            <a:r>
              <a:rPr lang="de-DE" dirty="0"/>
              <a:t> on </a:t>
            </a:r>
            <a:r>
              <a:rPr lang="de-DE" dirty="0" err="1"/>
              <a:t>labeled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(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encoder-only</a:t>
            </a:r>
            <a:r>
              <a:rPr lang="de-DE" dirty="0"/>
              <a:t> </a:t>
            </a:r>
            <a:r>
              <a:rPr lang="de-DE" dirty="0" err="1"/>
              <a:t>transformer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76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F7C251-E411-67C1-497C-2BFFEBC0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Transfer Learning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Foundation</a:t>
            </a:r>
            <a:r>
              <a:rPr lang="de-DE" dirty="0"/>
              <a:t> Models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FF263-6A7E-63B8-37B4-8152AC6DF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idea:</a:t>
            </a:r>
          </a:p>
          <a:p>
            <a:r>
              <a:rPr lang="en-GB" dirty="0"/>
              <a:t>pretrain a big model (called foundation model) on a broad data set</a:t>
            </a:r>
          </a:p>
          <a:p>
            <a:r>
              <a:rPr lang="en-GB" dirty="0"/>
              <a:t>then use these learnings for subsequent trainings on specific (typically narrow) data by means of finetuning or feature extraction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here: self-supervised, internet-scale pretraining of models like BERT or GPT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B5BE9-331D-0505-FC7E-005F6B0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66358C6-7FB2-EACB-408F-55037CA86FF9}"/>
              </a:ext>
            </a:extLst>
          </p:cNvPr>
          <p:cNvSpPr txBox="1"/>
          <p:nvPr/>
        </p:nvSpPr>
        <p:spPr>
          <a:xfrm>
            <a:off x="2799205" y="5988734"/>
            <a:ext cx="659358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works well for homogenous, unstructured data (e.g., text, images)</a:t>
            </a:r>
          </a:p>
          <a:p>
            <a:r>
              <a:rPr lang="en-GB" dirty="0"/>
              <a:t>but very difficult for heterogenous, structured/tabular data</a:t>
            </a:r>
          </a:p>
        </p:txBody>
      </p:sp>
    </p:spTree>
    <p:extLst>
      <p:ext uri="{BB962C8B-B14F-4D97-AF65-F5344CB8AC3E}">
        <p14:creationId xmlns:p14="http://schemas.microsoft.com/office/powerpoint/2010/main" val="273314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F84C9-7C51-3B5E-CEAC-B8DAC520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Finetuning of BERT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397F5D-3B96-44CC-0D86-A08B51D4C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DE" sz="2400" dirty="0" err="1"/>
              <a:t>get</a:t>
            </a:r>
            <a:r>
              <a:rPr lang="de-DE" sz="2400" dirty="0"/>
              <a:t> </a:t>
            </a:r>
            <a:r>
              <a:rPr lang="de-DE" sz="2400" dirty="0" err="1"/>
              <a:t>pretrained</a:t>
            </a:r>
            <a:r>
              <a:rPr lang="de-DE" sz="2400" dirty="0"/>
              <a:t> BERT </a:t>
            </a: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foundation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(MLM </a:t>
            </a:r>
            <a:r>
              <a:rPr lang="de-DE" sz="2400" dirty="0" err="1"/>
              <a:t>pretraining</a:t>
            </a:r>
            <a:r>
              <a:rPr lang="de-DE" sz="2400" dirty="0"/>
              <a:t>: </a:t>
            </a:r>
            <a:r>
              <a:rPr lang="de-DE" sz="2400" dirty="0" err="1"/>
              <a:t>loss</a:t>
            </a:r>
            <a:r>
              <a:rPr lang="de-DE" sz="2400" dirty="0"/>
              <a:t> </a:t>
            </a:r>
            <a:r>
              <a:rPr lang="de-DE" sz="2400" dirty="0" err="1"/>
              <a:t>computed</a:t>
            </a:r>
            <a:r>
              <a:rPr lang="de-DE" sz="2400" dirty="0"/>
              <a:t> </a:t>
            </a:r>
            <a:r>
              <a:rPr lang="de-DE" sz="2400" dirty="0" err="1"/>
              <a:t>against</a:t>
            </a:r>
            <a:r>
              <a:rPr lang="de-DE" sz="2400" dirty="0"/>
              <a:t> </a:t>
            </a:r>
            <a:r>
              <a:rPr lang="en-GB" sz="2400" dirty="0"/>
              <a:t>projection from last hidden state of [MASK] token to vector of logits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endParaRPr lang="de-DE" sz="2400" dirty="0"/>
          </a:p>
          <a:p>
            <a:r>
              <a:rPr lang="de-DE" sz="2400" dirty="0" err="1"/>
              <a:t>remove</a:t>
            </a:r>
            <a:r>
              <a:rPr lang="de-DE" sz="2400" dirty="0"/>
              <a:t> </a:t>
            </a:r>
            <a:r>
              <a:rPr lang="de-DE" sz="2400" dirty="0" err="1"/>
              <a:t>pretraining</a:t>
            </a:r>
            <a:r>
              <a:rPr lang="de-DE" sz="2400" dirty="0"/>
              <a:t> </a:t>
            </a:r>
            <a:r>
              <a:rPr lang="de-DE" sz="2400" dirty="0" err="1"/>
              <a:t>classification</a:t>
            </a:r>
            <a:r>
              <a:rPr lang="de-DE" sz="2400" dirty="0"/>
              <a:t> </a:t>
            </a:r>
            <a:r>
              <a:rPr lang="de-DE" sz="2400" dirty="0" err="1"/>
              <a:t>head</a:t>
            </a:r>
            <a:r>
              <a:rPr lang="de-DE" sz="2400" dirty="0"/>
              <a:t> (</a:t>
            </a:r>
            <a:r>
              <a:rPr lang="de-DE" sz="2400" dirty="0">
                <a:sym typeface="Wingdings" pitchFamily="2" charset="2"/>
              </a:rPr>
              <a:t></a:t>
            </a:r>
            <a:r>
              <a:rPr lang="de-DE" sz="2400" dirty="0"/>
              <a:t> </a:t>
            </a:r>
            <a:r>
              <a:rPr lang="de-DE" sz="2400" dirty="0" err="1"/>
              <a:t>get</a:t>
            </a:r>
            <a:r>
              <a:rPr lang="de-DE" sz="2400" dirty="0"/>
              <a:t> </a:t>
            </a:r>
            <a:r>
              <a:rPr lang="de-DE" sz="2400" dirty="0" err="1"/>
              <a:t>contextual</a:t>
            </a:r>
            <a:r>
              <a:rPr lang="de-DE" sz="2400" dirty="0"/>
              <a:t> </a:t>
            </a:r>
            <a:r>
              <a:rPr lang="de-DE" sz="2400" dirty="0" err="1"/>
              <a:t>token</a:t>
            </a:r>
            <a:r>
              <a:rPr lang="de-DE" sz="2400" dirty="0"/>
              <a:t> </a:t>
            </a:r>
            <a:r>
              <a:rPr lang="de-DE" sz="2400" dirty="0" err="1"/>
              <a:t>embeddings</a:t>
            </a:r>
            <a:r>
              <a:rPr lang="de-DE" sz="2400" dirty="0"/>
              <a:t>)</a:t>
            </a:r>
          </a:p>
          <a:p>
            <a:r>
              <a:rPr lang="en-GB" sz="2400" dirty="0"/>
              <a:t>add another, task-specific classification head (see a few examples on the following slides)</a:t>
            </a:r>
          </a:p>
          <a:p>
            <a:pPr marL="0" indent="0">
              <a:buNone/>
            </a:pPr>
            <a:endParaRPr lang="de-DE" sz="2400" dirty="0"/>
          </a:p>
          <a:p>
            <a:r>
              <a:rPr lang="de-DE" sz="2400" dirty="0" err="1"/>
              <a:t>train</a:t>
            </a:r>
            <a:r>
              <a:rPr lang="de-DE" sz="2400" dirty="0"/>
              <a:t> (</a:t>
            </a:r>
            <a:r>
              <a:rPr lang="de-DE" sz="2400" dirty="0" err="1"/>
              <a:t>finetune</a:t>
            </a:r>
            <a:r>
              <a:rPr lang="de-DE" sz="2400" dirty="0"/>
              <a:t>)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actual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r>
              <a:rPr lang="de-DE" sz="2400" dirty="0"/>
              <a:t> at </a:t>
            </a:r>
            <a:r>
              <a:rPr lang="de-DE" sz="2400" dirty="0" err="1"/>
              <a:t>hand</a:t>
            </a:r>
            <a:r>
              <a:rPr lang="de-DE" sz="2400" dirty="0"/>
              <a:t> (</a:t>
            </a:r>
            <a:r>
              <a:rPr lang="de-DE" sz="2400" dirty="0" err="1"/>
              <a:t>starting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random</a:t>
            </a:r>
            <a:r>
              <a:rPr lang="de-DE" sz="2400" dirty="0"/>
              <a:t> </a:t>
            </a:r>
            <a:r>
              <a:rPr lang="de-DE" sz="2400" dirty="0" err="1"/>
              <a:t>weights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new</a:t>
            </a:r>
            <a:r>
              <a:rPr lang="de-DE" sz="2400" dirty="0"/>
              <a:t> </a:t>
            </a:r>
            <a:r>
              <a:rPr lang="de-DE" sz="2400" dirty="0" err="1"/>
              <a:t>classification</a:t>
            </a:r>
            <a:r>
              <a:rPr lang="de-DE" sz="2400" dirty="0"/>
              <a:t> </a:t>
            </a:r>
            <a:r>
              <a:rPr lang="de-DE" sz="2400" dirty="0" err="1"/>
              <a:t>head</a:t>
            </a:r>
            <a:r>
              <a:rPr lang="de-DE" sz="2400" dirty="0"/>
              <a:t> and </a:t>
            </a:r>
            <a:r>
              <a:rPr lang="de-DE" sz="2400" dirty="0" err="1"/>
              <a:t>pretrained</a:t>
            </a:r>
            <a:r>
              <a:rPr lang="de-DE" sz="2400" dirty="0"/>
              <a:t> </a:t>
            </a:r>
            <a:r>
              <a:rPr lang="de-DE" sz="2400" dirty="0" err="1"/>
              <a:t>weights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rest</a:t>
            </a:r>
            <a:r>
              <a:rPr lang="de-DE" sz="2400" dirty="0"/>
              <a:t>)</a:t>
            </a:r>
          </a:p>
          <a:p>
            <a:r>
              <a:rPr lang="de-DE" sz="2400" dirty="0" err="1"/>
              <a:t>options</a:t>
            </a:r>
            <a:r>
              <a:rPr lang="de-DE" sz="2400" dirty="0"/>
              <a:t>: </a:t>
            </a:r>
            <a:r>
              <a:rPr lang="de-DE" sz="2400" dirty="0" err="1"/>
              <a:t>finetune</a:t>
            </a:r>
            <a:r>
              <a:rPr lang="de-DE" sz="2400" dirty="0"/>
              <a:t> all </a:t>
            </a:r>
            <a:r>
              <a:rPr lang="de-DE" sz="2400" dirty="0" err="1"/>
              <a:t>pretrained</a:t>
            </a:r>
            <a:r>
              <a:rPr lang="de-DE" sz="2400" dirty="0"/>
              <a:t> </a:t>
            </a:r>
            <a:r>
              <a:rPr lang="de-DE" sz="2400" dirty="0" err="1"/>
              <a:t>weights</a:t>
            </a:r>
            <a:r>
              <a:rPr lang="de-DE" sz="2400" dirty="0"/>
              <a:t>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only</a:t>
            </a:r>
            <a:r>
              <a:rPr lang="de-DE" sz="2400" dirty="0"/>
              <a:t> a </a:t>
            </a:r>
            <a:r>
              <a:rPr lang="de-DE" sz="2400" dirty="0" err="1"/>
              <a:t>part</a:t>
            </a:r>
            <a:r>
              <a:rPr lang="de-DE" sz="2400" dirty="0"/>
              <a:t> (</a:t>
            </a:r>
            <a:r>
              <a:rPr lang="de-DE" sz="2400" dirty="0" err="1"/>
              <a:t>freezing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others</a:t>
            </a:r>
            <a:r>
              <a:rPr lang="de-DE" sz="24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F87474-2FE1-1D25-ABD2-967B5E86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36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FF0D77-63F1-825D-6560-C80B0DE3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Sequence</a:t>
            </a:r>
            <a:r>
              <a:rPr lang="de-DE" dirty="0"/>
              <a:t> Classification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55EF91-9EAF-B878-3441-F9D7A7F93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0614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e.g., </a:t>
            </a:r>
            <a:r>
              <a:rPr lang="de-DE" dirty="0" err="1"/>
              <a:t>classify</a:t>
            </a:r>
            <a:r>
              <a:rPr lang="de-DE" dirty="0"/>
              <a:t> </a:t>
            </a:r>
            <a:r>
              <a:rPr lang="de-DE" dirty="0" err="1"/>
              <a:t>sentiment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topic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a </a:t>
            </a:r>
            <a:r>
              <a:rPr lang="de-DE" dirty="0" err="1"/>
              <a:t>special</a:t>
            </a:r>
            <a:r>
              <a:rPr lang="de-DE" dirty="0"/>
              <a:t> [CLS] </a:t>
            </a:r>
            <a:r>
              <a:rPr lang="de-DE" dirty="0" err="1"/>
              <a:t>token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prepended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(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in </a:t>
            </a:r>
            <a:r>
              <a:rPr lang="de-DE" dirty="0" err="1"/>
              <a:t>pretraining</a:t>
            </a:r>
            <a:r>
              <a:rPr lang="de-DE" dirty="0"/>
              <a:t>)</a:t>
            </a:r>
          </a:p>
          <a:p>
            <a:r>
              <a:rPr lang="de-DE" dirty="0" err="1"/>
              <a:t>its</a:t>
            </a:r>
            <a:r>
              <a:rPr lang="de-DE" dirty="0"/>
              <a:t> final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(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)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passed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classification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 (</a:t>
            </a:r>
            <a:r>
              <a:rPr lang="de-DE" dirty="0" err="1"/>
              <a:t>resulting</a:t>
            </a:r>
            <a:r>
              <a:rPr lang="de-DE" dirty="0"/>
              <a:t> in </a:t>
            </a:r>
            <a:r>
              <a:rPr lang="de-DE" dirty="0" err="1"/>
              <a:t>logits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different </a:t>
            </a:r>
            <a:r>
              <a:rPr lang="de-DE" dirty="0" err="1"/>
              <a:t>categories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[CLS]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finetuned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summarize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sequence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(alternative </a:t>
            </a:r>
            <a:r>
              <a:rPr lang="de-DE" dirty="0" err="1"/>
              <a:t>without</a:t>
            </a:r>
            <a:r>
              <a:rPr lang="de-DE" dirty="0"/>
              <a:t> [CLS]: </a:t>
            </a:r>
            <a:r>
              <a:rPr lang="de-DE" dirty="0" err="1"/>
              <a:t>average</a:t>
            </a:r>
            <a:r>
              <a:rPr lang="de-DE" dirty="0"/>
              <a:t> </a:t>
            </a:r>
            <a:r>
              <a:rPr lang="de-DE" dirty="0" err="1"/>
              <a:t>pooling</a:t>
            </a:r>
            <a:r>
              <a:rPr lang="de-DE" dirty="0"/>
              <a:t> 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4A72D0-DDFF-CBDD-9B6B-E819F5AD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DE6CC-D989-681F-3F1B-9A6B1C1668C9}"/>
              </a:ext>
            </a:extLst>
          </p:cNvPr>
          <p:cNvSpPr txBox="1"/>
          <p:nvPr/>
        </p:nvSpPr>
        <p:spPr>
          <a:xfrm>
            <a:off x="11529848" y="4801454"/>
            <a:ext cx="572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2"/>
              </a:rPr>
              <a:t>source</a:t>
            </a:r>
            <a:endParaRPr lang="de-DE" sz="1000" dirty="0"/>
          </a:p>
        </p:txBody>
      </p:sp>
      <p:pic>
        <p:nvPicPr>
          <p:cNvPr id="6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F9E0B6DB-3C84-35A6-82B8-D9AB3046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341" y="1721553"/>
            <a:ext cx="3847659" cy="3079900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7F12BE46-DEB8-2E09-3F84-A0DF6D73CD8A}"/>
              </a:ext>
            </a:extLst>
          </p:cNvPr>
          <p:cNvSpPr txBox="1"/>
          <p:nvPr/>
        </p:nvSpPr>
        <p:spPr>
          <a:xfrm>
            <a:off x="8679250" y="5044039"/>
            <a:ext cx="2878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sequence classification via [CLS] token</a:t>
            </a:r>
          </a:p>
        </p:txBody>
      </p:sp>
      <p:cxnSp>
        <p:nvCxnSpPr>
          <p:cNvPr id="8" name="Straight Arrow Connector 10">
            <a:extLst>
              <a:ext uri="{FF2B5EF4-FFF2-40B4-BE49-F238E27FC236}">
                <a16:creationId xmlns:a16="http://schemas.microsoft.com/office/drawing/2014/main" id="{47B0D5AB-CE09-9013-5B61-A91FD6481FC5}"/>
              </a:ext>
            </a:extLst>
          </p:cNvPr>
          <p:cNvCxnSpPr>
            <a:cxnSpLocks/>
          </p:cNvCxnSpPr>
          <p:nvPr/>
        </p:nvCxnSpPr>
        <p:spPr>
          <a:xfrm flipH="1" flipV="1">
            <a:off x="8679250" y="4480276"/>
            <a:ext cx="228304" cy="65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23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C6546-4641-EC83-4137-DEC098C59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Next-Sentence Prediction (NSP) in BERT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FCE0E8-4914-B4D2-347A-5E50BA5A3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/>
              <a:t>BERT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en-GB" dirty="0"/>
              <a:t>NSP as pretraining objective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(in </a:t>
            </a:r>
            <a:r>
              <a:rPr lang="de-DE" dirty="0" err="1"/>
              <a:t>addition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MLM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 total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MLM and NSP </a:t>
            </a:r>
            <a:r>
              <a:rPr lang="de-DE" dirty="0" err="1"/>
              <a:t>losses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help</a:t>
            </a:r>
            <a:r>
              <a:rPr lang="de-DE" dirty="0"/>
              <a:t> BERT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sentences</a:t>
            </a:r>
            <a:r>
              <a:rPr lang="de-DE" dirty="0"/>
              <a:t> (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dropped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: [CLS] </a:t>
            </a:r>
            <a:r>
              <a:rPr lang="de-DE" dirty="0" err="1"/>
              <a:t>Sentence</a:t>
            </a:r>
            <a:r>
              <a:rPr lang="de-DE" dirty="0"/>
              <a:t> A [SEP] </a:t>
            </a:r>
            <a:r>
              <a:rPr lang="de-DE" dirty="0" err="1"/>
              <a:t>Sentence</a:t>
            </a:r>
            <a:r>
              <a:rPr lang="de-DE" dirty="0"/>
              <a:t> B [SEP]</a:t>
            </a:r>
          </a:p>
          <a:p>
            <a:r>
              <a:rPr lang="de-DE" dirty="0"/>
              <a:t>[CLS]: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token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represent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sequence</a:t>
            </a:r>
            <a:endParaRPr lang="de-DE" dirty="0"/>
          </a:p>
          <a:p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[CLS] </a:t>
            </a:r>
            <a:r>
              <a:rPr lang="de-DE" dirty="0" err="1"/>
              <a:t>fed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 </a:t>
            </a:r>
            <a:r>
              <a:rPr lang="de-DE" dirty="0" err="1"/>
              <a:t>predicting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B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not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5A0DBA-23CF-678D-CCED-48B1CA8B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809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77014-5C9A-61F9-AEB0-5422FFC7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BERT </a:t>
            </a:r>
            <a:r>
              <a:rPr lang="de-DE" dirty="0" err="1"/>
              <a:t>Variants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2E57AC-9AEC-A942-0A0F-644BB5F97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87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hlinkClick r:id="rId2"/>
              </a:rPr>
              <a:t>RoBERTa</a:t>
            </a:r>
            <a:r>
              <a:rPr lang="de-DE" sz="2600" b="1" dirty="0"/>
              <a:t>: </a:t>
            </a:r>
            <a:r>
              <a:rPr lang="de-DE" sz="2600" dirty="0" err="1"/>
              <a:t>improved</a:t>
            </a:r>
            <a:r>
              <a:rPr lang="de-DE" sz="2600" dirty="0"/>
              <a:t> </a:t>
            </a:r>
            <a:r>
              <a:rPr lang="de-DE" sz="2600" dirty="0" err="1"/>
              <a:t>performance</a:t>
            </a:r>
            <a:endParaRPr lang="de-DE" sz="2600" dirty="0"/>
          </a:p>
          <a:p>
            <a:r>
              <a:rPr lang="de-DE" sz="2200" dirty="0" err="1"/>
              <a:t>removed</a:t>
            </a:r>
            <a:r>
              <a:rPr lang="de-DE" sz="2200" dirty="0"/>
              <a:t> </a:t>
            </a:r>
            <a:r>
              <a:rPr lang="de-DE" sz="2200" dirty="0" err="1"/>
              <a:t>next</a:t>
            </a:r>
            <a:r>
              <a:rPr lang="de-DE" sz="2200" dirty="0"/>
              <a:t> </a:t>
            </a:r>
            <a:r>
              <a:rPr lang="de-DE" sz="2200" dirty="0" err="1"/>
              <a:t>sentence</a:t>
            </a:r>
            <a:r>
              <a:rPr lang="de-DE" sz="2200" dirty="0"/>
              <a:t> </a:t>
            </a:r>
            <a:r>
              <a:rPr lang="de-DE" sz="2200" dirty="0" err="1"/>
              <a:t>prediction</a:t>
            </a:r>
            <a:r>
              <a:rPr lang="de-DE" sz="2200" dirty="0"/>
              <a:t> </a:t>
            </a:r>
            <a:r>
              <a:rPr lang="de-DE" sz="2200" dirty="0" err="1"/>
              <a:t>as</a:t>
            </a:r>
            <a:r>
              <a:rPr lang="de-DE" sz="2200" dirty="0"/>
              <a:t> </a:t>
            </a:r>
            <a:r>
              <a:rPr lang="de-DE" sz="2200" dirty="0" err="1"/>
              <a:t>pretraining</a:t>
            </a:r>
            <a:r>
              <a:rPr lang="de-DE" sz="2200" dirty="0"/>
              <a:t> </a:t>
            </a:r>
            <a:r>
              <a:rPr lang="de-DE" sz="2200" dirty="0" err="1"/>
              <a:t>objective</a:t>
            </a:r>
            <a:endParaRPr lang="de-DE" sz="2200" dirty="0"/>
          </a:p>
          <a:p>
            <a:r>
              <a:rPr lang="de-DE" sz="2200" dirty="0"/>
              <a:t>~</a:t>
            </a:r>
            <a:r>
              <a:rPr lang="de-DE" sz="2200" dirty="0" err="1"/>
              <a:t>ten</a:t>
            </a:r>
            <a:r>
              <a:rPr lang="de-DE" sz="2200" dirty="0"/>
              <a:t> </a:t>
            </a:r>
            <a:r>
              <a:rPr lang="de-DE" sz="2200" dirty="0" err="1"/>
              <a:t>times</a:t>
            </a:r>
            <a:r>
              <a:rPr lang="de-DE" sz="2200" dirty="0"/>
              <a:t> </a:t>
            </a:r>
            <a:r>
              <a:rPr lang="de-DE" sz="2200" dirty="0" err="1"/>
              <a:t>more</a:t>
            </a:r>
            <a:r>
              <a:rPr lang="de-DE" sz="2200" dirty="0"/>
              <a:t> </a:t>
            </a:r>
            <a:r>
              <a:rPr lang="de-DE" sz="2200" dirty="0" err="1"/>
              <a:t>training</a:t>
            </a:r>
            <a:r>
              <a:rPr lang="de-DE" sz="2200" dirty="0"/>
              <a:t> </a:t>
            </a:r>
            <a:r>
              <a:rPr lang="de-DE" sz="2200" dirty="0" err="1"/>
              <a:t>data</a:t>
            </a:r>
            <a:r>
              <a:rPr lang="de-DE" sz="2200" dirty="0"/>
              <a:t>, </a:t>
            </a:r>
            <a:r>
              <a:rPr lang="de-DE" sz="2200" dirty="0" err="1"/>
              <a:t>longer</a:t>
            </a:r>
            <a:r>
              <a:rPr lang="de-DE" sz="2200" dirty="0"/>
              <a:t> </a:t>
            </a:r>
            <a:r>
              <a:rPr lang="de-DE" sz="2200" dirty="0" err="1"/>
              <a:t>training</a:t>
            </a:r>
            <a:r>
              <a:rPr lang="de-DE" sz="2200" dirty="0"/>
              <a:t>, larger </a:t>
            </a:r>
            <a:r>
              <a:rPr lang="de-DE" sz="2200" dirty="0" err="1"/>
              <a:t>batches</a:t>
            </a:r>
            <a:r>
              <a:rPr lang="de-DE" sz="2200" dirty="0"/>
              <a:t>, </a:t>
            </a:r>
            <a:r>
              <a:rPr lang="de-DE" sz="2200" dirty="0" err="1"/>
              <a:t>longer</a:t>
            </a:r>
            <a:r>
              <a:rPr lang="de-DE" sz="2200" dirty="0"/>
              <a:t> </a:t>
            </a:r>
            <a:r>
              <a:rPr lang="de-DE" sz="2200" dirty="0" err="1"/>
              <a:t>sequences</a:t>
            </a:r>
            <a:endParaRPr lang="de-DE" sz="2200" dirty="0"/>
          </a:p>
          <a:p>
            <a:r>
              <a:rPr lang="de-DE" sz="2200" dirty="0" err="1"/>
              <a:t>dynamic</a:t>
            </a:r>
            <a:r>
              <a:rPr lang="de-DE" sz="2200" dirty="0"/>
              <a:t> </a:t>
            </a:r>
            <a:r>
              <a:rPr lang="de-DE" sz="2200" dirty="0" err="1"/>
              <a:t>masking</a:t>
            </a:r>
            <a:r>
              <a:rPr lang="de-DE" sz="2200" dirty="0"/>
              <a:t>: </a:t>
            </a:r>
            <a:r>
              <a:rPr lang="de-DE" sz="2200" dirty="0" err="1"/>
              <a:t>instead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fixed</a:t>
            </a:r>
            <a:r>
              <a:rPr lang="de-DE" sz="2200" dirty="0"/>
              <a:t> </a:t>
            </a:r>
            <a:r>
              <a:rPr lang="de-DE" sz="2200" dirty="0" err="1"/>
              <a:t>masked</a:t>
            </a:r>
            <a:r>
              <a:rPr lang="de-DE" sz="2200" dirty="0"/>
              <a:t> </a:t>
            </a:r>
            <a:r>
              <a:rPr lang="de-DE" sz="2200" dirty="0" err="1"/>
              <a:t>tokens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each</a:t>
            </a:r>
            <a:r>
              <a:rPr lang="de-DE" sz="2200" dirty="0"/>
              <a:t> </a:t>
            </a:r>
            <a:r>
              <a:rPr lang="de-DE" sz="2200" dirty="0" err="1"/>
              <a:t>sequence</a:t>
            </a:r>
            <a:r>
              <a:rPr lang="de-DE" sz="2200" dirty="0"/>
              <a:t>, </a:t>
            </a:r>
            <a:r>
              <a:rPr lang="de-DE" sz="2200" dirty="0" err="1"/>
              <a:t>masks</a:t>
            </a:r>
            <a:r>
              <a:rPr lang="de-DE" sz="2200" dirty="0"/>
              <a:t> </a:t>
            </a:r>
            <a:r>
              <a:rPr lang="de-DE" sz="2200" dirty="0" err="1"/>
              <a:t>change</a:t>
            </a:r>
            <a:r>
              <a:rPr lang="de-DE" sz="2200" dirty="0"/>
              <a:t> </a:t>
            </a:r>
            <a:r>
              <a:rPr lang="de-DE" sz="2200" dirty="0" err="1"/>
              <a:t>each</a:t>
            </a:r>
            <a:r>
              <a:rPr lang="de-DE" sz="2200" dirty="0"/>
              <a:t> </a:t>
            </a:r>
            <a:r>
              <a:rPr lang="de-DE" sz="2200" dirty="0" err="1"/>
              <a:t>epoch</a:t>
            </a:r>
            <a:endParaRPr lang="de-DE" sz="22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600" dirty="0" err="1">
                <a:hlinkClick r:id="rId3"/>
              </a:rPr>
              <a:t>DistilBERT</a:t>
            </a:r>
            <a:r>
              <a:rPr lang="de-DE" sz="2600" dirty="0"/>
              <a:t>: </a:t>
            </a:r>
            <a:r>
              <a:rPr lang="de-DE" sz="2600" dirty="0" err="1"/>
              <a:t>much</a:t>
            </a:r>
            <a:r>
              <a:rPr lang="de-DE" sz="2600" dirty="0"/>
              <a:t> </a:t>
            </a:r>
            <a:r>
              <a:rPr lang="de-DE" sz="2600" dirty="0" err="1"/>
              <a:t>lighter</a:t>
            </a:r>
            <a:r>
              <a:rPr lang="de-DE" sz="2600" dirty="0"/>
              <a:t> and </a:t>
            </a:r>
            <a:r>
              <a:rPr lang="de-DE" sz="2600" dirty="0" err="1"/>
              <a:t>faster</a:t>
            </a:r>
            <a:r>
              <a:rPr lang="de-DE" sz="2600" dirty="0"/>
              <a:t>, </a:t>
            </a:r>
            <a:r>
              <a:rPr lang="de-DE" sz="2600" dirty="0" err="1"/>
              <a:t>retaining</a:t>
            </a:r>
            <a:r>
              <a:rPr lang="de-DE" sz="2600" dirty="0"/>
              <a:t> ~95%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BERT’s</a:t>
            </a:r>
            <a:r>
              <a:rPr lang="de-DE" sz="2600" dirty="0"/>
              <a:t> </a:t>
            </a:r>
            <a:r>
              <a:rPr lang="de-DE" sz="2600" dirty="0" err="1"/>
              <a:t>performance</a:t>
            </a:r>
            <a:endParaRPr lang="de-DE" sz="2600" dirty="0"/>
          </a:p>
          <a:p>
            <a:r>
              <a:rPr lang="de-DE" sz="2200" dirty="0"/>
              <a:t>a </a:t>
            </a:r>
            <a:r>
              <a:rPr lang="de-DE" sz="2200" dirty="0" err="1"/>
              <a:t>smaller</a:t>
            </a:r>
            <a:r>
              <a:rPr lang="de-DE" sz="2200" dirty="0"/>
              <a:t> “</a:t>
            </a:r>
            <a:r>
              <a:rPr lang="de-DE" sz="2200" dirty="0" err="1"/>
              <a:t>student</a:t>
            </a:r>
            <a:r>
              <a:rPr lang="de-DE" sz="2200" dirty="0"/>
              <a:t>” </a:t>
            </a:r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</a:t>
            </a:r>
            <a:r>
              <a:rPr lang="de-DE" sz="2200" dirty="0" err="1"/>
              <a:t>trained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mimic</a:t>
            </a:r>
            <a:r>
              <a:rPr lang="de-DE" sz="2200" dirty="0"/>
              <a:t> </a:t>
            </a:r>
            <a:r>
              <a:rPr lang="de-DE" sz="2200" dirty="0" err="1"/>
              <a:t>BERT’s</a:t>
            </a:r>
            <a:r>
              <a:rPr lang="de-DE" sz="2200" dirty="0"/>
              <a:t> </a:t>
            </a:r>
            <a:r>
              <a:rPr lang="de-DE" sz="2200" dirty="0" err="1"/>
              <a:t>predictions</a:t>
            </a:r>
            <a:endParaRPr lang="de-DE" sz="2200" dirty="0"/>
          </a:p>
          <a:p>
            <a:r>
              <a:rPr lang="de-DE" sz="2200" dirty="0"/>
              <a:t>40% </a:t>
            </a:r>
            <a:r>
              <a:rPr lang="de-DE" sz="2200" dirty="0" err="1"/>
              <a:t>fewer</a:t>
            </a:r>
            <a:r>
              <a:rPr lang="de-DE" sz="2200" dirty="0"/>
              <a:t> </a:t>
            </a:r>
            <a:r>
              <a:rPr lang="de-DE" sz="2200" dirty="0" err="1"/>
              <a:t>parameters</a:t>
            </a:r>
            <a:r>
              <a:rPr lang="de-DE" sz="2200" dirty="0"/>
              <a:t> </a:t>
            </a:r>
            <a:r>
              <a:rPr lang="de-DE" sz="2200" dirty="0" err="1"/>
              <a:t>than</a:t>
            </a:r>
            <a:r>
              <a:rPr lang="de-DE" sz="2200" dirty="0"/>
              <a:t> BERT, 60% </a:t>
            </a:r>
            <a:r>
              <a:rPr lang="de-DE" sz="2200" dirty="0" err="1"/>
              <a:t>faster</a:t>
            </a:r>
            <a:r>
              <a:rPr lang="de-DE" sz="2200" dirty="0"/>
              <a:t> </a:t>
            </a:r>
            <a:r>
              <a:rPr lang="de-DE" sz="2200" dirty="0" err="1"/>
              <a:t>inference</a:t>
            </a:r>
            <a:r>
              <a:rPr lang="de-DE" sz="2200" dirty="0"/>
              <a:t>, </a:t>
            </a:r>
            <a:r>
              <a:rPr lang="de-DE" sz="2200" dirty="0" err="1"/>
              <a:t>using</a:t>
            </a:r>
            <a:r>
              <a:rPr lang="de-DE" sz="2200" dirty="0"/>
              <a:t> half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memory</a:t>
            </a:r>
            <a:endParaRPr lang="de-DE" sz="22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9E7DDC-F9E4-F124-BF7B-7A2E77B7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04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F9850-863B-4A7C-99A5-A8ED5590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7E124F-2FF1-163C-3201-2FF90B52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u</a:t>
            </a:r>
            <a:r>
              <a:rPr lang="de-DE" dirty="0" err="1"/>
              <a:t>se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: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 / </a:t>
            </a:r>
            <a:r>
              <a:rPr lang="de-DE" dirty="0" err="1"/>
              <a:t>retrieval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RAG)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BERT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NSP, not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 </a:t>
            </a:r>
            <a:r>
              <a:rPr lang="de-DE" dirty="0" err="1"/>
              <a:t>independent</a:t>
            </a:r>
            <a:r>
              <a:rPr lang="de-DE" dirty="0"/>
              <a:t> </a:t>
            </a:r>
            <a:r>
              <a:rPr lang="de-DE" dirty="0" err="1"/>
              <a:t>sentences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comparable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need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/>
              <a:t>finetune</a:t>
            </a:r>
            <a:r>
              <a:rPr lang="de-DE" dirty="0"/>
              <a:t> on </a:t>
            </a:r>
            <a:r>
              <a:rPr lang="de-DE" dirty="0" err="1"/>
              <a:t>considered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label</a:t>
            </a:r>
            <a:endParaRPr lang="de-DE" dirty="0"/>
          </a:p>
          <a:p>
            <a:r>
              <a:rPr lang="de-DE" dirty="0" err="1"/>
              <a:t>paraphrase</a:t>
            </a:r>
            <a:r>
              <a:rPr lang="de-DE" dirty="0"/>
              <a:t> (</a:t>
            </a:r>
            <a:r>
              <a:rPr lang="de-DE" dirty="0" err="1"/>
              <a:t>yes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)</a:t>
            </a:r>
          </a:p>
          <a:p>
            <a:r>
              <a:rPr lang="de-DE" dirty="0" err="1"/>
              <a:t>natural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inference</a:t>
            </a:r>
            <a:r>
              <a:rPr lang="de-DE" dirty="0"/>
              <a:t> (</a:t>
            </a:r>
            <a:r>
              <a:rPr lang="de-DE" dirty="0" err="1"/>
              <a:t>entailment</a:t>
            </a:r>
            <a:r>
              <a:rPr lang="de-DE" dirty="0"/>
              <a:t>/</a:t>
            </a:r>
            <a:r>
              <a:rPr lang="de-DE" dirty="0" err="1"/>
              <a:t>contradiction</a:t>
            </a:r>
            <a:r>
              <a:rPr lang="de-DE" dirty="0"/>
              <a:t>/neutral)</a:t>
            </a:r>
          </a:p>
          <a:p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 (human-</a:t>
            </a:r>
            <a:r>
              <a:rPr lang="de-DE" dirty="0" err="1"/>
              <a:t>judged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 score)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regression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loss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approach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vanilla</a:t>
            </a:r>
            <a:r>
              <a:rPr lang="de-DE" dirty="0"/>
              <a:t> BERT:</a:t>
            </a:r>
          </a:p>
          <a:p>
            <a:r>
              <a:rPr lang="de-DE" dirty="0" err="1"/>
              <a:t>input</a:t>
            </a:r>
            <a:r>
              <a:rPr lang="de-DE" dirty="0"/>
              <a:t>: [CLS] </a:t>
            </a:r>
            <a:r>
              <a:rPr lang="de-DE" dirty="0" err="1"/>
              <a:t>Sentence</a:t>
            </a:r>
            <a:r>
              <a:rPr lang="de-DE" dirty="0"/>
              <a:t> A [SEP] </a:t>
            </a:r>
            <a:r>
              <a:rPr lang="de-DE" dirty="0" err="1"/>
              <a:t>Sentence</a:t>
            </a:r>
            <a:r>
              <a:rPr lang="de-DE" dirty="0"/>
              <a:t> B [SEP]</a:t>
            </a:r>
          </a:p>
          <a:p>
            <a:r>
              <a:rPr lang="de-DE" dirty="0"/>
              <a:t>[CLS] </a:t>
            </a:r>
            <a:r>
              <a:rPr lang="de-DE" dirty="0" err="1"/>
              <a:t>token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aggregate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pair</a:t>
            </a:r>
          </a:p>
          <a:p>
            <a:r>
              <a:rPr lang="de-DE" dirty="0" err="1"/>
              <a:t>classifier</a:t>
            </a:r>
            <a:r>
              <a:rPr lang="de-DE" dirty="0"/>
              <a:t>/</a:t>
            </a:r>
            <a:r>
              <a:rPr lang="de-DE" dirty="0" err="1"/>
              <a:t>regressor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on </a:t>
            </a:r>
            <a:r>
              <a:rPr lang="de-DE" dirty="0" err="1"/>
              <a:t>considered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label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FA2F52-7FFF-92B0-F7A7-623ED745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22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ABA8C-04E5-57D1-83E1-21B89115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SBERT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5F9E7CE-33BA-42A3-94C8-622BCC7C7F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i</a:t>
                </a:r>
                <a:r>
                  <a:rPr lang="de-DE" dirty="0" err="1"/>
                  <a:t>ssue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vanilla</a:t>
                </a:r>
                <a:r>
                  <a:rPr lang="de-DE" dirty="0"/>
                  <a:t> BERT:</a:t>
                </a:r>
              </a:p>
              <a:p>
                <a:pPr marL="0" indent="0">
                  <a:buNone/>
                </a:pPr>
                <a:r>
                  <a:rPr lang="de-DE" dirty="0" err="1"/>
                  <a:t>prediction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similarity</a:t>
                </a:r>
                <a:r>
                  <a:rPr lang="de-DE" dirty="0"/>
                  <a:t> score </a:t>
                </a:r>
                <a:r>
                  <a:rPr lang="de-DE" dirty="0" err="1"/>
                  <a:t>requires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pair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sentences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processed</a:t>
                </a:r>
                <a:r>
                  <a:rPr lang="de-DE" dirty="0"/>
                  <a:t> </a:t>
                </a:r>
                <a:r>
                  <a:rPr lang="de-DE" dirty="0" err="1"/>
                  <a:t>together</a:t>
                </a:r>
                <a:r>
                  <a:rPr lang="de-DE" dirty="0"/>
                  <a:t> (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independent</a:t>
                </a:r>
                <a:r>
                  <a:rPr lang="de-DE" dirty="0"/>
                  <a:t> </a:t>
                </a:r>
                <a:r>
                  <a:rPr lang="de-DE" dirty="0" err="1"/>
                  <a:t>sentence</a:t>
                </a:r>
                <a:r>
                  <a:rPr lang="de-DE" dirty="0"/>
                  <a:t> </a:t>
                </a:r>
                <a:r>
                  <a:rPr lang="de-DE" dirty="0" err="1"/>
                  <a:t>embeddings</a:t>
                </a:r>
                <a:r>
                  <a:rPr lang="de-DE" dirty="0"/>
                  <a:t>)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𝑂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de-DE" dirty="0"/>
                  <a:t> for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de-DE" dirty="0"/>
                  <a:t> sentences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SBERT: </a:t>
                </a: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finetuning</a:t>
                </a:r>
                <a:r>
                  <a:rPr lang="de-DE" dirty="0"/>
                  <a:t> </a:t>
                </a:r>
                <a:r>
                  <a:rPr lang="de-DE" dirty="0" err="1"/>
                  <a:t>vanilla</a:t>
                </a:r>
                <a:r>
                  <a:rPr lang="de-DE" dirty="0"/>
                  <a:t> BERT,</a:t>
                </a:r>
              </a:p>
              <a:p>
                <a:r>
                  <a:rPr lang="de-DE" dirty="0" err="1"/>
                  <a:t>uses</a:t>
                </a:r>
                <a:r>
                  <a:rPr lang="de-DE" dirty="0"/>
                  <a:t> </a:t>
                </a:r>
                <a:r>
                  <a:rPr lang="de-DE" dirty="0" err="1"/>
                  <a:t>two</a:t>
                </a:r>
                <a:r>
                  <a:rPr lang="de-DE" dirty="0"/>
                  <a:t> (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three</a:t>
                </a:r>
                <a:r>
                  <a:rPr lang="de-DE" dirty="0"/>
                  <a:t>) </a:t>
                </a:r>
                <a:r>
                  <a:rPr lang="de-DE" dirty="0" err="1"/>
                  <a:t>copies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same BERT </a:t>
                </a:r>
                <a:r>
                  <a:rPr lang="de-DE" dirty="0" err="1"/>
                  <a:t>model</a:t>
                </a:r>
                <a:r>
                  <a:rPr lang="de-DE" dirty="0"/>
                  <a:t> (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shared</a:t>
                </a:r>
                <a:r>
                  <a:rPr lang="de-DE" dirty="0"/>
                  <a:t> </a:t>
                </a:r>
                <a:r>
                  <a:rPr lang="de-DE" dirty="0" err="1"/>
                  <a:t>weights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passes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sentence</a:t>
                </a:r>
                <a:r>
                  <a:rPr lang="de-DE" dirty="0"/>
                  <a:t> </a:t>
                </a:r>
                <a:r>
                  <a:rPr lang="de-DE" dirty="0" err="1"/>
                  <a:t>through</a:t>
                </a:r>
                <a:r>
                  <a:rPr lang="de-DE" dirty="0"/>
                  <a:t> </a:t>
                </a:r>
                <a:r>
                  <a:rPr lang="de-DE" dirty="0" err="1"/>
                  <a:t>one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copies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produce</a:t>
                </a:r>
                <a:r>
                  <a:rPr lang="de-DE" dirty="0"/>
                  <a:t>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embedding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last </a:t>
                </a:r>
                <a:r>
                  <a:rPr lang="de-DE" dirty="0" err="1"/>
                  <a:t>hidden</a:t>
                </a:r>
                <a:r>
                  <a:rPr lang="de-DE" dirty="0"/>
                  <a:t> </a:t>
                </a:r>
                <a:r>
                  <a:rPr lang="de-DE" dirty="0" err="1"/>
                  <a:t>states</a:t>
                </a:r>
                <a:r>
                  <a:rPr lang="de-DE" dirty="0"/>
                  <a:t> (</a:t>
                </a:r>
                <a:r>
                  <a:rPr lang="de-DE" dirty="0" err="1"/>
                  <a:t>use</a:t>
                </a:r>
                <a:r>
                  <a:rPr lang="de-DE" dirty="0"/>
                  <a:t> [CLS] </a:t>
                </a:r>
                <a:r>
                  <a:rPr lang="de-DE" dirty="0" err="1"/>
                  <a:t>token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average</a:t>
                </a:r>
                <a:r>
                  <a:rPr lang="de-DE" dirty="0"/>
                  <a:t> </a:t>
                </a:r>
                <a:r>
                  <a:rPr lang="de-DE" dirty="0" err="1"/>
                  <a:t>pooling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puts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head</a:t>
                </a:r>
                <a:r>
                  <a:rPr lang="de-DE" dirty="0"/>
                  <a:t> on top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copies</a:t>
                </a:r>
                <a:r>
                  <a:rPr lang="de-DE" dirty="0"/>
                  <a:t>, </a:t>
                </a:r>
                <a:r>
                  <a:rPr lang="de-DE" dirty="0" err="1"/>
                  <a:t>optimizing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similarity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label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dirty="0"/>
                  <a:t> of sentence </a:t>
                </a:r>
                <a:r>
                  <a:rPr lang="de-DE" dirty="0" err="1"/>
                  <a:t>embeddings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>
                    <a:sym typeface="Wingdings" pitchFamily="2" charset="2"/>
                  </a:rPr>
                  <a:t> different SBERT </a:t>
                </a:r>
                <a:r>
                  <a:rPr lang="de-DE" dirty="0" err="1">
                    <a:sym typeface="Wingdings" pitchFamily="2" charset="2"/>
                  </a:rPr>
                  <a:t>versions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for</a:t>
                </a:r>
                <a:r>
                  <a:rPr lang="de-DE" dirty="0">
                    <a:sym typeface="Wingdings" pitchFamily="2" charset="2"/>
                  </a:rPr>
                  <a:t> different </a:t>
                </a:r>
                <a:r>
                  <a:rPr lang="de-DE" dirty="0" err="1">
                    <a:sym typeface="Wingdings" pitchFamily="2" charset="2"/>
                  </a:rPr>
                  <a:t>similarity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tasks</a:t>
                </a:r>
                <a:r>
                  <a:rPr lang="de-DE" dirty="0">
                    <a:sym typeface="Wingdings" pitchFamily="2" charset="2"/>
                  </a:rPr>
                  <a:t>/</a:t>
                </a:r>
                <a:r>
                  <a:rPr lang="de-DE" dirty="0" err="1">
                    <a:sym typeface="Wingdings" pitchFamily="2" charset="2"/>
                  </a:rPr>
                  <a:t>labels</a:t>
                </a:r>
                <a:r>
                  <a:rPr lang="de-DE" dirty="0">
                    <a:sym typeface="Wingdings" pitchFamily="2" charset="2"/>
                  </a:rPr>
                  <a:t>)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cosine</a:t>
                </a:r>
                <a:r>
                  <a:rPr lang="de-DE" dirty="0"/>
                  <a:t> </a:t>
                </a:r>
                <a:r>
                  <a:rPr lang="de-DE" dirty="0" err="1"/>
                  <a:t>similarity</a:t>
                </a:r>
                <a:r>
                  <a:rPr lang="de-DE" dirty="0"/>
                  <a:t> (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dot</a:t>
                </a:r>
                <a:r>
                  <a:rPr lang="de-DE" dirty="0"/>
                  <a:t> </a:t>
                </a:r>
                <a:r>
                  <a:rPr lang="de-DE" dirty="0" err="1"/>
                  <a:t>product</a:t>
                </a:r>
                <a:r>
                  <a:rPr lang="de-DE" dirty="0"/>
                  <a:t>)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then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compare</a:t>
                </a:r>
                <a:r>
                  <a:rPr lang="de-DE" dirty="0"/>
                  <a:t> </a:t>
                </a:r>
                <a:r>
                  <a:rPr lang="de-DE" dirty="0" err="1"/>
                  <a:t>independent</a:t>
                </a:r>
                <a:r>
                  <a:rPr lang="de-DE" dirty="0"/>
                  <a:t> </a:t>
                </a:r>
                <a:r>
                  <a:rPr lang="de-DE" dirty="0" err="1"/>
                  <a:t>sentence</a:t>
                </a:r>
                <a:r>
                  <a:rPr lang="de-DE" dirty="0"/>
                  <a:t> </a:t>
                </a:r>
                <a:r>
                  <a:rPr lang="de-DE" dirty="0" err="1"/>
                  <a:t>embeddings</a:t>
                </a:r>
                <a:endParaRPr lang="de-DE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5F9E7CE-33BA-42A3-94C8-622BCC7C7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 b="-29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A0054E-C2AA-B7B3-E1F3-6DCD15CE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774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D2A51-B38D-9C57-1ABF-8D603A1E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Token Classification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C6E1E0-93F3-C0C8-C345-1BD1F5C25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:</a:t>
            </a:r>
          </a:p>
          <a:p>
            <a:r>
              <a:rPr lang="de-DE" dirty="0" err="1"/>
              <a:t>part-of-speech</a:t>
            </a:r>
            <a:r>
              <a:rPr lang="de-DE" dirty="0"/>
              <a:t> </a:t>
            </a:r>
            <a:r>
              <a:rPr lang="de-DE" dirty="0" err="1"/>
              <a:t>tagging</a:t>
            </a:r>
            <a:r>
              <a:rPr lang="de-DE" dirty="0"/>
              <a:t>: </a:t>
            </a:r>
            <a:r>
              <a:rPr lang="de-DE" dirty="0" err="1"/>
              <a:t>assigning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in a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grammatical</a:t>
            </a:r>
            <a:r>
              <a:rPr lang="de-DE" dirty="0"/>
              <a:t> </a:t>
            </a:r>
            <a:r>
              <a:rPr lang="de-DE" dirty="0" err="1"/>
              <a:t>role</a:t>
            </a:r>
            <a:r>
              <a:rPr lang="de-DE" dirty="0"/>
              <a:t> (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speech</a:t>
            </a:r>
            <a:r>
              <a:rPr lang="de-DE" dirty="0"/>
              <a:t>)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noun</a:t>
            </a:r>
            <a:r>
              <a:rPr lang="de-DE" dirty="0"/>
              <a:t>, </a:t>
            </a:r>
            <a:r>
              <a:rPr lang="de-DE" dirty="0" err="1"/>
              <a:t>verb</a:t>
            </a:r>
            <a:r>
              <a:rPr lang="de-DE" dirty="0"/>
              <a:t>, etc.</a:t>
            </a:r>
          </a:p>
          <a:p>
            <a:r>
              <a:rPr lang="de-DE" dirty="0" err="1"/>
              <a:t>named</a:t>
            </a:r>
            <a:r>
              <a:rPr lang="de-DE" dirty="0"/>
              <a:t> </a:t>
            </a:r>
            <a:r>
              <a:rPr lang="de-DE" dirty="0" err="1"/>
              <a:t>entity</a:t>
            </a:r>
            <a:r>
              <a:rPr lang="de-DE" dirty="0"/>
              <a:t> </a:t>
            </a:r>
            <a:r>
              <a:rPr lang="de-DE" dirty="0" err="1"/>
              <a:t>recognition</a:t>
            </a:r>
            <a:r>
              <a:rPr lang="de-DE" dirty="0"/>
              <a:t>: </a:t>
            </a:r>
            <a:r>
              <a:rPr lang="de-DE" dirty="0" err="1"/>
              <a:t>identifying</a:t>
            </a:r>
            <a:r>
              <a:rPr lang="de-DE" dirty="0"/>
              <a:t> and </a:t>
            </a:r>
            <a:r>
              <a:rPr lang="de-DE" dirty="0" err="1"/>
              <a:t>classifying</a:t>
            </a:r>
            <a:r>
              <a:rPr lang="de-DE" dirty="0"/>
              <a:t> </a:t>
            </a:r>
            <a:r>
              <a:rPr lang="de-DE" dirty="0" err="1"/>
              <a:t>named</a:t>
            </a:r>
            <a:r>
              <a:rPr lang="de-DE" dirty="0"/>
              <a:t> </a:t>
            </a:r>
            <a:r>
              <a:rPr lang="de-DE" dirty="0" err="1"/>
              <a:t>entities</a:t>
            </a:r>
            <a:r>
              <a:rPr lang="de-DE" dirty="0"/>
              <a:t> (proper </a:t>
            </a:r>
            <a:r>
              <a:rPr lang="de-DE" dirty="0" err="1"/>
              <a:t>nouns</a:t>
            </a:r>
            <a:r>
              <a:rPr lang="de-DE" dirty="0"/>
              <a:t>) in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predefined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 like Person, </a:t>
            </a:r>
            <a:r>
              <a:rPr lang="de-DE" dirty="0" err="1"/>
              <a:t>Organization</a:t>
            </a:r>
            <a:r>
              <a:rPr lang="de-DE" dirty="0"/>
              <a:t>, Location, Date, etc.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per-token </a:t>
            </a:r>
            <a:r>
              <a:rPr lang="de-DE" dirty="0" err="1"/>
              <a:t>predictions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pooling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[CLS] </a:t>
            </a:r>
            <a:r>
              <a:rPr lang="de-DE" dirty="0" err="1"/>
              <a:t>usage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instead</a:t>
            </a:r>
            <a:r>
              <a:rPr lang="de-DE" dirty="0"/>
              <a:t>, just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token’s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independently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logits</a:t>
            </a:r>
            <a:r>
              <a:rPr lang="de-DE" dirty="0"/>
              <a:t> and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per-token </a:t>
            </a:r>
            <a:r>
              <a:rPr lang="de-DE" dirty="0" err="1"/>
              <a:t>losses</a:t>
            </a:r>
            <a:r>
              <a:rPr lang="de-DE" dirty="0"/>
              <a:t> in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sequence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870D76-8BA8-B35C-291C-27A5AEB5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625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70418-8F83-3C9E-7A93-DF61EC41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Finetuning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FF65F-2B24-83B6-1383-8EC4F9454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features more generic in early layers (</a:t>
            </a:r>
            <a:r>
              <a:rPr lang="de-DE" dirty="0"/>
              <a:t>e.g., </a:t>
            </a:r>
            <a:r>
              <a:rPr lang="de-DE" dirty="0" err="1"/>
              <a:t>token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, </a:t>
            </a:r>
            <a:r>
              <a:rPr lang="de-DE" dirty="0" err="1"/>
              <a:t>syntax</a:t>
            </a:r>
            <a:r>
              <a:rPr lang="de-DE" dirty="0"/>
              <a:t>, </a:t>
            </a:r>
            <a:r>
              <a:rPr lang="de-DE" dirty="0" err="1"/>
              <a:t>part-of-speech</a:t>
            </a:r>
            <a:r>
              <a:rPr lang="en-GB" dirty="0"/>
              <a:t>) and more specific to the pretraining data in later layers (</a:t>
            </a:r>
            <a:r>
              <a:rPr lang="de-DE" dirty="0"/>
              <a:t>e.g., </a:t>
            </a:r>
            <a:r>
              <a:rPr lang="de-DE" dirty="0" err="1"/>
              <a:t>word</a:t>
            </a:r>
            <a:r>
              <a:rPr lang="de-DE" dirty="0"/>
              <a:t> sense, </a:t>
            </a:r>
            <a:r>
              <a:rPr lang="de-DE" dirty="0" err="1"/>
              <a:t>entity</a:t>
            </a:r>
            <a:r>
              <a:rPr lang="de-DE" dirty="0"/>
              <a:t> </a:t>
            </a:r>
            <a:r>
              <a:rPr lang="de-DE" dirty="0" err="1"/>
              <a:t>linking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for small finetuning data sets, typically keep weights of early layers fixed to avoid overfitting</a:t>
            </a:r>
          </a:p>
          <a:p>
            <a:pPr>
              <a:buFont typeface="Wingdings" pitchFamily="2" charset="2"/>
              <a:buChar char="à"/>
            </a:pPr>
            <a:r>
              <a:rPr lang="en-GB" dirty="0"/>
              <a:t>for large finetuning data sets (less danger of overfitting), finetuning all layers can be beneficial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47A66-9C27-B5A5-879C-001B2506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32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645EC58E-1019-4821-59B4-37EB5C8B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Instruction</a:t>
            </a:r>
            <a:r>
              <a:rPr lang="de-DE" dirty="0"/>
              <a:t>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15F20-2568-EEBA-AF76-03A86D63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14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58AB1-B3B0-0616-5CEB-865CA618E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88" y="2249598"/>
            <a:ext cx="10926223" cy="3547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BF6A85-5F13-3267-7016-A5B242B7FF98}"/>
              </a:ext>
            </a:extLst>
          </p:cNvPr>
          <p:cNvSpPr txBox="1"/>
          <p:nvPr/>
        </p:nvSpPr>
        <p:spPr>
          <a:xfrm>
            <a:off x="10914599" y="5261459"/>
            <a:ext cx="644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E13C122-BD7A-796A-CE89-56685E0CFC56}"/>
              </a:ext>
            </a:extLst>
          </p:cNvPr>
          <p:cNvCxnSpPr>
            <a:cxnSpLocks/>
          </p:cNvCxnSpPr>
          <p:nvPr/>
        </p:nvCxnSpPr>
        <p:spPr>
          <a:xfrm>
            <a:off x="4895385" y="2451197"/>
            <a:ext cx="4471639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906DD6F5-A455-9647-E441-DA5050856D71}"/>
              </a:ext>
            </a:extLst>
          </p:cNvPr>
          <p:cNvSpPr txBox="1"/>
          <p:nvPr/>
        </p:nvSpPr>
        <p:spPr>
          <a:xfrm>
            <a:off x="6368218" y="297862"/>
            <a:ext cx="553013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 err="1"/>
              <a:t>instruction</a:t>
            </a:r>
            <a:r>
              <a:rPr lang="de-DE" sz="2400" dirty="0"/>
              <a:t> </a:t>
            </a:r>
            <a:r>
              <a:rPr lang="de-DE" sz="2400" dirty="0" err="1"/>
              <a:t>tuning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a form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supervised</a:t>
            </a:r>
            <a:r>
              <a:rPr lang="de-DE" sz="2400" dirty="0"/>
              <a:t> </a:t>
            </a:r>
            <a:r>
              <a:rPr lang="de-DE" sz="2400" dirty="0" err="1"/>
              <a:t>finetuning</a:t>
            </a:r>
            <a:r>
              <a:rPr lang="de-DE" sz="2400" dirty="0"/>
              <a:t> (SFT)</a:t>
            </a:r>
          </a:p>
          <a:p>
            <a:endParaRPr lang="de-DE" sz="2400" dirty="0"/>
          </a:p>
          <a:p>
            <a:r>
              <a:rPr lang="de-DE" sz="2400" dirty="0"/>
              <a:t>so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finetuning</a:t>
            </a:r>
            <a:r>
              <a:rPr lang="de-DE" sz="2400" dirty="0"/>
              <a:t> </a:t>
            </a:r>
            <a:r>
              <a:rPr lang="de-DE" sz="2400" dirty="0" err="1"/>
              <a:t>discussed</a:t>
            </a:r>
            <a:r>
              <a:rPr lang="de-DE" sz="2400" dirty="0"/>
              <a:t> </a:t>
            </a:r>
            <a:r>
              <a:rPr lang="de-DE" sz="2400" dirty="0" err="1"/>
              <a:t>before</a:t>
            </a:r>
            <a:r>
              <a:rPr lang="de-DE" sz="2400" dirty="0"/>
              <a:t> (</a:t>
            </a:r>
            <a:r>
              <a:rPr lang="de-DE" sz="2400" dirty="0" err="1"/>
              <a:t>although</a:t>
            </a:r>
            <a:r>
              <a:rPr lang="de-DE" sz="2400" dirty="0"/>
              <a:t> </a:t>
            </a:r>
            <a:r>
              <a:rPr lang="de-DE" sz="2400" dirty="0" err="1"/>
              <a:t>usually</a:t>
            </a:r>
            <a:r>
              <a:rPr lang="de-DE" sz="2400" dirty="0"/>
              <a:t> just </a:t>
            </a:r>
            <a:r>
              <a:rPr lang="de-DE" sz="2400" dirty="0" err="1"/>
              <a:t>called</a:t>
            </a:r>
            <a:r>
              <a:rPr lang="de-DE" sz="2400" dirty="0"/>
              <a:t> </a:t>
            </a:r>
            <a:r>
              <a:rPr lang="de-DE" sz="2400" dirty="0" err="1"/>
              <a:t>finetuning</a:t>
            </a:r>
            <a:r>
              <a:rPr lang="de-DE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3214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783D56EB-7778-E959-F5B7-6EC18316DEB5}"/>
              </a:ext>
            </a:extLst>
          </p:cNvPr>
          <p:cNvSpPr/>
          <p:nvPr/>
        </p:nvSpPr>
        <p:spPr>
          <a:xfrm>
            <a:off x="827049" y="2497322"/>
            <a:ext cx="11026698" cy="8870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CF3B4-00CD-08EC-E43D-808D6F92E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1026698" cy="47728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 err="1"/>
              <a:t>instruction</a:t>
            </a:r>
            <a:r>
              <a:rPr lang="de-DE" sz="2400" dirty="0"/>
              <a:t> </a:t>
            </a:r>
            <a:r>
              <a:rPr lang="de-DE" sz="2400" dirty="0" err="1"/>
              <a:t>tuning</a:t>
            </a:r>
            <a:r>
              <a:rPr lang="de-DE" sz="2400" dirty="0"/>
              <a:t> = </a:t>
            </a:r>
            <a:r>
              <a:rPr lang="en-GB" sz="2400" dirty="0">
                <a:hlinkClick r:id="rId2"/>
              </a:rPr>
              <a:t>SFT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instruction</a:t>
            </a:r>
            <a:r>
              <a:rPr lang="de-DE" sz="2400" dirty="0"/>
              <a:t>–</a:t>
            </a:r>
            <a:r>
              <a:rPr lang="de-DE" sz="2400" dirty="0" err="1"/>
              <a:t>response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Instruction</a:t>
            </a:r>
            <a:r>
              <a:rPr lang="de-DE" sz="2400" dirty="0"/>
              <a:t>: "</a:t>
            </a:r>
            <a:r>
              <a:rPr lang="de-DE" sz="2400" dirty="0" err="1"/>
              <a:t>Summarize</a:t>
            </a:r>
            <a:r>
              <a:rPr lang="de-DE" sz="2400" dirty="0"/>
              <a:t> </a:t>
            </a:r>
            <a:r>
              <a:rPr lang="de-DE" sz="2400" dirty="0" err="1"/>
              <a:t>this</a:t>
            </a:r>
            <a:r>
              <a:rPr lang="de-DE" sz="2400" dirty="0"/>
              <a:t> </a:t>
            </a:r>
            <a:r>
              <a:rPr lang="de-DE" sz="2400" dirty="0" err="1"/>
              <a:t>article</a:t>
            </a:r>
            <a:r>
              <a:rPr lang="de-DE" sz="2400" dirty="0"/>
              <a:t> in </a:t>
            </a:r>
            <a:r>
              <a:rPr lang="de-DE" sz="2400" dirty="0" err="1"/>
              <a:t>one</a:t>
            </a:r>
            <a:r>
              <a:rPr lang="de-DE" sz="2400" dirty="0"/>
              <a:t> </a:t>
            </a:r>
            <a:r>
              <a:rPr lang="de-DE" sz="2400" dirty="0" err="1"/>
              <a:t>sentence</a:t>
            </a:r>
            <a:r>
              <a:rPr lang="de-DE" sz="2400" dirty="0"/>
              <a:t>."</a:t>
            </a:r>
          </a:p>
          <a:p>
            <a:pPr marL="0" indent="0">
              <a:buNone/>
            </a:pPr>
            <a:r>
              <a:rPr lang="de-DE" sz="2400" dirty="0"/>
              <a:t>Output: "The </a:t>
            </a:r>
            <a:r>
              <a:rPr lang="de-DE" sz="2400" dirty="0" err="1"/>
              <a:t>article</a:t>
            </a:r>
            <a:r>
              <a:rPr lang="de-DE" sz="2400" dirty="0"/>
              <a:t> </a:t>
            </a:r>
            <a:r>
              <a:rPr lang="de-DE" sz="2400" dirty="0" err="1"/>
              <a:t>discusses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climate</a:t>
            </a:r>
            <a:r>
              <a:rPr lang="de-DE" sz="2400" dirty="0"/>
              <a:t> </a:t>
            </a:r>
            <a:r>
              <a:rPr lang="de-DE" sz="2400" dirty="0" err="1"/>
              <a:t>change</a:t>
            </a:r>
            <a:r>
              <a:rPr lang="de-DE" sz="2400" dirty="0"/>
              <a:t> on polar </a:t>
            </a:r>
            <a:r>
              <a:rPr lang="de-DE" sz="2400" dirty="0" err="1"/>
              <a:t>bears</a:t>
            </a:r>
            <a:r>
              <a:rPr lang="de-DE" sz="2400" dirty="0"/>
              <a:t>."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instruction</a:t>
            </a:r>
            <a:r>
              <a:rPr lang="de-DE" sz="2400" dirty="0"/>
              <a:t> </a:t>
            </a:r>
            <a:r>
              <a:rPr lang="de-DE" sz="2400" dirty="0" err="1"/>
              <a:t>tuning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fed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input</a:t>
            </a:r>
            <a:r>
              <a:rPr lang="de-DE" sz="2400" dirty="0"/>
              <a:t> </a:t>
            </a:r>
            <a:r>
              <a:rPr lang="de-DE" sz="2400" dirty="0" err="1"/>
              <a:t>sequences</a:t>
            </a:r>
            <a:r>
              <a:rPr lang="de-DE" sz="2400" dirty="0"/>
              <a:t>, just like in </a:t>
            </a:r>
            <a:r>
              <a:rPr lang="de-DE" sz="2400" dirty="0" err="1"/>
              <a:t>pretraining</a:t>
            </a: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objective</a:t>
            </a:r>
            <a:r>
              <a:rPr lang="de-DE" sz="2400" dirty="0"/>
              <a:t> still </a:t>
            </a:r>
            <a:r>
              <a:rPr lang="de-DE" sz="2400" dirty="0" err="1"/>
              <a:t>next</a:t>
            </a:r>
            <a:r>
              <a:rPr lang="de-DE" sz="2400" dirty="0"/>
              <a:t>-token </a:t>
            </a:r>
            <a:r>
              <a:rPr lang="de-DE" sz="2400" dirty="0" err="1"/>
              <a:t>prediction</a:t>
            </a:r>
            <a:r>
              <a:rPr lang="de-DE" sz="2400" dirty="0"/>
              <a:t> (</a:t>
            </a:r>
            <a:r>
              <a:rPr lang="de-DE" sz="2400" dirty="0" err="1"/>
              <a:t>language</a:t>
            </a:r>
            <a:r>
              <a:rPr lang="de-DE" sz="2400" dirty="0"/>
              <a:t> </a:t>
            </a:r>
            <a:r>
              <a:rPr lang="de-DE" sz="2400" dirty="0" err="1"/>
              <a:t>modeling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r>
              <a:rPr lang="de-DE" sz="2400" dirty="0" err="1"/>
              <a:t>structure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text</a:t>
            </a:r>
            <a:r>
              <a:rPr lang="de-DE" sz="2400" dirty="0"/>
              <a:t> </a:t>
            </a:r>
            <a:r>
              <a:rPr lang="de-DE" sz="2400" dirty="0" err="1"/>
              <a:t>sequences</a:t>
            </a:r>
            <a:r>
              <a:rPr lang="de-DE" sz="2400" dirty="0"/>
              <a:t> </a:t>
            </a:r>
            <a:r>
              <a:rPr lang="de-DE" sz="2400" dirty="0" err="1"/>
              <a:t>only</a:t>
            </a:r>
            <a:r>
              <a:rPr lang="de-DE" sz="2400" dirty="0"/>
              <a:t> </a:t>
            </a:r>
            <a:r>
              <a:rPr lang="de-DE" sz="2400" dirty="0" err="1"/>
              <a:t>thing</a:t>
            </a:r>
            <a:r>
              <a:rPr lang="de-DE" sz="2400" dirty="0"/>
              <a:t> </a:t>
            </a:r>
            <a:r>
              <a:rPr lang="de-DE" sz="2400" dirty="0" err="1"/>
              <a:t>telling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where</a:t>
            </a:r>
            <a:r>
              <a:rPr lang="de-DE" sz="2400" dirty="0"/>
              <a:t> </a:t>
            </a:r>
            <a:r>
              <a:rPr lang="de-DE" sz="2400" dirty="0" err="1"/>
              <a:t>instruction</a:t>
            </a:r>
            <a:r>
              <a:rPr lang="de-DE" sz="2400" dirty="0"/>
              <a:t> </a:t>
            </a:r>
            <a:r>
              <a:rPr lang="de-DE" sz="2400" dirty="0" err="1"/>
              <a:t>ends</a:t>
            </a:r>
            <a:r>
              <a:rPr lang="de-DE" sz="2400" dirty="0"/>
              <a:t> and </a:t>
            </a:r>
            <a:r>
              <a:rPr lang="de-DE" sz="2400" dirty="0" err="1"/>
              <a:t>response</a:t>
            </a:r>
            <a:r>
              <a:rPr lang="de-DE" sz="2400" dirty="0"/>
              <a:t> </a:t>
            </a:r>
            <a:r>
              <a:rPr lang="de-DE" sz="2400" dirty="0" err="1"/>
              <a:t>begins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also </a:t>
            </a:r>
            <a:r>
              <a:rPr lang="de-DE" sz="2400" dirty="0" err="1"/>
              <a:t>learns</a:t>
            </a:r>
            <a:r>
              <a:rPr lang="de-DE" sz="2400" dirty="0"/>
              <a:t> </a:t>
            </a:r>
            <a:r>
              <a:rPr lang="de-DE" sz="2400" dirty="0" err="1"/>
              <a:t>formatting</a:t>
            </a:r>
            <a:r>
              <a:rPr lang="de-DE" sz="2400" dirty="0"/>
              <a:t>: </a:t>
            </a:r>
            <a:r>
              <a:rPr lang="de-DE" sz="2400" dirty="0" err="1"/>
              <a:t>desired</a:t>
            </a:r>
            <a:r>
              <a:rPr lang="de-DE" sz="2400" dirty="0"/>
              <a:t> </a:t>
            </a:r>
            <a:r>
              <a:rPr lang="de-DE" sz="2400" dirty="0" err="1"/>
              <a:t>patterns</a:t>
            </a:r>
            <a:r>
              <a:rPr lang="de-DE" sz="2400" dirty="0"/>
              <a:t> </a:t>
            </a:r>
            <a:r>
              <a:rPr lang="de-DE" sz="2400" dirty="0" err="1"/>
              <a:t>embedded</a:t>
            </a:r>
            <a:r>
              <a:rPr lang="de-DE" sz="2400" dirty="0"/>
              <a:t> in </a:t>
            </a:r>
            <a:r>
              <a:rPr lang="de-DE" sz="2400" dirty="0" err="1"/>
              <a:t>instruction</a:t>
            </a:r>
            <a:r>
              <a:rPr lang="de-DE" sz="2400" dirty="0"/>
              <a:t>–</a:t>
            </a:r>
            <a:r>
              <a:rPr lang="de-DE" sz="2400" dirty="0" err="1"/>
              <a:t>response</a:t>
            </a:r>
            <a:r>
              <a:rPr lang="de-DE" sz="2400" dirty="0"/>
              <a:t> </a:t>
            </a:r>
            <a:r>
              <a:rPr lang="de-DE" sz="2400" dirty="0" err="1"/>
              <a:t>pairs</a:t>
            </a:r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694547-5151-D7D3-A925-23192933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Instruction</a:t>
            </a:r>
            <a:r>
              <a:rPr lang="de-DE" dirty="0"/>
              <a:t> Tuning Data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4B0235-81C4-B185-7A07-065F0D44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708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364B65AF-59AC-3321-A194-3967916022E2}"/>
              </a:ext>
            </a:extLst>
          </p:cNvPr>
          <p:cNvSpPr/>
          <p:nvPr/>
        </p:nvSpPr>
        <p:spPr>
          <a:xfrm>
            <a:off x="1222916" y="1872853"/>
            <a:ext cx="9746166" cy="4616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3EB7987-5C07-AA5B-0E35-4187A7C3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Base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Instruction-tuned</a:t>
            </a:r>
            <a:r>
              <a:rPr lang="de-DE" dirty="0"/>
              <a:t> LLM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63FFF4-FE88-859D-E0D9-7EB4001A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16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C7DF800-35F2-5E5E-5B7B-3C734160D2ED}"/>
              </a:ext>
            </a:extLst>
          </p:cNvPr>
          <p:cNvSpPr txBox="1"/>
          <p:nvPr/>
        </p:nvSpPr>
        <p:spPr>
          <a:xfrm>
            <a:off x="1222917" y="1872854"/>
            <a:ext cx="9746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why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sky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blue</a:t>
            </a:r>
            <a:r>
              <a:rPr lang="de-DE" sz="2400" dirty="0"/>
              <a:t>, </a:t>
            </a: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if</a:t>
            </a:r>
            <a:r>
              <a:rPr lang="de-DE" sz="2400" dirty="0"/>
              <a:t> </a:t>
            </a: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were</a:t>
            </a:r>
            <a:r>
              <a:rPr lang="de-DE" sz="2400" dirty="0"/>
              <a:t> </a:t>
            </a:r>
            <a:r>
              <a:rPr lang="de-DE" sz="2400" dirty="0" err="1"/>
              <a:t>talking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a </a:t>
            </a:r>
            <a:r>
              <a:rPr lang="de-DE" sz="2400" dirty="0" err="1"/>
              <a:t>curious</a:t>
            </a:r>
            <a:r>
              <a:rPr lang="de-DE" sz="2400" dirty="0"/>
              <a:t> 10-year-old.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50BC82B-A30D-F328-0DB8-F2E2DD546967}"/>
              </a:ext>
            </a:extLst>
          </p:cNvPr>
          <p:cNvSpPr txBox="1"/>
          <p:nvPr/>
        </p:nvSpPr>
        <p:spPr>
          <a:xfrm>
            <a:off x="514814" y="3784296"/>
            <a:ext cx="48730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“The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sky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is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blue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because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of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way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light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interacts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with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atmosphere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.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Sunlight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contains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many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colors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and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when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it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passes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through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air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molecules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blue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light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scatters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more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than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other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colors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.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That’s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why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see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sky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blue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during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day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.”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70EA5BB-468A-F5DB-65F1-BE1FD58383DB}"/>
              </a:ext>
            </a:extLst>
          </p:cNvPr>
          <p:cNvSpPr txBox="1"/>
          <p:nvPr/>
        </p:nvSpPr>
        <p:spPr>
          <a:xfrm>
            <a:off x="6034670" y="3784296"/>
            <a:ext cx="56425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E0E0E"/>
                </a:solidFill>
                <a:latin typeface=".AppleSystemUIFont"/>
              </a:rPr>
              <a:t>“Imagine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sky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is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like a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giant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ocean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of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tiny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invisible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balls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called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air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molecules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.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When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sunlight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shines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through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blue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light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bounces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around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more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than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other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colors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kind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of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like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how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tiny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balls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make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waves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in a pool.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That’s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why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when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you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look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up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sky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looks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blue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! And at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sunset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light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has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to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travel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through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more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air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, so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reds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and oranges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shine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through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instead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.”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2BA1C2B-CF78-8988-CC55-7642F7727642}"/>
              </a:ext>
            </a:extLst>
          </p:cNvPr>
          <p:cNvSpPr txBox="1"/>
          <p:nvPr/>
        </p:nvSpPr>
        <p:spPr>
          <a:xfrm>
            <a:off x="1643465" y="3140465"/>
            <a:ext cx="26157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base</a:t>
            </a:r>
            <a:r>
              <a:rPr lang="de-DE" sz="2200" dirty="0"/>
              <a:t> LLM </a:t>
            </a:r>
            <a:r>
              <a:rPr lang="de-DE" sz="2200" dirty="0" err="1"/>
              <a:t>response</a:t>
            </a:r>
            <a:r>
              <a:rPr lang="de-DE" sz="2200" dirty="0"/>
              <a:t>: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406AF60-4565-7017-913F-AA16FA85DE8B}"/>
              </a:ext>
            </a:extLst>
          </p:cNvPr>
          <p:cNvSpPr txBox="1"/>
          <p:nvPr/>
        </p:nvSpPr>
        <p:spPr>
          <a:xfrm>
            <a:off x="6779430" y="3140465"/>
            <a:ext cx="41529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instruction-tuned</a:t>
            </a:r>
            <a:r>
              <a:rPr lang="de-DE" sz="2200" dirty="0"/>
              <a:t> LLM </a:t>
            </a:r>
            <a:r>
              <a:rPr lang="de-DE" sz="2200" dirty="0" err="1"/>
              <a:t>response</a:t>
            </a:r>
            <a:r>
              <a:rPr lang="de-DE" sz="22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05508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B4357A-6690-1EC4-E385-2D2D1A2E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17</a:t>
            </a:fld>
            <a:endParaRPr lang="de-DE"/>
          </a:p>
        </p:txBody>
      </p:sp>
      <p:pic>
        <p:nvPicPr>
          <p:cNvPr id="5" name="Grafik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95F6B3E-9F0D-6029-F292-E21547A6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87" y="1342177"/>
            <a:ext cx="7772400" cy="41846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4C00779-93FF-F002-7ED7-64FA527F031E}"/>
              </a:ext>
            </a:extLst>
          </p:cNvPr>
          <p:cNvSpPr txBox="1"/>
          <p:nvPr/>
        </p:nvSpPr>
        <p:spPr>
          <a:xfrm>
            <a:off x="844650" y="5047998"/>
            <a:ext cx="46356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base</a:t>
            </a:r>
            <a:r>
              <a:rPr lang="de-DE" sz="2200" dirty="0"/>
              <a:t> LLM: </a:t>
            </a:r>
            <a:r>
              <a:rPr lang="de-DE" sz="2200" dirty="0" err="1"/>
              <a:t>poor</a:t>
            </a:r>
            <a:r>
              <a:rPr lang="de-DE" sz="2200" dirty="0"/>
              <a:t> </a:t>
            </a:r>
            <a:r>
              <a:rPr lang="de-DE" sz="2200" dirty="0" err="1"/>
              <a:t>instruction</a:t>
            </a:r>
            <a:r>
              <a:rPr lang="de-DE" sz="2200" dirty="0"/>
              <a:t> </a:t>
            </a:r>
            <a:r>
              <a:rPr lang="de-DE" sz="2200" dirty="0" err="1"/>
              <a:t>following</a:t>
            </a:r>
            <a:r>
              <a:rPr lang="de-DE" sz="2200" dirty="0"/>
              <a:t>, </a:t>
            </a:r>
            <a:r>
              <a:rPr lang="de-DE" sz="2200" dirty="0" err="1"/>
              <a:t>no</a:t>
            </a:r>
            <a:r>
              <a:rPr lang="de-DE" sz="2200" dirty="0"/>
              <a:t> proper multi-turn </a:t>
            </a:r>
            <a:r>
              <a:rPr lang="de-DE" sz="2200" dirty="0" err="1"/>
              <a:t>converstations</a:t>
            </a:r>
            <a:endParaRPr lang="de-DE" sz="2200" dirty="0"/>
          </a:p>
          <a:p>
            <a:r>
              <a:rPr lang="de-DE" sz="2200" dirty="0"/>
              <a:t>(e.g., Llama-2-7b, Mistral-7B)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E59138B-4BCD-0E29-3B22-6F17680478F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162479" y="4497378"/>
            <a:ext cx="3242708" cy="55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00659DCC-22C8-B02E-15A1-0FCBA181798E}"/>
              </a:ext>
            </a:extLst>
          </p:cNvPr>
          <p:cNvSpPr txBox="1"/>
          <p:nvPr/>
        </p:nvSpPr>
        <p:spPr>
          <a:xfrm>
            <a:off x="5995152" y="5635969"/>
            <a:ext cx="7165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RAG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D80B2E3-4F1B-089C-B0A1-C2749A5D1595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353424" y="4382429"/>
            <a:ext cx="1586244" cy="1253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DE393BC-5AEB-9813-ABCF-F70A1F18CCEC}"/>
              </a:ext>
            </a:extLst>
          </p:cNvPr>
          <p:cNvSpPr txBox="1"/>
          <p:nvPr/>
        </p:nvSpPr>
        <p:spPr>
          <a:xfrm>
            <a:off x="9824738" y="5291662"/>
            <a:ext cx="22202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ready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become</a:t>
            </a:r>
            <a:r>
              <a:rPr lang="de-DE" sz="2200" dirty="0"/>
              <a:t> an LLM </a:t>
            </a:r>
            <a:r>
              <a:rPr lang="de-DE" sz="2200" dirty="0" err="1"/>
              <a:t>chatbot</a:t>
            </a:r>
            <a:endParaRPr lang="de-DE" sz="2200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79F7633-BF0C-138D-E1AD-4FE75AA9F153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9596132" y="4382429"/>
            <a:ext cx="1338747" cy="909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7EDC1CA0-20A2-1CE6-AB7D-CC02505E5657}"/>
              </a:ext>
            </a:extLst>
          </p:cNvPr>
          <p:cNvSpPr txBox="1"/>
          <p:nvPr/>
        </p:nvSpPr>
        <p:spPr>
          <a:xfrm>
            <a:off x="9982200" y="810535"/>
            <a:ext cx="16487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expert LLMs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CA86ABC3-1280-06A1-B766-FFC5B6D3F67E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8062332" y="1241422"/>
            <a:ext cx="2744229" cy="114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D9B724AE-0553-1E70-4354-2B39E53827CB}"/>
              </a:ext>
            </a:extLst>
          </p:cNvPr>
          <p:cNvSpPr txBox="1"/>
          <p:nvPr/>
        </p:nvSpPr>
        <p:spPr>
          <a:xfrm>
            <a:off x="2824086" y="94264"/>
            <a:ext cx="52382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generic</a:t>
            </a:r>
            <a:r>
              <a:rPr lang="de-DE" sz="2200" dirty="0"/>
              <a:t> “</a:t>
            </a:r>
            <a:r>
              <a:rPr lang="de-DE" sz="2200" dirty="0" err="1"/>
              <a:t>instruct</a:t>
            </a:r>
            <a:r>
              <a:rPr lang="de-DE" sz="2200" dirty="0"/>
              <a:t>“ </a:t>
            </a:r>
            <a:r>
              <a:rPr lang="de-DE" sz="2200" dirty="0" err="1"/>
              <a:t>versions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LLMs (</a:t>
            </a:r>
            <a:r>
              <a:rPr lang="de-DE" sz="2200" dirty="0" err="1"/>
              <a:t>potentially</a:t>
            </a:r>
            <a:r>
              <a:rPr lang="de-DE" sz="2200" dirty="0"/>
              <a:t> also </a:t>
            </a:r>
            <a:r>
              <a:rPr lang="de-DE" sz="2200" dirty="0" err="1"/>
              <a:t>aligned</a:t>
            </a:r>
            <a:r>
              <a:rPr lang="de-DE" sz="2200" dirty="0"/>
              <a:t>)</a:t>
            </a:r>
          </a:p>
          <a:p>
            <a:r>
              <a:rPr lang="de-DE" sz="2200" dirty="0"/>
              <a:t>e.g., Llama-2-7b-chat, Mistral-7B-Instruct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2D0ECEC-FB50-025C-6520-232422F8510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443209" y="1202260"/>
            <a:ext cx="1268486" cy="55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107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1B0760-5DC6-8803-F2DB-A4388C6F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Instruction</a:t>
            </a:r>
            <a:r>
              <a:rPr lang="de-DE" dirty="0"/>
              <a:t> Tuning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2BED9-4139-4C14-9D40-9EEF79385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specialization</a:t>
            </a:r>
            <a:r>
              <a:rPr lang="de-DE" dirty="0"/>
              <a:t> (e.g., code </a:t>
            </a:r>
            <a:r>
              <a:rPr lang="de-DE" dirty="0" err="1"/>
              <a:t>generation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domain-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instructions</a:t>
            </a:r>
            <a:r>
              <a:rPr lang="de-DE" dirty="0"/>
              <a:t> (e.g., </a:t>
            </a:r>
            <a:r>
              <a:rPr lang="de-DE" dirty="0" err="1"/>
              <a:t>interpret</a:t>
            </a:r>
            <a:r>
              <a:rPr lang="de-DE" dirty="0"/>
              <a:t> </a:t>
            </a:r>
            <a:r>
              <a:rPr lang="de-DE" dirty="0" err="1"/>
              <a:t>molecular</a:t>
            </a:r>
            <a:r>
              <a:rPr lang="de-DE" dirty="0"/>
              <a:t> </a:t>
            </a:r>
            <a:r>
              <a:rPr lang="de-DE" dirty="0" err="1"/>
              <a:t>formulas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style </a:t>
            </a:r>
            <a:r>
              <a:rPr lang="de-DE" dirty="0" err="1"/>
              <a:t>or</a:t>
            </a:r>
            <a:r>
              <a:rPr lang="de-DE" dirty="0"/>
              <a:t> tone </a:t>
            </a:r>
            <a:r>
              <a:rPr lang="de-DE" dirty="0" err="1"/>
              <a:t>adaptation</a:t>
            </a:r>
            <a:r>
              <a:rPr lang="de-DE" dirty="0"/>
              <a:t> (e.g., </a:t>
            </a:r>
            <a:r>
              <a:rPr lang="de-DE" dirty="0" err="1"/>
              <a:t>corporate</a:t>
            </a:r>
            <a:r>
              <a:rPr lang="de-DE" dirty="0"/>
              <a:t> </a:t>
            </a:r>
            <a:r>
              <a:rPr lang="de-DE" dirty="0" err="1"/>
              <a:t>writing</a:t>
            </a:r>
            <a:r>
              <a:rPr lang="de-DE" dirty="0"/>
              <a:t> style, </a:t>
            </a:r>
            <a:r>
              <a:rPr lang="de-DE" dirty="0" err="1"/>
              <a:t>friendly</a:t>
            </a:r>
            <a:r>
              <a:rPr lang="de-DE" dirty="0"/>
              <a:t> </a:t>
            </a:r>
            <a:r>
              <a:rPr lang="de-DE" dirty="0" err="1"/>
              <a:t>chatbot</a:t>
            </a:r>
            <a:r>
              <a:rPr lang="de-DE" dirty="0"/>
              <a:t> tone)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reasoning</a:t>
            </a:r>
            <a:r>
              <a:rPr lang="de-DE" dirty="0"/>
              <a:t> (</a:t>
            </a:r>
            <a:r>
              <a:rPr lang="de-DE" dirty="0" err="1"/>
              <a:t>CoT</a:t>
            </a:r>
            <a:r>
              <a:rPr lang="de-DE" dirty="0"/>
              <a:t> </a:t>
            </a:r>
            <a:r>
              <a:rPr lang="de-DE" dirty="0" err="1"/>
              <a:t>inputs</a:t>
            </a:r>
            <a:r>
              <a:rPr lang="de-DE" dirty="0"/>
              <a:t>)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reasoning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models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51CF5C-295C-0407-8544-4EC48C31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085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D07C-8362-D471-3F09-B2FC3475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Parameter-Efficient Finetuning (PEFT)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6C3D-25E9-6468-66D7-A1D0E870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1286" cy="44312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/>
              <a:t>LLMs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billions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finetuning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expensive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PEFT: </a:t>
            </a:r>
            <a:r>
              <a:rPr lang="de-DE" dirty="0" err="1"/>
              <a:t>adapt</a:t>
            </a:r>
            <a:r>
              <a:rPr lang="de-DE" dirty="0"/>
              <a:t> LLMs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updating</a:t>
            </a:r>
            <a:r>
              <a:rPr lang="de-DE" dirty="0"/>
              <a:t> all </a:t>
            </a:r>
            <a:r>
              <a:rPr lang="de-DE" dirty="0" err="1"/>
              <a:t>parameters</a:t>
            </a:r>
            <a:r>
              <a:rPr lang="de-DE" dirty="0"/>
              <a:t>,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, 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modifications</a:t>
            </a:r>
            <a:endParaRPr lang="de-DE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de-DE" dirty="0" err="1"/>
              <a:t>popular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: Low-Rank Adaptation</a:t>
            </a:r>
            <a:r>
              <a:rPr lang="en-GB" dirty="0"/>
              <a:t> (</a:t>
            </a:r>
            <a:r>
              <a:rPr lang="en-GB" dirty="0">
                <a:hlinkClick r:id="rId2"/>
              </a:rPr>
              <a:t>LoRA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quantization</a:t>
            </a:r>
            <a:r>
              <a:rPr lang="de-DE" dirty="0"/>
              <a:t> (</a:t>
            </a:r>
            <a:r>
              <a:rPr lang="de-DE" dirty="0" err="1"/>
              <a:t>representing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activations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lower-precision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memory</a:t>
            </a:r>
            <a:r>
              <a:rPr lang="de-DE" dirty="0"/>
              <a:t> </a:t>
            </a:r>
            <a:r>
              <a:rPr lang="de-DE" dirty="0" err="1"/>
              <a:t>usage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4E765-465F-5DF8-7C82-EFF8EB0E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19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E85E75-380C-048D-109E-337786578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85" y="2282775"/>
            <a:ext cx="3983086" cy="351740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13BA818-691C-0D6D-9823-145EF809155A}"/>
              </a:ext>
            </a:extLst>
          </p:cNvPr>
          <p:cNvSpPr txBox="1"/>
          <p:nvPr/>
        </p:nvSpPr>
        <p:spPr>
          <a:xfrm>
            <a:off x="9369389" y="1601085"/>
            <a:ext cx="96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LoRA</a:t>
            </a:r>
            <a:r>
              <a:rPr lang="de-DE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46746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99FF-C910-A0E8-3381-C448E5F1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Preference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788B-7FE4-0E3B-1C93-49275F5E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20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48B22-F5A5-3996-02A4-5527B567641F}"/>
              </a:ext>
            </a:extLst>
          </p:cNvPr>
          <p:cNvSpPr txBox="1"/>
          <p:nvPr/>
        </p:nvSpPr>
        <p:spPr>
          <a:xfrm>
            <a:off x="11353800" y="4948850"/>
            <a:ext cx="608718" cy="246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2"/>
              </a:rPr>
              <a:t>source</a:t>
            </a:r>
            <a:endParaRPr lang="de-DE" sz="1000" dirty="0"/>
          </a:p>
        </p:txBody>
      </p:sp>
      <p:pic>
        <p:nvPicPr>
          <p:cNvPr id="7" name="Grafik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1ABF00D-E8BF-27E7-1A48-C092AAB64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5" y="1690688"/>
            <a:ext cx="11449713" cy="325816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FB0CE71-E065-7443-636C-0D3D508B9E73}"/>
              </a:ext>
            </a:extLst>
          </p:cNvPr>
          <p:cNvSpPr txBox="1"/>
          <p:nvPr/>
        </p:nvSpPr>
        <p:spPr>
          <a:xfrm>
            <a:off x="197005" y="5381861"/>
            <a:ext cx="1179799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600" dirty="0"/>
              <a:t>idea: aligning LLM output with human preferences</a:t>
            </a:r>
          </a:p>
          <a:p>
            <a:r>
              <a:rPr lang="en-GB" sz="2600" dirty="0">
                <a:hlinkClick r:id="rId4"/>
              </a:rPr>
              <a:t>InstructGPT</a:t>
            </a:r>
            <a:r>
              <a:rPr lang="en-GB" sz="2600" dirty="0"/>
              <a:t>: SFT followed by reinforcement learning from human feedback (RLHF)</a:t>
            </a:r>
            <a:endParaRPr lang="de-DE" sz="26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23ABB17-C0C1-4B0D-F196-C0B2B586E78C}"/>
              </a:ext>
            </a:extLst>
          </p:cNvPr>
          <p:cNvSpPr txBox="1"/>
          <p:nvPr/>
        </p:nvSpPr>
        <p:spPr>
          <a:xfrm>
            <a:off x="838200" y="4856899"/>
            <a:ext cx="13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here</a:t>
            </a:r>
            <a:r>
              <a:rPr lang="de-DE" dirty="0"/>
              <a:t>: GPT-3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68F92C-645E-FD61-C77E-298F7E738023}"/>
              </a:ext>
            </a:extLst>
          </p:cNvPr>
          <p:cNvSpPr txBox="1"/>
          <p:nvPr/>
        </p:nvSpPr>
        <p:spPr>
          <a:xfrm>
            <a:off x="8149218" y="857565"/>
            <a:ext cx="3665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/>
              <a:t>RLHF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achieve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instruction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and </a:t>
            </a:r>
            <a:r>
              <a:rPr lang="de-DE" dirty="0" err="1"/>
              <a:t>preference</a:t>
            </a:r>
            <a:r>
              <a:rPr lang="de-DE" dirty="0"/>
              <a:t> </a:t>
            </a:r>
            <a:r>
              <a:rPr lang="de-DE" dirty="0" err="1"/>
              <a:t>alignment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9818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45376-4611-E3D8-9848-DD1FD6E4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Aside: Policy Gradient Method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FD0C45-6083-C8B3-2204-F00EB528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41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/>
              <a:t>in </a:t>
            </a:r>
            <a:r>
              <a:rPr lang="de-DE" sz="2400" dirty="0" err="1"/>
              <a:t>general</a:t>
            </a:r>
            <a:r>
              <a:rPr lang="de-DE" sz="2400" dirty="0"/>
              <a:t>: </a:t>
            </a:r>
            <a:r>
              <a:rPr lang="de-DE" sz="2400" dirty="0" err="1"/>
              <a:t>policy</a:t>
            </a:r>
            <a:r>
              <a:rPr lang="de-DE" sz="2400" dirty="0"/>
              <a:t> network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actions</a:t>
            </a:r>
            <a:r>
              <a:rPr lang="de-DE" sz="2400" dirty="0"/>
              <a:t> </a:t>
            </a: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output</a:t>
            </a:r>
            <a:r>
              <a:rPr lang="de-DE" sz="2400" dirty="0"/>
              <a:t> (</a:t>
            </a:r>
            <a:r>
              <a:rPr lang="de-DE" sz="2400" dirty="0" err="1"/>
              <a:t>here</a:t>
            </a:r>
            <a:r>
              <a:rPr lang="de-DE" sz="2400" dirty="0"/>
              <a:t>: </a:t>
            </a:r>
            <a:r>
              <a:rPr lang="de-DE" sz="2400" dirty="0" err="1"/>
              <a:t>next</a:t>
            </a:r>
            <a:r>
              <a:rPr lang="de-DE" sz="2400" dirty="0"/>
              <a:t>-token </a:t>
            </a:r>
            <a:r>
              <a:rPr lang="de-DE" sz="2400" dirty="0" err="1"/>
              <a:t>probabilities</a:t>
            </a:r>
            <a:r>
              <a:rPr lang="de-DE" sz="24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21AA31-8FB1-0E51-AB13-3C58EF21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21</a:t>
            </a:fld>
            <a:endParaRPr lang="de-DE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4C19F4A-8DA4-86E3-5633-A54AE4348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259" y="2427421"/>
            <a:ext cx="5657481" cy="2003158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22DE8C7-067C-2FF4-9C61-D92D22820DCC}"/>
              </a:ext>
            </a:extLst>
          </p:cNvPr>
          <p:cNvCxnSpPr/>
          <p:nvPr/>
        </p:nvCxnSpPr>
        <p:spPr>
          <a:xfrm flipH="1">
            <a:off x="5374888" y="2196790"/>
            <a:ext cx="2486722" cy="903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92FEAB68-C5D2-4CFA-673C-12B4E2B01D9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48B675A-2084-C34A-84F6-1B6A8516A5F3}" type="slidenum">
              <a:rPr lang="en-DE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21</a:t>
            </a:fld>
            <a:endParaRPr lang="en-DE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49FCD5B-8D8F-296A-8031-1B3CA2FDBB98}"/>
              </a:ext>
            </a:extLst>
          </p:cNvPr>
          <p:cNvSpPr txBox="1"/>
          <p:nvPr/>
        </p:nvSpPr>
        <p:spPr>
          <a:xfrm>
            <a:off x="8737294" y="4358827"/>
            <a:ext cx="296356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200" dirty="0" err="1">
                <a:solidFill>
                  <a:prstClr val="black"/>
                </a:solidFill>
                <a:latin typeface="Calibri" panose="020F0502020204030204"/>
              </a:rPr>
              <a:t>return</a:t>
            </a:r>
            <a:r>
              <a:rPr lang="de-DE" sz="22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de-DE" sz="2200" dirty="0" err="1">
                <a:solidFill>
                  <a:prstClr val="black"/>
                </a:solidFill>
                <a:latin typeface="Calibri" panose="020F0502020204030204"/>
              </a:rPr>
              <a:t>here</a:t>
            </a:r>
            <a:r>
              <a:rPr lang="de-DE" sz="2200" dirty="0">
                <a:solidFill>
                  <a:prstClr val="black"/>
                </a:solidFill>
                <a:latin typeface="Calibri" panose="020F0502020204030204"/>
              </a:rPr>
              <a:t>: just </a:t>
            </a:r>
            <a:r>
              <a:rPr lang="de-DE" sz="2200" dirty="0" err="1">
                <a:solidFill>
                  <a:prstClr val="black"/>
                </a:solidFill>
                <a:latin typeface="Calibri" panose="020F0502020204030204"/>
              </a:rPr>
              <a:t>one</a:t>
            </a:r>
            <a:r>
              <a:rPr lang="de-DE" sz="2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200" dirty="0" err="1">
                <a:solidFill>
                  <a:prstClr val="black"/>
                </a:solidFill>
                <a:latin typeface="Calibri" panose="020F0502020204030204"/>
              </a:rPr>
              <a:t>reward</a:t>
            </a:r>
            <a:r>
              <a:rPr lang="de-DE" sz="2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200" dirty="0" err="1">
                <a:solidFill>
                  <a:prstClr val="black"/>
                </a:solidFill>
                <a:latin typeface="Calibri" panose="020F0502020204030204"/>
              </a:rPr>
              <a:t>for</a:t>
            </a:r>
            <a:r>
              <a:rPr lang="de-DE" sz="2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200" dirty="0" err="1">
                <a:solidFill>
                  <a:prstClr val="black"/>
                </a:solidFill>
                <a:latin typeface="Calibri" panose="020F0502020204030204"/>
              </a:rPr>
              <a:t>entire</a:t>
            </a:r>
            <a:r>
              <a:rPr lang="de-DE" sz="2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de-DE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sampled</a:t>
            </a: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</a:t>
            </a: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sequence</a:t>
            </a: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D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100411AA-C4F0-881E-5FC1-ACB7771A7387}"/>
                  </a:ext>
                </a:extLst>
              </p:cNvPr>
              <p:cNvSpPr txBox="1"/>
              <p:nvPr/>
            </p:nvSpPr>
            <p:spPr>
              <a:xfrm>
                <a:off x="4122764" y="4762783"/>
                <a:ext cx="3946470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600" dirty="0">
                    <a:ea typeface="Cambria Math" panose="02040503050406030204" pitchFamily="18" charset="0"/>
                  </a:rPr>
                  <a:t>loss: 	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GB" sz="2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func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GB" sz="2600" dirty="0"/>
              </a:p>
            </p:txBody>
          </p:sp>
        </mc:Choice>
        <mc:Fallback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100411AA-C4F0-881E-5FC1-ACB7771A7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764" y="4762783"/>
                <a:ext cx="3946470" cy="492443"/>
              </a:xfrm>
              <a:prstGeom prst="rect">
                <a:avLst/>
              </a:prstGeom>
              <a:blipFill>
                <a:blip r:embed="rId3"/>
                <a:stretch>
                  <a:fillRect l="-2564" t="-9756" b="-26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26">
            <a:extLst>
              <a:ext uri="{FF2B5EF4-FFF2-40B4-BE49-F238E27FC236}">
                <a16:creationId xmlns:a16="http://schemas.microsoft.com/office/drawing/2014/main" id="{592346B2-1E24-9620-2CA4-1B26AF86F5A8}"/>
              </a:ext>
            </a:extLst>
          </p:cNvPr>
          <p:cNvSpPr txBox="1"/>
          <p:nvPr/>
        </p:nvSpPr>
        <p:spPr>
          <a:xfrm>
            <a:off x="3178049" y="5809405"/>
            <a:ext cx="2110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gradient ascent</a:t>
            </a:r>
          </a:p>
        </p:txBody>
      </p:sp>
      <p:cxnSp>
        <p:nvCxnSpPr>
          <p:cNvPr id="16" name="Straight Arrow Connector 28">
            <a:extLst>
              <a:ext uri="{FF2B5EF4-FFF2-40B4-BE49-F238E27FC236}">
                <a16:creationId xmlns:a16="http://schemas.microsoft.com/office/drawing/2014/main" id="{D35B7A4A-A19C-BC16-3A1A-8C371F3F1957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4233285" y="5072334"/>
            <a:ext cx="940881" cy="737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C02C39E-1788-73C8-3CEC-FE27086673D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965204" y="4912825"/>
            <a:ext cx="772090" cy="76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B7FE5BB4-956C-1516-EC19-9F708DCA43C7}"/>
              </a:ext>
            </a:extLst>
          </p:cNvPr>
          <p:cNvSpPr txBox="1"/>
          <p:nvPr/>
        </p:nvSpPr>
        <p:spPr>
          <a:xfrm>
            <a:off x="6451105" y="5800042"/>
            <a:ext cx="3607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action</a:t>
            </a:r>
            <a:r>
              <a:rPr lang="de-DE" sz="2200" dirty="0"/>
              <a:t> </a:t>
            </a:r>
            <a:r>
              <a:rPr lang="de-DE" sz="2200" dirty="0" err="1"/>
              <a:t>given</a:t>
            </a:r>
            <a:r>
              <a:rPr lang="de-DE" sz="2200" dirty="0"/>
              <a:t> </a:t>
            </a:r>
            <a:r>
              <a:rPr lang="de-DE" sz="2200" dirty="0" err="1"/>
              <a:t>state</a:t>
            </a:r>
            <a:r>
              <a:rPr lang="de-DE" sz="2200" dirty="0"/>
              <a:t> (</a:t>
            </a:r>
            <a:r>
              <a:rPr lang="de-DE" sz="2200" dirty="0" err="1"/>
              <a:t>here</a:t>
            </a:r>
            <a:r>
              <a:rPr lang="de-DE" sz="2200" dirty="0"/>
              <a:t>: LLM)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34990300-2ADE-47B7-EDE3-E6E6F5196798}"/>
              </a:ext>
            </a:extLst>
          </p:cNvPr>
          <p:cNvCxnSpPr/>
          <p:nvPr/>
        </p:nvCxnSpPr>
        <p:spPr>
          <a:xfrm flipH="1" flipV="1">
            <a:off x="6556917" y="5169805"/>
            <a:ext cx="289932" cy="661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3A4A1F03-D705-F259-D4DB-8E186541C484}"/>
              </a:ext>
            </a:extLst>
          </p:cNvPr>
          <p:cNvSpPr txBox="1"/>
          <p:nvPr/>
        </p:nvSpPr>
        <p:spPr>
          <a:xfrm>
            <a:off x="8610600" y="96114"/>
            <a:ext cx="342202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/>
              <a:t>rationale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reinforcement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: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on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responses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global </a:t>
            </a:r>
            <a:r>
              <a:rPr lang="de-DE" dirty="0" err="1"/>
              <a:t>feedback</a:t>
            </a:r>
            <a:r>
              <a:rPr lang="de-DE" dirty="0"/>
              <a:t>, </a:t>
            </a:r>
            <a:r>
              <a:rPr lang="de-DE" dirty="0" err="1"/>
              <a:t>something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-token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do </a:t>
            </a:r>
            <a:r>
              <a:rPr lang="de-DE" dirty="0" err="1"/>
              <a:t>naturally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55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93DE1-8681-E946-F35C-2A338BAF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GPT-3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InstructGPT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ChatGPT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C5182F-76D3-02B3-807F-78D531F2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dialog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(aka </a:t>
            </a:r>
            <a:r>
              <a:rPr lang="de-DE" dirty="0" err="1"/>
              <a:t>conversational</a:t>
            </a:r>
            <a:r>
              <a:rPr lang="de-DE" dirty="0"/>
              <a:t> </a:t>
            </a:r>
            <a:r>
              <a:rPr lang="de-DE" dirty="0" err="1"/>
              <a:t>agent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chatbot</a:t>
            </a:r>
            <a:r>
              <a:rPr lang="de-DE" dirty="0"/>
              <a:t>):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designed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communicate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natural</a:t>
            </a:r>
            <a:r>
              <a:rPr lang="de-DE" dirty="0"/>
              <a:t> </a:t>
            </a:r>
            <a:r>
              <a:rPr lang="de-DE" dirty="0" err="1"/>
              <a:t>language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instruction-tuned</a:t>
            </a:r>
            <a:r>
              <a:rPr lang="de-DE" dirty="0"/>
              <a:t> and </a:t>
            </a:r>
            <a:r>
              <a:rPr lang="de-DE" dirty="0" err="1"/>
              <a:t>aligned</a:t>
            </a:r>
            <a:r>
              <a:rPr lang="de-DE" dirty="0"/>
              <a:t> LLMs: </a:t>
            </a:r>
            <a:r>
              <a:rPr lang="de-DE" dirty="0" err="1"/>
              <a:t>assistant</a:t>
            </a:r>
            <a:r>
              <a:rPr lang="de-DE" dirty="0"/>
              <a:t>-style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crucial</a:t>
            </a:r>
            <a:r>
              <a:rPr lang="de-DE" dirty="0"/>
              <a:t>: multi-turn </a:t>
            </a:r>
            <a:r>
              <a:rPr lang="de-DE" dirty="0" err="1"/>
              <a:t>dialogue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passing</a:t>
            </a:r>
            <a:r>
              <a:rPr lang="de-DE" dirty="0"/>
              <a:t> </a:t>
            </a:r>
            <a:r>
              <a:rPr lang="de-DE" dirty="0" err="1"/>
              <a:t>conversation</a:t>
            </a:r>
            <a:r>
              <a:rPr lang="de-DE" dirty="0"/>
              <a:t> </a:t>
            </a:r>
            <a:r>
              <a:rPr lang="de-DE" dirty="0" err="1"/>
              <a:t>history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LLM at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step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5A7FC5-9ED3-4885-ECCE-73FBD8CB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4762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96747100-59AE-6262-89EF-8C7470AF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0" y="2464917"/>
            <a:ext cx="12119830" cy="380173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2D747F7-B5C9-14F0-BC67-84479A07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Methods </a:t>
            </a:r>
            <a:r>
              <a:rPr lang="de-DE" dirty="0" err="1"/>
              <a:t>for</a:t>
            </a:r>
            <a:r>
              <a:rPr lang="de-DE" dirty="0"/>
              <a:t> Preference Alignment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F9E407-E7CD-CEC9-08A9-C9287C7F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alternatives to RLHF: </a:t>
            </a:r>
            <a:r>
              <a:rPr lang="en-GB" dirty="0">
                <a:hlinkClick r:id="rId3"/>
              </a:rPr>
              <a:t>DPO</a:t>
            </a:r>
            <a:r>
              <a:rPr lang="en-GB" dirty="0"/>
              <a:t>, </a:t>
            </a:r>
            <a:r>
              <a:rPr lang="en-GB" dirty="0">
                <a:hlinkClick r:id="rId4"/>
              </a:rPr>
              <a:t>ORPO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E107DF-A4FD-7351-4A7D-0434F1EA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74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399663-9922-19FF-0C11-ACBEFDAA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24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67973F-4CA1-AD37-154D-E291AE0C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214" y="68262"/>
            <a:ext cx="8517571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94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F1E6E-F30A-7F8D-50CD-E883ED22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Next: </a:t>
            </a:r>
            <a:r>
              <a:rPr lang="de-DE" dirty="0" err="1"/>
              <a:t>Agents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1F7B0-46FA-7E09-1BEB-4B91C37A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latest</a:t>
            </a:r>
            <a:r>
              <a:rPr lang="de-DE" dirty="0"/>
              <a:t> AI </a:t>
            </a:r>
            <a:r>
              <a:rPr lang="de-DE" dirty="0" err="1"/>
              <a:t>evolutionary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: </a:t>
            </a:r>
            <a:r>
              <a:rPr lang="de-DE" b="1" dirty="0"/>
              <a:t>LLMs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assistants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b="1" dirty="0"/>
              <a:t>LLMs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agents</a:t>
            </a:r>
            <a:endParaRPr lang="de-DE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ED79EF-B4D0-08EC-3556-26AD11F2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25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9B6036-572A-3224-B445-73009FB1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985" y="2540226"/>
            <a:ext cx="5998029" cy="399868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6569F2A-99DD-137E-168F-1D632F00FA33}"/>
              </a:ext>
            </a:extLst>
          </p:cNvPr>
          <p:cNvSpPr txBox="1"/>
          <p:nvPr/>
        </p:nvSpPr>
        <p:spPr>
          <a:xfrm>
            <a:off x="9095014" y="3339574"/>
            <a:ext cx="29119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active</a:t>
            </a:r>
            <a:r>
              <a:rPr lang="de-DE" sz="2000" dirty="0"/>
              <a:t>, </a:t>
            </a:r>
            <a:r>
              <a:rPr lang="de-DE" sz="2000" dirty="0" err="1"/>
              <a:t>autonomous</a:t>
            </a:r>
            <a:r>
              <a:rPr lang="de-DE" sz="2000" dirty="0"/>
              <a:t>, </a:t>
            </a:r>
            <a:r>
              <a:rPr lang="de-DE" sz="2000" dirty="0" err="1"/>
              <a:t>decision-making</a:t>
            </a:r>
            <a:r>
              <a:rPr lang="de-DE" sz="2000" dirty="0"/>
              <a:t> </a:t>
            </a:r>
            <a:r>
              <a:rPr lang="de-DE" sz="2000" dirty="0" err="1"/>
              <a:t>entities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 err="1"/>
              <a:t>acting</a:t>
            </a:r>
            <a:r>
              <a:rPr lang="de-DE" sz="2000" dirty="0"/>
              <a:t> on </a:t>
            </a:r>
            <a:r>
              <a:rPr lang="de-DE" sz="2000" dirty="0" err="1"/>
              <a:t>goals</a:t>
            </a:r>
            <a:r>
              <a:rPr lang="de-DE" sz="2000" dirty="0"/>
              <a:t>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tasks</a:t>
            </a:r>
            <a:endParaRPr lang="de-DE" sz="20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0A239DC-E007-4DEE-0753-ACE01E85E9D0}"/>
              </a:ext>
            </a:extLst>
          </p:cNvPr>
          <p:cNvSpPr txBox="1"/>
          <p:nvPr/>
        </p:nvSpPr>
        <p:spPr>
          <a:xfrm>
            <a:off x="1055914" y="3339574"/>
            <a:ext cx="20410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passive, </a:t>
            </a:r>
            <a:r>
              <a:rPr lang="de-DE" sz="2000" dirty="0" err="1"/>
              <a:t>reactive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 err="1"/>
              <a:t>responding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user</a:t>
            </a:r>
            <a:r>
              <a:rPr lang="de-DE" sz="2000" dirty="0"/>
              <a:t> </a:t>
            </a:r>
            <a:r>
              <a:rPr lang="de-DE" sz="2000" dirty="0" err="1"/>
              <a:t>prompts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35033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1611</Words>
  <Application>Microsoft Macintosh PowerPoint</Application>
  <PresentationFormat>Breitbild</PresentationFormat>
  <Paragraphs>211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.AppleSystemUIFont</vt:lpstr>
      <vt:lpstr>Aptos</vt:lpstr>
      <vt:lpstr>Aptos Display</vt:lpstr>
      <vt:lpstr>Arial</vt:lpstr>
      <vt:lpstr>Calibri</vt:lpstr>
      <vt:lpstr>Cambria Math</vt:lpstr>
      <vt:lpstr>Wingdings</vt:lpstr>
      <vt:lpstr>Office</vt:lpstr>
      <vt:lpstr>Finetuning</vt:lpstr>
      <vt:lpstr>Course Contents</vt:lpstr>
      <vt:lpstr>This Part: Finetuning</vt:lpstr>
      <vt:lpstr>Modern Language Models in a Nutshell</vt:lpstr>
      <vt:lpstr>Transfer Learning from Foundation Models</vt:lpstr>
      <vt:lpstr>Finetuning of BERT</vt:lpstr>
      <vt:lpstr>Example: Sequence Classification</vt:lpstr>
      <vt:lpstr>Next-Sentence Prediction (NSP) in BERT</vt:lpstr>
      <vt:lpstr>BERT Variants</vt:lpstr>
      <vt:lpstr>Example: Sentence Embeddings</vt:lpstr>
      <vt:lpstr>SBERT</vt:lpstr>
      <vt:lpstr>Example: Token Classification</vt:lpstr>
      <vt:lpstr>Finetuning Scenarios</vt:lpstr>
      <vt:lpstr>Instruction Tuning</vt:lpstr>
      <vt:lpstr>Instruction Tuning Data</vt:lpstr>
      <vt:lpstr>Base vs Instruction-tuned LLM</vt:lpstr>
      <vt:lpstr>PowerPoint-Präsentation</vt:lpstr>
      <vt:lpstr>Use Cases of Instruction Tuning</vt:lpstr>
      <vt:lpstr>Parameter-Efficient Finetuning (PEFT)</vt:lpstr>
      <vt:lpstr>Preference Alignment</vt:lpstr>
      <vt:lpstr>Aside: Policy Gradient Method </vt:lpstr>
      <vt:lpstr>GPT-3  InstructGPT  ChatGPT</vt:lpstr>
      <vt:lpstr>Other Methods for Preference Alignment</vt:lpstr>
      <vt:lpstr>PowerPoint-Präsentation</vt:lpstr>
      <vt:lpstr>Next: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173</cp:revision>
  <dcterms:created xsi:type="dcterms:W3CDTF">2025-07-07T13:23:51Z</dcterms:created>
  <dcterms:modified xsi:type="dcterms:W3CDTF">2025-09-19T19:51:12Z</dcterms:modified>
</cp:coreProperties>
</file>