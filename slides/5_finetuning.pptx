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1"/>
  </p:sldMasterIdLst>
  <p:notesMasterIdLst>
    <p:notesMasterId r:id="rId28"/>
  </p:notesMasterIdLst>
  <p:sldIdLst>
    <p:sldId id="256" r:id="rId2"/>
    <p:sldId id="792" r:id="rId3"/>
    <p:sldId id="790" r:id="rId4"/>
    <p:sldId id="811" r:id="rId5"/>
    <p:sldId id="754" r:id="rId6"/>
    <p:sldId id="832" r:id="rId7"/>
    <p:sldId id="816" r:id="rId8"/>
    <p:sldId id="834" r:id="rId9"/>
    <p:sldId id="833" r:id="rId10"/>
    <p:sldId id="815" r:id="rId11"/>
    <p:sldId id="814" r:id="rId12"/>
    <p:sldId id="804" r:id="rId13"/>
    <p:sldId id="812" r:id="rId14"/>
    <p:sldId id="736" r:id="rId15"/>
    <p:sldId id="766" r:id="rId16"/>
    <p:sldId id="280" r:id="rId17"/>
    <p:sldId id="828" r:id="rId18"/>
    <p:sldId id="810" r:id="rId19"/>
    <p:sldId id="829" r:id="rId20"/>
    <p:sldId id="827" r:id="rId21"/>
    <p:sldId id="830" r:id="rId22"/>
    <p:sldId id="800" r:id="rId23"/>
    <p:sldId id="819" r:id="rId24"/>
    <p:sldId id="821" r:id="rId25"/>
    <p:sldId id="831" r:id="rId26"/>
    <p:sldId id="333" r:id="rId27"/>
  </p:sldIdLst>
  <p:sldSz cx="12192000" cy="6858000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047"/>
    <p:restoredTop sz="94663"/>
  </p:normalViewPr>
  <p:slideViewPr>
    <p:cSldViewPr snapToGrid="0">
      <p:cViewPr varScale="1">
        <p:scale>
          <a:sx n="117" d="100"/>
          <a:sy n="117" d="100"/>
        </p:scale>
        <p:origin x="1192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viewProps" Target="viewProps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56648FB5-C09B-4C87-AEF3-A553C798BCF5}" type="doc">
      <dgm:prSet loTypeId="urn:microsoft.com/office/officeart/2008/layout/LinedList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1EA944AD-327D-427D-A5F0-7AE39B4AFACB}">
      <dgm:prSet/>
      <dgm:spPr/>
      <dgm:t>
        <a:bodyPr/>
        <a:lstStyle/>
        <a:p>
          <a:r>
            <a:rPr lang="de-DE" b="0" dirty="0"/>
            <a:t>Deep Learning</a:t>
          </a:r>
          <a:endParaRPr lang="en-US" b="0" dirty="0"/>
        </a:p>
      </dgm:t>
    </dgm:pt>
    <dgm:pt modelId="{C379FD06-505A-41F8-9A66-4E9F695F9C1A}" type="parTrans" cxnId="{946460B5-6A24-4AD5-9BDB-D5E7AE78994B}">
      <dgm:prSet/>
      <dgm:spPr/>
      <dgm:t>
        <a:bodyPr/>
        <a:lstStyle/>
        <a:p>
          <a:endParaRPr lang="en-US"/>
        </a:p>
      </dgm:t>
    </dgm:pt>
    <dgm:pt modelId="{AD9B37F6-7A60-4E62-AE70-54601B347097}" type="sibTrans" cxnId="{946460B5-6A24-4AD5-9BDB-D5E7AE78994B}">
      <dgm:prSet/>
      <dgm:spPr/>
      <dgm:t>
        <a:bodyPr/>
        <a:lstStyle/>
        <a:p>
          <a:endParaRPr lang="en-US"/>
        </a:p>
      </dgm:t>
    </dgm:pt>
    <dgm:pt modelId="{0C6B1536-6269-470E-891B-548B1A1741C8}">
      <dgm:prSet/>
      <dgm:spPr/>
      <dgm:t>
        <a:bodyPr/>
        <a:lstStyle/>
        <a:p>
          <a:r>
            <a:rPr lang="de-DE" b="0" dirty="0"/>
            <a:t>Transformer</a:t>
          </a:r>
          <a:endParaRPr lang="en-US" b="0" dirty="0"/>
        </a:p>
      </dgm:t>
    </dgm:pt>
    <dgm:pt modelId="{BA3188B2-0301-4CA0-AC58-59A0732D4CC9}" type="parTrans" cxnId="{7F381230-3114-44FB-913E-0CD35BF36BA2}">
      <dgm:prSet/>
      <dgm:spPr/>
      <dgm:t>
        <a:bodyPr/>
        <a:lstStyle/>
        <a:p>
          <a:endParaRPr lang="en-US"/>
        </a:p>
      </dgm:t>
    </dgm:pt>
    <dgm:pt modelId="{E7BF0292-5C5E-44B5-9020-5B605116E8F8}" type="sibTrans" cxnId="{7F381230-3114-44FB-913E-0CD35BF36BA2}">
      <dgm:prSet/>
      <dgm:spPr/>
      <dgm:t>
        <a:bodyPr/>
        <a:lstStyle/>
        <a:p>
          <a:endParaRPr lang="en-US"/>
        </a:p>
      </dgm:t>
    </dgm:pt>
    <dgm:pt modelId="{DDA901FD-5C05-41F1-A824-5C833C35698E}">
      <dgm:prSet/>
      <dgm:spPr/>
      <dgm:t>
        <a:bodyPr/>
        <a:lstStyle/>
        <a:p>
          <a:r>
            <a:rPr lang="de-DE" dirty="0" err="1"/>
            <a:t>Agents</a:t>
          </a:r>
          <a:endParaRPr lang="en-US" dirty="0"/>
        </a:p>
      </dgm:t>
    </dgm:pt>
    <dgm:pt modelId="{D760294E-1D9B-408E-B689-8391D4CF7D9C}" type="parTrans" cxnId="{76557D45-55A9-46E4-80D0-E1396A52CE52}">
      <dgm:prSet/>
      <dgm:spPr/>
      <dgm:t>
        <a:bodyPr/>
        <a:lstStyle/>
        <a:p>
          <a:endParaRPr lang="en-US"/>
        </a:p>
      </dgm:t>
    </dgm:pt>
    <dgm:pt modelId="{EDCB14DE-D3C3-4E5C-A331-71113C0250BD}" type="sibTrans" cxnId="{76557D45-55A9-46E4-80D0-E1396A52CE52}">
      <dgm:prSet/>
      <dgm:spPr/>
      <dgm:t>
        <a:bodyPr/>
        <a:lstStyle/>
        <a:p>
          <a:endParaRPr lang="en-US"/>
        </a:p>
      </dgm:t>
    </dgm:pt>
    <dgm:pt modelId="{5F30F6BE-7A6E-4F0D-B3AA-2B05FD8FA60B}">
      <dgm:prSet/>
      <dgm:spPr/>
      <dgm:t>
        <a:bodyPr/>
        <a:lstStyle/>
        <a:p>
          <a:r>
            <a:rPr lang="de-DE" b="0" dirty="0"/>
            <a:t>The Bigger Picture</a:t>
          </a:r>
          <a:endParaRPr lang="en-US" b="0" dirty="0"/>
        </a:p>
      </dgm:t>
    </dgm:pt>
    <dgm:pt modelId="{204DD833-1CD5-42F1-B596-8D8B6D369E5E}" type="parTrans" cxnId="{336AE3DC-37F1-4955-813F-D94B74C0A559}">
      <dgm:prSet/>
      <dgm:spPr/>
      <dgm:t>
        <a:bodyPr/>
        <a:lstStyle/>
        <a:p>
          <a:endParaRPr lang="en-US"/>
        </a:p>
      </dgm:t>
    </dgm:pt>
    <dgm:pt modelId="{838162BB-5917-468F-85CC-DC0FE427929A}" type="sibTrans" cxnId="{336AE3DC-37F1-4955-813F-D94B74C0A559}">
      <dgm:prSet/>
      <dgm:spPr/>
      <dgm:t>
        <a:bodyPr/>
        <a:lstStyle/>
        <a:p>
          <a:endParaRPr lang="en-US"/>
        </a:p>
      </dgm:t>
    </dgm:pt>
    <dgm:pt modelId="{5F8A9840-886B-1549-86FA-DFF28283C6F7}">
      <dgm:prSet/>
      <dgm:spPr/>
      <dgm:t>
        <a:bodyPr/>
        <a:lstStyle/>
        <a:p>
          <a:r>
            <a:rPr lang="en-US" b="0" dirty="0"/>
            <a:t>Context Engineering</a:t>
          </a:r>
        </a:p>
      </dgm:t>
    </dgm:pt>
    <dgm:pt modelId="{A0E52CAA-BC0A-2241-8286-5195FC90ACDB}" type="parTrans" cxnId="{9C4437E1-A996-CF40-B2F7-2FD90BC18B8E}">
      <dgm:prSet/>
      <dgm:spPr/>
      <dgm:t>
        <a:bodyPr/>
        <a:lstStyle/>
        <a:p>
          <a:endParaRPr lang="de-DE"/>
        </a:p>
      </dgm:t>
    </dgm:pt>
    <dgm:pt modelId="{1EDED046-CF50-0248-AC64-C3620E7361E1}" type="sibTrans" cxnId="{9C4437E1-A996-CF40-B2F7-2FD90BC18B8E}">
      <dgm:prSet/>
      <dgm:spPr/>
      <dgm:t>
        <a:bodyPr/>
        <a:lstStyle/>
        <a:p>
          <a:endParaRPr lang="de-DE"/>
        </a:p>
      </dgm:t>
    </dgm:pt>
    <dgm:pt modelId="{A5BBF571-5253-6E40-82D7-7DFA55C403EE}">
      <dgm:prSet/>
      <dgm:spPr/>
      <dgm:t>
        <a:bodyPr/>
        <a:lstStyle/>
        <a:p>
          <a:r>
            <a:rPr lang="en-US" b="0" dirty="0"/>
            <a:t>LLMs</a:t>
          </a:r>
        </a:p>
      </dgm:t>
    </dgm:pt>
    <dgm:pt modelId="{3F510184-3A7A-F04A-AB3A-A6DA046D9501}" type="parTrans" cxnId="{47933137-DA02-BE4A-92B7-574CA30C7525}">
      <dgm:prSet/>
      <dgm:spPr/>
      <dgm:t>
        <a:bodyPr/>
        <a:lstStyle/>
        <a:p>
          <a:endParaRPr lang="de-DE"/>
        </a:p>
      </dgm:t>
    </dgm:pt>
    <dgm:pt modelId="{EBB0758C-E85A-AE4B-A658-5E0A4625321C}" type="sibTrans" cxnId="{47933137-DA02-BE4A-92B7-574CA30C7525}">
      <dgm:prSet/>
      <dgm:spPr/>
      <dgm:t>
        <a:bodyPr/>
        <a:lstStyle/>
        <a:p>
          <a:endParaRPr lang="de-DE"/>
        </a:p>
      </dgm:t>
    </dgm:pt>
    <dgm:pt modelId="{288D3E87-5781-4F83-84CB-1610EAD21773}">
      <dgm:prSet/>
      <dgm:spPr/>
      <dgm:t>
        <a:bodyPr/>
        <a:lstStyle/>
        <a:p>
          <a:r>
            <a:rPr lang="de-DE" b="1"/>
            <a:t>Finetuning</a:t>
          </a:r>
          <a:endParaRPr lang="en-US" b="1" dirty="0"/>
        </a:p>
      </dgm:t>
    </dgm:pt>
    <dgm:pt modelId="{E930F8F9-CD27-4F21-8645-528352089D37}" type="sibTrans" cxnId="{4B05A8AF-8E44-411A-9840-24940C52F31E}">
      <dgm:prSet/>
      <dgm:spPr/>
      <dgm:t>
        <a:bodyPr/>
        <a:lstStyle/>
        <a:p>
          <a:endParaRPr lang="en-US"/>
        </a:p>
      </dgm:t>
    </dgm:pt>
    <dgm:pt modelId="{5D1CA44E-A2B8-416C-AF5D-FE642F689AF8}" type="parTrans" cxnId="{4B05A8AF-8E44-411A-9840-24940C52F31E}">
      <dgm:prSet/>
      <dgm:spPr/>
      <dgm:t>
        <a:bodyPr/>
        <a:lstStyle/>
        <a:p>
          <a:endParaRPr lang="en-US"/>
        </a:p>
      </dgm:t>
    </dgm:pt>
    <dgm:pt modelId="{7852B3C2-A44C-F446-9060-CA21A0D28991}" type="pres">
      <dgm:prSet presAssocID="{56648FB5-C09B-4C87-AEF3-A553C798BCF5}" presName="vert0" presStyleCnt="0">
        <dgm:presLayoutVars>
          <dgm:dir/>
          <dgm:animOne val="branch"/>
          <dgm:animLvl val="lvl"/>
        </dgm:presLayoutVars>
      </dgm:prSet>
      <dgm:spPr/>
    </dgm:pt>
    <dgm:pt modelId="{4F1690E2-16BD-2B42-AE98-F2A735104EFA}" type="pres">
      <dgm:prSet presAssocID="{1EA944AD-327D-427D-A5F0-7AE39B4AFACB}" presName="thickLine" presStyleLbl="alignNode1" presStyleIdx="0" presStyleCnt="7"/>
      <dgm:spPr/>
    </dgm:pt>
    <dgm:pt modelId="{7B746AAE-0D31-DE44-A5F6-86F76B8A3E80}" type="pres">
      <dgm:prSet presAssocID="{1EA944AD-327D-427D-A5F0-7AE39B4AFACB}" presName="horz1" presStyleCnt="0"/>
      <dgm:spPr/>
    </dgm:pt>
    <dgm:pt modelId="{D28CB533-C51E-334E-9261-65C425A19706}" type="pres">
      <dgm:prSet presAssocID="{1EA944AD-327D-427D-A5F0-7AE39B4AFACB}" presName="tx1" presStyleLbl="revTx" presStyleIdx="0" presStyleCnt="7"/>
      <dgm:spPr/>
    </dgm:pt>
    <dgm:pt modelId="{4B5756DB-F77A-B44F-B3F7-F3894F36872A}" type="pres">
      <dgm:prSet presAssocID="{1EA944AD-327D-427D-A5F0-7AE39B4AFACB}" presName="vert1" presStyleCnt="0"/>
      <dgm:spPr/>
    </dgm:pt>
    <dgm:pt modelId="{A11F9CE2-7889-D042-B67A-3B946F072596}" type="pres">
      <dgm:prSet presAssocID="{0C6B1536-6269-470E-891B-548B1A1741C8}" presName="thickLine" presStyleLbl="alignNode1" presStyleIdx="1" presStyleCnt="7"/>
      <dgm:spPr/>
    </dgm:pt>
    <dgm:pt modelId="{FDBEDC87-8791-4D44-8FD8-85B48AD39373}" type="pres">
      <dgm:prSet presAssocID="{0C6B1536-6269-470E-891B-548B1A1741C8}" presName="horz1" presStyleCnt="0"/>
      <dgm:spPr/>
    </dgm:pt>
    <dgm:pt modelId="{8D7BB36B-DCB0-1945-8136-BD40AAFC958C}" type="pres">
      <dgm:prSet presAssocID="{0C6B1536-6269-470E-891B-548B1A1741C8}" presName="tx1" presStyleLbl="revTx" presStyleIdx="1" presStyleCnt="7"/>
      <dgm:spPr/>
    </dgm:pt>
    <dgm:pt modelId="{DCBD3594-6E80-0B41-BD87-AFAFE90B7B0C}" type="pres">
      <dgm:prSet presAssocID="{0C6B1536-6269-470E-891B-548B1A1741C8}" presName="vert1" presStyleCnt="0"/>
      <dgm:spPr/>
    </dgm:pt>
    <dgm:pt modelId="{9D950D6B-5C89-8A48-9960-CA8B4C499A1A}" type="pres">
      <dgm:prSet presAssocID="{A5BBF571-5253-6E40-82D7-7DFA55C403EE}" presName="thickLine" presStyleLbl="alignNode1" presStyleIdx="2" presStyleCnt="7"/>
      <dgm:spPr/>
    </dgm:pt>
    <dgm:pt modelId="{743C7BE5-F107-5047-8108-35976C730BE6}" type="pres">
      <dgm:prSet presAssocID="{A5BBF571-5253-6E40-82D7-7DFA55C403EE}" presName="horz1" presStyleCnt="0"/>
      <dgm:spPr/>
    </dgm:pt>
    <dgm:pt modelId="{1B96839A-94C6-3747-AECB-6AFE26E91254}" type="pres">
      <dgm:prSet presAssocID="{A5BBF571-5253-6E40-82D7-7DFA55C403EE}" presName="tx1" presStyleLbl="revTx" presStyleIdx="2" presStyleCnt="7"/>
      <dgm:spPr/>
    </dgm:pt>
    <dgm:pt modelId="{437624BB-39AA-794C-B0F6-B2CF5CA2B5A0}" type="pres">
      <dgm:prSet presAssocID="{A5BBF571-5253-6E40-82D7-7DFA55C403EE}" presName="vert1" presStyleCnt="0"/>
      <dgm:spPr/>
    </dgm:pt>
    <dgm:pt modelId="{34CF0AAF-5C3E-5349-AD9D-2034F634313C}" type="pres">
      <dgm:prSet presAssocID="{5F8A9840-886B-1549-86FA-DFF28283C6F7}" presName="thickLine" presStyleLbl="alignNode1" presStyleIdx="3" presStyleCnt="7"/>
      <dgm:spPr/>
    </dgm:pt>
    <dgm:pt modelId="{2F409A89-4A7E-3D4A-93C7-15493EA49A4E}" type="pres">
      <dgm:prSet presAssocID="{5F8A9840-886B-1549-86FA-DFF28283C6F7}" presName="horz1" presStyleCnt="0"/>
      <dgm:spPr/>
    </dgm:pt>
    <dgm:pt modelId="{D2ABD2C0-EDD7-194E-81CA-D9A5311A1607}" type="pres">
      <dgm:prSet presAssocID="{5F8A9840-886B-1549-86FA-DFF28283C6F7}" presName="tx1" presStyleLbl="revTx" presStyleIdx="3" presStyleCnt="7"/>
      <dgm:spPr/>
    </dgm:pt>
    <dgm:pt modelId="{F666EF11-8510-CD40-BB10-489FF0DA3CFF}" type="pres">
      <dgm:prSet presAssocID="{5F8A9840-886B-1549-86FA-DFF28283C6F7}" presName="vert1" presStyleCnt="0"/>
      <dgm:spPr/>
    </dgm:pt>
    <dgm:pt modelId="{8A505F94-65E4-9D41-AC2C-CCE8BD4C175F}" type="pres">
      <dgm:prSet presAssocID="{288D3E87-5781-4F83-84CB-1610EAD21773}" presName="thickLine" presStyleLbl="alignNode1" presStyleIdx="4" presStyleCnt="7"/>
      <dgm:spPr/>
    </dgm:pt>
    <dgm:pt modelId="{B678B193-63FE-3044-8C53-579A035591F8}" type="pres">
      <dgm:prSet presAssocID="{288D3E87-5781-4F83-84CB-1610EAD21773}" presName="horz1" presStyleCnt="0"/>
      <dgm:spPr/>
    </dgm:pt>
    <dgm:pt modelId="{6E572D5D-DE9A-BF49-8B86-50D4250D1411}" type="pres">
      <dgm:prSet presAssocID="{288D3E87-5781-4F83-84CB-1610EAD21773}" presName="tx1" presStyleLbl="revTx" presStyleIdx="4" presStyleCnt="7"/>
      <dgm:spPr/>
    </dgm:pt>
    <dgm:pt modelId="{7F071049-5D5A-2445-8B31-652B1063C281}" type="pres">
      <dgm:prSet presAssocID="{288D3E87-5781-4F83-84CB-1610EAD21773}" presName="vert1" presStyleCnt="0"/>
      <dgm:spPr/>
    </dgm:pt>
    <dgm:pt modelId="{3D5DC94A-13EE-9348-AB63-BA6D7AB77EF3}" type="pres">
      <dgm:prSet presAssocID="{DDA901FD-5C05-41F1-A824-5C833C35698E}" presName="thickLine" presStyleLbl="alignNode1" presStyleIdx="5" presStyleCnt="7"/>
      <dgm:spPr/>
    </dgm:pt>
    <dgm:pt modelId="{27EB4548-6597-7A48-B8EB-8D5D075E0879}" type="pres">
      <dgm:prSet presAssocID="{DDA901FD-5C05-41F1-A824-5C833C35698E}" presName="horz1" presStyleCnt="0"/>
      <dgm:spPr/>
    </dgm:pt>
    <dgm:pt modelId="{B71E94BA-938F-EC4F-AA59-749EE236EA14}" type="pres">
      <dgm:prSet presAssocID="{DDA901FD-5C05-41F1-A824-5C833C35698E}" presName="tx1" presStyleLbl="revTx" presStyleIdx="5" presStyleCnt="7"/>
      <dgm:spPr/>
    </dgm:pt>
    <dgm:pt modelId="{AB286E63-B7A7-4244-8719-A27E1E499373}" type="pres">
      <dgm:prSet presAssocID="{DDA901FD-5C05-41F1-A824-5C833C35698E}" presName="vert1" presStyleCnt="0"/>
      <dgm:spPr/>
    </dgm:pt>
    <dgm:pt modelId="{20D72B1E-AD82-9E49-86D8-09A4DD4D6212}" type="pres">
      <dgm:prSet presAssocID="{5F30F6BE-7A6E-4F0D-B3AA-2B05FD8FA60B}" presName="thickLine" presStyleLbl="alignNode1" presStyleIdx="6" presStyleCnt="7"/>
      <dgm:spPr/>
    </dgm:pt>
    <dgm:pt modelId="{FE30EA44-022B-FF41-BE9E-EF735E26A50E}" type="pres">
      <dgm:prSet presAssocID="{5F30F6BE-7A6E-4F0D-B3AA-2B05FD8FA60B}" presName="horz1" presStyleCnt="0"/>
      <dgm:spPr/>
    </dgm:pt>
    <dgm:pt modelId="{08701614-A5A0-9544-95A3-640A46D860BF}" type="pres">
      <dgm:prSet presAssocID="{5F30F6BE-7A6E-4F0D-B3AA-2B05FD8FA60B}" presName="tx1" presStyleLbl="revTx" presStyleIdx="6" presStyleCnt="7"/>
      <dgm:spPr/>
    </dgm:pt>
    <dgm:pt modelId="{5BC0372B-66B7-0640-8199-37B331256C9A}" type="pres">
      <dgm:prSet presAssocID="{5F30F6BE-7A6E-4F0D-B3AA-2B05FD8FA60B}" presName="vert1" presStyleCnt="0"/>
      <dgm:spPr/>
    </dgm:pt>
  </dgm:ptLst>
  <dgm:cxnLst>
    <dgm:cxn modelId="{48E2F92B-7174-CF40-BB56-062756623EA4}" type="presOf" srcId="{288D3E87-5781-4F83-84CB-1610EAD21773}" destId="{6E572D5D-DE9A-BF49-8B86-50D4250D1411}" srcOrd="0" destOrd="0" presId="urn:microsoft.com/office/officeart/2008/layout/LinedList"/>
    <dgm:cxn modelId="{7F381230-3114-44FB-913E-0CD35BF36BA2}" srcId="{56648FB5-C09B-4C87-AEF3-A553C798BCF5}" destId="{0C6B1536-6269-470E-891B-548B1A1741C8}" srcOrd="1" destOrd="0" parTransId="{BA3188B2-0301-4CA0-AC58-59A0732D4CC9}" sibTransId="{E7BF0292-5C5E-44B5-9020-5B605116E8F8}"/>
    <dgm:cxn modelId="{47933137-DA02-BE4A-92B7-574CA30C7525}" srcId="{56648FB5-C09B-4C87-AEF3-A553C798BCF5}" destId="{A5BBF571-5253-6E40-82D7-7DFA55C403EE}" srcOrd="2" destOrd="0" parTransId="{3F510184-3A7A-F04A-AB3A-A6DA046D9501}" sibTransId="{EBB0758C-E85A-AE4B-A658-5E0A4625321C}"/>
    <dgm:cxn modelId="{76557D45-55A9-46E4-80D0-E1396A52CE52}" srcId="{56648FB5-C09B-4C87-AEF3-A553C798BCF5}" destId="{DDA901FD-5C05-41F1-A824-5C833C35698E}" srcOrd="5" destOrd="0" parTransId="{D760294E-1D9B-408E-B689-8391D4CF7D9C}" sibTransId="{EDCB14DE-D3C3-4E5C-A331-71113C0250BD}"/>
    <dgm:cxn modelId="{DC6A2B55-9959-9E41-8C4C-FB8FF415BF70}" type="presOf" srcId="{A5BBF571-5253-6E40-82D7-7DFA55C403EE}" destId="{1B96839A-94C6-3747-AECB-6AFE26E91254}" srcOrd="0" destOrd="0" presId="urn:microsoft.com/office/officeart/2008/layout/LinedList"/>
    <dgm:cxn modelId="{5328FF68-AF12-2640-82DD-4A8558848644}" type="presOf" srcId="{5F8A9840-886B-1549-86FA-DFF28283C6F7}" destId="{D2ABD2C0-EDD7-194E-81CA-D9A5311A1607}" srcOrd="0" destOrd="0" presId="urn:microsoft.com/office/officeart/2008/layout/LinedList"/>
    <dgm:cxn modelId="{B8B43377-1557-2042-BB5A-D55D04913284}" type="presOf" srcId="{0C6B1536-6269-470E-891B-548B1A1741C8}" destId="{8D7BB36B-DCB0-1945-8136-BD40AAFC958C}" srcOrd="0" destOrd="0" presId="urn:microsoft.com/office/officeart/2008/layout/LinedList"/>
    <dgm:cxn modelId="{C625FD7A-ECA1-B44B-8D2B-E9E9504CD922}" type="presOf" srcId="{5F30F6BE-7A6E-4F0D-B3AA-2B05FD8FA60B}" destId="{08701614-A5A0-9544-95A3-640A46D860BF}" srcOrd="0" destOrd="0" presId="urn:microsoft.com/office/officeart/2008/layout/LinedList"/>
    <dgm:cxn modelId="{D9602A80-E4B9-A44F-8F18-41878FC23717}" type="presOf" srcId="{1EA944AD-327D-427D-A5F0-7AE39B4AFACB}" destId="{D28CB533-C51E-334E-9261-65C425A19706}" srcOrd="0" destOrd="0" presId="urn:microsoft.com/office/officeart/2008/layout/LinedList"/>
    <dgm:cxn modelId="{4B05A8AF-8E44-411A-9840-24940C52F31E}" srcId="{56648FB5-C09B-4C87-AEF3-A553C798BCF5}" destId="{288D3E87-5781-4F83-84CB-1610EAD21773}" srcOrd="4" destOrd="0" parTransId="{5D1CA44E-A2B8-416C-AF5D-FE642F689AF8}" sibTransId="{E930F8F9-CD27-4F21-8645-528352089D37}"/>
    <dgm:cxn modelId="{946460B5-6A24-4AD5-9BDB-D5E7AE78994B}" srcId="{56648FB5-C09B-4C87-AEF3-A553C798BCF5}" destId="{1EA944AD-327D-427D-A5F0-7AE39B4AFACB}" srcOrd="0" destOrd="0" parTransId="{C379FD06-505A-41F8-9A66-4E9F695F9C1A}" sibTransId="{AD9B37F6-7A60-4E62-AE70-54601B347097}"/>
    <dgm:cxn modelId="{AA560ECB-5494-694A-8753-2D77B2337369}" type="presOf" srcId="{DDA901FD-5C05-41F1-A824-5C833C35698E}" destId="{B71E94BA-938F-EC4F-AA59-749EE236EA14}" srcOrd="0" destOrd="0" presId="urn:microsoft.com/office/officeart/2008/layout/LinedList"/>
    <dgm:cxn modelId="{336AE3DC-37F1-4955-813F-D94B74C0A559}" srcId="{56648FB5-C09B-4C87-AEF3-A553C798BCF5}" destId="{5F30F6BE-7A6E-4F0D-B3AA-2B05FD8FA60B}" srcOrd="6" destOrd="0" parTransId="{204DD833-1CD5-42F1-B596-8D8B6D369E5E}" sibTransId="{838162BB-5917-468F-85CC-DC0FE427929A}"/>
    <dgm:cxn modelId="{9C4437E1-A996-CF40-B2F7-2FD90BC18B8E}" srcId="{56648FB5-C09B-4C87-AEF3-A553C798BCF5}" destId="{5F8A9840-886B-1549-86FA-DFF28283C6F7}" srcOrd="3" destOrd="0" parTransId="{A0E52CAA-BC0A-2241-8286-5195FC90ACDB}" sibTransId="{1EDED046-CF50-0248-AC64-C3620E7361E1}"/>
    <dgm:cxn modelId="{83FBB8F5-9153-F24C-B359-92AB22A3F5BF}" type="presOf" srcId="{56648FB5-C09B-4C87-AEF3-A553C798BCF5}" destId="{7852B3C2-A44C-F446-9060-CA21A0D28991}" srcOrd="0" destOrd="0" presId="urn:microsoft.com/office/officeart/2008/layout/LinedList"/>
    <dgm:cxn modelId="{F5D2E861-C6DE-FB42-B7C6-B065F1F84377}" type="presParOf" srcId="{7852B3C2-A44C-F446-9060-CA21A0D28991}" destId="{4F1690E2-16BD-2B42-AE98-F2A735104EFA}" srcOrd="0" destOrd="0" presId="urn:microsoft.com/office/officeart/2008/layout/LinedList"/>
    <dgm:cxn modelId="{5FEB1837-8E5A-1842-B761-DF83A11712CF}" type="presParOf" srcId="{7852B3C2-A44C-F446-9060-CA21A0D28991}" destId="{7B746AAE-0D31-DE44-A5F6-86F76B8A3E80}" srcOrd="1" destOrd="0" presId="urn:microsoft.com/office/officeart/2008/layout/LinedList"/>
    <dgm:cxn modelId="{1E7396B7-9F8F-C842-AA84-A2108E4A965E}" type="presParOf" srcId="{7B746AAE-0D31-DE44-A5F6-86F76B8A3E80}" destId="{D28CB533-C51E-334E-9261-65C425A19706}" srcOrd="0" destOrd="0" presId="urn:microsoft.com/office/officeart/2008/layout/LinedList"/>
    <dgm:cxn modelId="{CA0E3B6D-3363-5D4D-B209-9374F0EBED3A}" type="presParOf" srcId="{7B746AAE-0D31-DE44-A5F6-86F76B8A3E80}" destId="{4B5756DB-F77A-B44F-B3F7-F3894F36872A}" srcOrd="1" destOrd="0" presId="urn:microsoft.com/office/officeart/2008/layout/LinedList"/>
    <dgm:cxn modelId="{42B9A5E9-078D-054D-AE14-35198416E7C7}" type="presParOf" srcId="{7852B3C2-A44C-F446-9060-CA21A0D28991}" destId="{A11F9CE2-7889-D042-B67A-3B946F072596}" srcOrd="2" destOrd="0" presId="urn:microsoft.com/office/officeart/2008/layout/LinedList"/>
    <dgm:cxn modelId="{4BADE72C-6502-F84A-A2A5-96C97CB0161C}" type="presParOf" srcId="{7852B3C2-A44C-F446-9060-CA21A0D28991}" destId="{FDBEDC87-8791-4D44-8FD8-85B48AD39373}" srcOrd="3" destOrd="0" presId="urn:microsoft.com/office/officeart/2008/layout/LinedList"/>
    <dgm:cxn modelId="{9F8EDEB8-D0BF-BC4D-99ED-6B9A4F9D4E71}" type="presParOf" srcId="{FDBEDC87-8791-4D44-8FD8-85B48AD39373}" destId="{8D7BB36B-DCB0-1945-8136-BD40AAFC958C}" srcOrd="0" destOrd="0" presId="urn:microsoft.com/office/officeart/2008/layout/LinedList"/>
    <dgm:cxn modelId="{6C4C1680-6204-3647-A71D-185D971F8D06}" type="presParOf" srcId="{FDBEDC87-8791-4D44-8FD8-85B48AD39373}" destId="{DCBD3594-6E80-0B41-BD87-AFAFE90B7B0C}" srcOrd="1" destOrd="0" presId="urn:microsoft.com/office/officeart/2008/layout/LinedList"/>
    <dgm:cxn modelId="{7D8B3A70-16CC-F84A-9F91-D5B131994F10}" type="presParOf" srcId="{7852B3C2-A44C-F446-9060-CA21A0D28991}" destId="{9D950D6B-5C89-8A48-9960-CA8B4C499A1A}" srcOrd="4" destOrd="0" presId="urn:microsoft.com/office/officeart/2008/layout/LinedList"/>
    <dgm:cxn modelId="{D70F27A6-397A-DC46-AAEC-F9F14C2305DE}" type="presParOf" srcId="{7852B3C2-A44C-F446-9060-CA21A0D28991}" destId="{743C7BE5-F107-5047-8108-35976C730BE6}" srcOrd="5" destOrd="0" presId="urn:microsoft.com/office/officeart/2008/layout/LinedList"/>
    <dgm:cxn modelId="{CC4867C0-5011-5F4E-9804-22ED95B3CC58}" type="presParOf" srcId="{743C7BE5-F107-5047-8108-35976C730BE6}" destId="{1B96839A-94C6-3747-AECB-6AFE26E91254}" srcOrd="0" destOrd="0" presId="urn:microsoft.com/office/officeart/2008/layout/LinedList"/>
    <dgm:cxn modelId="{FD8C6B51-C075-9B49-B1E3-2F72B8A0DF12}" type="presParOf" srcId="{743C7BE5-F107-5047-8108-35976C730BE6}" destId="{437624BB-39AA-794C-B0F6-B2CF5CA2B5A0}" srcOrd="1" destOrd="0" presId="urn:microsoft.com/office/officeart/2008/layout/LinedList"/>
    <dgm:cxn modelId="{A0D8D8B1-D102-CD41-9B65-91AB43686584}" type="presParOf" srcId="{7852B3C2-A44C-F446-9060-CA21A0D28991}" destId="{34CF0AAF-5C3E-5349-AD9D-2034F634313C}" srcOrd="6" destOrd="0" presId="urn:microsoft.com/office/officeart/2008/layout/LinedList"/>
    <dgm:cxn modelId="{157023DC-8251-F747-A790-8E9B78B3C8BE}" type="presParOf" srcId="{7852B3C2-A44C-F446-9060-CA21A0D28991}" destId="{2F409A89-4A7E-3D4A-93C7-15493EA49A4E}" srcOrd="7" destOrd="0" presId="urn:microsoft.com/office/officeart/2008/layout/LinedList"/>
    <dgm:cxn modelId="{D1200007-6A5D-FF43-8575-646BBC8E6C4E}" type="presParOf" srcId="{2F409A89-4A7E-3D4A-93C7-15493EA49A4E}" destId="{D2ABD2C0-EDD7-194E-81CA-D9A5311A1607}" srcOrd="0" destOrd="0" presId="urn:microsoft.com/office/officeart/2008/layout/LinedList"/>
    <dgm:cxn modelId="{87263814-0091-8A4A-828B-0F2A3C686C09}" type="presParOf" srcId="{2F409A89-4A7E-3D4A-93C7-15493EA49A4E}" destId="{F666EF11-8510-CD40-BB10-489FF0DA3CFF}" srcOrd="1" destOrd="0" presId="urn:microsoft.com/office/officeart/2008/layout/LinedList"/>
    <dgm:cxn modelId="{40CF11BD-58ED-0E4F-B3B7-F9CAAA40AD73}" type="presParOf" srcId="{7852B3C2-A44C-F446-9060-CA21A0D28991}" destId="{8A505F94-65E4-9D41-AC2C-CCE8BD4C175F}" srcOrd="8" destOrd="0" presId="urn:microsoft.com/office/officeart/2008/layout/LinedList"/>
    <dgm:cxn modelId="{0B980FB1-5585-2342-BD3C-2366897F0984}" type="presParOf" srcId="{7852B3C2-A44C-F446-9060-CA21A0D28991}" destId="{B678B193-63FE-3044-8C53-579A035591F8}" srcOrd="9" destOrd="0" presId="urn:microsoft.com/office/officeart/2008/layout/LinedList"/>
    <dgm:cxn modelId="{240D9A74-D193-CC40-97CA-ADC859B1D81F}" type="presParOf" srcId="{B678B193-63FE-3044-8C53-579A035591F8}" destId="{6E572D5D-DE9A-BF49-8B86-50D4250D1411}" srcOrd="0" destOrd="0" presId="urn:microsoft.com/office/officeart/2008/layout/LinedList"/>
    <dgm:cxn modelId="{3B1F9830-A4D6-E140-AE33-31C05CB5B37E}" type="presParOf" srcId="{B678B193-63FE-3044-8C53-579A035591F8}" destId="{7F071049-5D5A-2445-8B31-652B1063C281}" srcOrd="1" destOrd="0" presId="urn:microsoft.com/office/officeart/2008/layout/LinedList"/>
    <dgm:cxn modelId="{7A9EE529-C307-D440-8910-336F08C35B83}" type="presParOf" srcId="{7852B3C2-A44C-F446-9060-CA21A0D28991}" destId="{3D5DC94A-13EE-9348-AB63-BA6D7AB77EF3}" srcOrd="10" destOrd="0" presId="urn:microsoft.com/office/officeart/2008/layout/LinedList"/>
    <dgm:cxn modelId="{B6134942-BB7E-6A49-B625-7DF71CC12E8A}" type="presParOf" srcId="{7852B3C2-A44C-F446-9060-CA21A0D28991}" destId="{27EB4548-6597-7A48-B8EB-8D5D075E0879}" srcOrd="11" destOrd="0" presId="urn:microsoft.com/office/officeart/2008/layout/LinedList"/>
    <dgm:cxn modelId="{305C651D-0D92-1E46-AC15-0FFBF9C77550}" type="presParOf" srcId="{27EB4548-6597-7A48-B8EB-8D5D075E0879}" destId="{B71E94BA-938F-EC4F-AA59-749EE236EA14}" srcOrd="0" destOrd="0" presId="urn:microsoft.com/office/officeart/2008/layout/LinedList"/>
    <dgm:cxn modelId="{6A8C2A6C-DA48-E74E-9F29-7B72A279E967}" type="presParOf" srcId="{27EB4548-6597-7A48-B8EB-8D5D075E0879}" destId="{AB286E63-B7A7-4244-8719-A27E1E499373}" srcOrd="1" destOrd="0" presId="urn:microsoft.com/office/officeart/2008/layout/LinedList"/>
    <dgm:cxn modelId="{D4FDD938-A0E5-1344-91E8-DB626E229B73}" type="presParOf" srcId="{7852B3C2-A44C-F446-9060-CA21A0D28991}" destId="{20D72B1E-AD82-9E49-86D8-09A4DD4D6212}" srcOrd="12" destOrd="0" presId="urn:microsoft.com/office/officeart/2008/layout/LinedList"/>
    <dgm:cxn modelId="{3CB3EB14-3FB4-7040-B2C6-572E38DFBAF8}" type="presParOf" srcId="{7852B3C2-A44C-F446-9060-CA21A0D28991}" destId="{FE30EA44-022B-FF41-BE9E-EF735E26A50E}" srcOrd="13" destOrd="0" presId="urn:microsoft.com/office/officeart/2008/layout/LinedList"/>
    <dgm:cxn modelId="{0ECA1AF6-D499-C74C-B742-8D288CCF75FA}" type="presParOf" srcId="{FE30EA44-022B-FF41-BE9E-EF735E26A50E}" destId="{08701614-A5A0-9544-95A3-640A46D860BF}" srcOrd="0" destOrd="0" presId="urn:microsoft.com/office/officeart/2008/layout/LinedList"/>
    <dgm:cxn modelId="{AD84564D-97AD-C847-ACA7-6607F1C92514}" type="presParOf" srcId="{FE30EA44-022B-FF41-BE9E-EF735E26A50E}" destId="{5BC0372B-66B7-0640-8199-37B331256C9A}" srcOrd="1" destOrd="0" presId="urn:microsoft.com/office/officeart/2008/layout/Lined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4F1690E2-16BD-2B42-AE98-F2A735104EFA}">
      <dsp:nvSpPr>
        <dsp:cNvPr id="0" name=""/>
        <dsp:cNvSpPr/>
      </dsp:nvSpPr>
      <dsp:spPr>
        <a:xfrm>
          <a:off x="0" y="531"/>
          <a:ext cx="10515600" cy="0"/>
        </a:xfrm>
        <a:prstGeom prst="lin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D28CB533-C51E-334E-9261-65C425A19706}">
      <dsp:nvSpPr>
        <dsp:cNvPr id="0" name=""/>
        <dsp:cNvSpPr/>
      </dsp:nvSpPr>
      <dsp:spPr>
        <a:xfrm>
          <a:off x="0" y="531"/>
          <a:ext cx="10515600" cy="62146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06680" tIns="106680" rIns="106680" bIns="106680" numCol="1" spcCol="1270" anchor="t" anchorCtr="0">
          <a:noAutofit/>
        </a:bodyPr>
        <a:lstStyle/>
        <a:p>
          <a:pPr marL="0" lvl="0" indent="0" algn="l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2800" b="0" kern="1200" dirty="0"/>
            <a:t>Deep Learning</a:t>
          </a:r>
          <a:endParaRPr lang="en-US" sz="2800" b="0" kern="1200" dirty="0"/>
        </a:p>
      </dsp:txBody>
      <dsp:txXfrm>
        <a:off x="0" y="531"/>
        <a:ext cx="10515600" cy="621467"/>
      </dsp:txXfrm>
    </dsp:sp>
    <dsp:sp modelId="{A11F9CE2-7889-D042-B67A-3B946F072596}">
      <dsp:nvSpPr>
        <dsp:cNvPr id="0" name=""/>
        <dsp:cNvSpPr/>
      </dsp:nvSpPr>
      <dsp:spPr>
        <a:xfrm>
          <a:off x="0" y="621999"/>
          <a:ext cx="10515600" cy="0"/>
        </a:xfrm>
        <a:prstGeom prst="lin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8D7BB36B-DCB0-1945-8136-BD40AAFC958C}">
      <dsp:nvSpPr>
        <dsp:cNvPr id="0" name=""/>
        <dsp:cNvSpPr/>
      </dsp:nvSpPr>
      <dsp:spPr>
        <a:xfrm>
          <a:off x="0" y="621999"/>
          <a:ext cx="10515600" cy="62146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06680" tIns="106680" rIns="106680" bIns="106680" numCol="1" spcCol="1270" anchor="t" anchorCtr="0">
          <a:noAutofit/>
        </a:bodyPr>
        <a:lstStyle/>
        <a:p>
          <a:pPr marL="0" lvl="0" indent="0" algn="l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2800" b="0" kern="1200" dirty="0"/>
            <a:t>Transformer</a:t>
          </a:r>
          <a:endParaRPr lang="en-US" sz="2800" b="0" kern="1200" dirty="0"/>
        </a:p>
      </dsp:txBody>
      <dsp:txXfrm>
        <a:off x="0" y="621999"/>
        <a:ext cx="10515600" cy="621467"/>
      </dsp:txXfrm>
    </dsp:sp>
    <dsp:sp modelId="{9D950D6B-5C89-8A48-9960-CA8B4C499A1A}">
      <dsp:nvSpPr>
        <dsp:cNvPr id="0" name=""/>
        <dsp:cNvSpPr/>
      </dsp:nvSpPr>
      <dsp:spPr>
        <a:xfrm>
          <a:off x="0" y="1243467"/>
          <a:ext cx="10515600" cy="0"/>
        </a:xfrm>
        <a:prstGeom prst="lin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1B96839A-94C6-3747-AECB-6AFE26E91254}">
      <dsp:nvSpPr>
        <dsp:cNvPr id="0" name=""/>
        <dsp:cNvSpPr/>
      </dsp:nvSpPr>
      <dsp:spPr>
        <a:xfrm>
          <a:off x="0" y="1243467"/>
          <a:ext cx="10515600" cy="62146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06680" tIns="106680" rIns="106680" bIns="106680" numCol="1" spcCol="1270" anchor="t" anchorCtr="0">
          <a:noAutofit/>
        </a:bodyPr>
        <a:lstStyle/>
        <a:p>
          <a:pPr marL="0" lvl="0" indent="0" algn="l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800" b="0" kern="1200" dirty="0"/>
            <a:t>LLMs</a:t>
          </a:r>
        </a:p>
      </dsp:txBody>
      <dsp:txXfrm>
        <a:off x="0" y="1243467"/>
        <a:ext cx="10515600" cy="621467"/>
      </dsp:txXfrm>
    </dsp:sp>
    <dsp:sp modelId="{34CF0AAF-5C3E-5349-AD9D-2034F634313C}">
      <dsp:nvSpPr>
        <dsp:cNvPr id="0" name=""/>
        <dsp:cNvSpPr/>
      </dsp:nvSpPr>
      <dsp:spPr>
        <a:xfrm>
          <a:off x="0" y="1864935"/>
          <a:ext cx="10515600" cy="0"/>
        </a:xfrm>
        <a:prstGeom prst="lin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D2ABD2C0-EDD7-194E-81CA-D9A5311A1607}">
      <dsp:nvSpPr>
        <dsp:cNvPr id="0" name=""/>
        <dsp:cNvSpPr/>
      </dsp:nvSpPr>
      <dsp:spPr>
        <a:xfrm>
          <a:off x="0" y="1864935"/>
          <a:ext cx="10515600" cy="62146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06680" tIns="106680" rIns="106680" bIns="106680" numCol="1" spcCol="1270" anchor="t" anchorCtr="0">
          <a:noAutofit/>
        </a:bodyPr>
        <a:lstStyle/>
        <a:p>
          <a:pPr marL="0" lvl="0" indent="0" algn="l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800" b="0" kern="1200" dirty="0"/>
            <a:t>Context Engineering</a:t>
          </a:r>
        </a:p>
      </dsp:txBody>
      <dsp:txXfrm>
        <a:off x="0" y="1864935"/>
        <a:ext cx="10515600" cy="621467"/>
      </dsp:txXfrm>
    </dsp:sp>
    <dsp:sp modelId="{8A505F94-65E4-9D41-AC2C-CCE8BD4C175F}">
      <dsp:nvSpPr>
        <dsp:cNvPr id="0" name=""/>
        <dsp:cNvSpPr/>
      </dsp:nvSpPr>
      <dsp:spPr>
        <a:xfrm>
          <a:off x="0" y="2486402"/>
          <a:ext cx="10515600" cy="0"/>
        </a:xfrm>
        <a:prstGeom prst="lin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6E572D5D-DE9A-BF49-8B86-50D4250D1411}">
      <dsp:nvSpPr>
        <dsp:cNvPr id="0" name=""/>
        <dsp:cNvSpPr/>
      </dsp:nvSpPr>
      <dsp:spPr>
        <a:xfrm>
          <a:off x="0" y="2486402"/>
          <a:ext cx="10515600" cy="62146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06680" tIns="106680" rIns="106680" bIns="106680" numCol="1" spcCol="1270" anchor="t" anchorCtr="0">
          <a:noAutofit/>
        </a:bodyPr>
        <a:lstStyle/>
        <a:p>
          <a:pPr marL="0" lvl="0" indent="0" algn="l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2800" b="1" kern="1200"/>
            <a:t>Finetuning</a:t>
          </a:r>
          <a:endParaRPr lang="en-US" sz="2800" b="1" kern="1200" dirty="0"/>
        </a:p>
      </dsp:txBody>
      <dsp:txXfrm>
        <a:off x="0" y="2486402"/>
        <a:ext cx="10515600" cy="621467"/>
      </dsp:txXfrm>
    </dsp:sp>
    <dsp:sp modelId="{3D5DC94A-13EE-9348-AB63-BA6D7AB77EF3}">
      <dsp:nvSpPr>
        <dsp:cNvPr id="0" name=""/>
        <dsp:cNvSpPr/>
      </dsp:nvSpPr>
      <dsp:spPr>
        <a:xfrm>
          <a:off x="0" y="3107870"/>
          <a:ext cx="10515600" cy="0"/>
        </a:xfrm>
        <a:prstGeom prst="lin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B71E94BA-938F-EC4F-AA59-749EE236EA14}">
      <dsp:nvSpPr>
        <dsp:cNvPr id="0" name=""/>
        <dsp:cNvSpPr/>
      </dsp:nvSpPr>
      <dsp:spPr>
        <a:xfrm>
          <a:off x="0" y="3107870"/>
          <a:ext cx="10515600" cy="62146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06680" tIns="106680" rIns="106680" bIns="106680" numCol="1" spcCol="1270" anchor="t" anchorCtr="0">
          <a:noAutofit/>
        </a:bodyPr>
        <a:lstStyle/>
        <a:p>
          <a:pPr marL="0" lvl="0" indent="0" algn="l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2800" kern="1200" dirty="0" err="1"/>
            <a:t>Agents</a:t>
          </a:r>
          <a:endParaRPr lang="en-US" sz="2800" kern="1200" dirty="0"/>
        </a:p>
      </dsp:txBody>
      <dsp:txXfrm>
        <a:off x="0" y="3107870"/>
        <a:ext cx="10515600" cy="621467"/>
      </dsp:txXfrm>
    </dsp:sp>
    <dsp:sp modelId="{20D72B1E-AD82-9E49-86D8-09A4DD4D6212}">
      <dsp:nvSpPr>
        <dsp:cNvPr id="0" name=""/>
        <dsp:cNvSpPr/>
      </dsp:nvSpPr>
      <dsp:spPr>
        <a:xfrm>
          <a:off x="0" y="3729338"/>
          <a:ext cx="10515600" cy="0"/>
        </a:xfrm>
        <a:prstGeom prst="lin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08701614-A5A0-9544-95A3-640A46D860BF}">
      <dsp:nvSpPr>
        <dsp:cNvPr id="0" name=""/>
        <dsp:cNvSpPr/>
      </dsp:nvSpPr>
      <dsp:spPr>
        <a:xfrm>
          <a:off x="0" y="3729338"/>
          <a:ext cx="10515600" cy="62146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06680" tIns="106680" rIns="106680" bIns="106680" numCol="1" spcCol="1270" anchor="t" anchorCtr="0">
          <a:noAutofit/>
        </a:bodyPr>
        <a:lstStyle/>
        <a:p>
          <a:pPr marL="0" lvl="0" indent="0" algn="l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2800" b="0" kern="1200" dirty="0"/>
            <a:t>The Bigger Picture</a:t>
          </a:r>
          <a:endParaRPr lang="en-US" sz="2800" b="0" kern="1200" dirty="0"/>
        </a:p>
      </dsp:txBody>
      <dsp:txXfrm>
        <a:off x="0" y="3729338"/>
        <a:ext cx="10515600" cy="621467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8/layout/LinedList">
  <dgm:title val=""/>
  <dgm:desc val=""/>
  <dgm:catLst>
    <dgm:cat type="hierarchy" pri="8000"/>
    <dgm:cat type="list" pri="25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13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  <dgm:cxn modelId="5" srcId="1" destId="13" srcOrd="2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clrData>
  <dgm:layoutNode name="vert0">
    <dgm:varLst>
      <dgm:dir/>
      <dgm:animOne val="branch"/>
      <dgm:animLvl val="lvl"/>
    </dgm:varLst>
    <dgm:choose name="Name0">
      <dgm:if name="Name1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horz1" refType="w"/>
      <dgm:constr type="h" for="ch" forName="horz1" refType="h"/>
      <dgm:constr type="h" for="des" forName="vert1" refType="h"/>
      <dgm:constr type="h" for="des" forName="tx1" refType="h"/>
      <dgm:constr type="h" for="des" forName="horz2" refType="h"/>
      <dgm:constr type="h" for="des" forName="vert2" refType="h"/>
      <dgm:constr type="h" for="des" forName="horz3" refType="h"/>
      <dgm:constr type="h" for="des" forName="vert3" refType="h"/>
      <dgm:constr type="h" for="des" forName="horz4" refType="h"/>
      <dgm:constr type="h" for="des" ptType="node" refType="h"/>
      <dgm:constr type="primFontSz" for="des" forName="tx1" op="equ" val="65"/>
      <dgm:constr type="primFontSz" for="des" forName="tx2" op="equ" val="65"/>
      <dgm:constr type="primFontSz" for="des" forName="tx3" op="equ" val="65"/>
      <dgm:constr type="primFontSz" for="des" forName="tx4" op="equ" val="65"/>
      <dgm:constr type="w" for="des" forName="thickLine" refType="w"/>
      <dgm:constr type="h" for="des" forName="thickLine"/>
      <dgm:constr type="h" for="des" forName="thinLine1"/>
      <dgm:constr type="h" for="des" forName="thinLine2b"/>
      <dgm:constr type="h" for="des" forName="thinLine3"/>
      <dgm:constr type="h" for="des" forName="vertSpace2a" refType="h" fact="0.05"/>
      <dgm:constr type="h" for="des" forName="vertSpace2b" refType="h" refFor="des" refForName="vertSpace2a"/>
    </dgm:constrLst>
    <dgm:forEach name="Name3" axis="ch" ptType="node">
      <dgm:layoutNode name="thickLine" styleLbl="alignNode1">
        <dgm:alg type="sp"/>
        <dgm:shape xmlns:r="http://schemas.openxmlformats.org/officeDocument/2006/relationships" type="line" r:blip="">
          <dgm:adjLst/>
        </dgm:shape>
        <dgm:presOf/>
      </dgm:layoutNode>
      <dgm:layoutNode name="horz1">
        <dgm:choose name="Name4">
          <dgm:if name="Name5" func="var" arg="dir" op="equ" val="norm">
            <dgm:alg type="lin">
              <dgm:param type="linDir" val="fromL"/>
              <dgm:param type="nodeVertAlign" val="t"/>
            </dgm:alg>
          </dgm:if>
          <dgm:else name="Name6">
            <dgm:alg type="lin">
              <dgm:param type="linDir" val="fromR"/>
              <dgm:param type="nodeVertAlign" val="t"/>
            </dgm:alg>
          </dgm:else>
        </dgm:choose>
        <dgm:shape xmlns:r="http://schemas.openxmlformats.org/officeDocument/2006/relationships" r:blip="">
          <dgm:adjLst/>
        </dgm:shape>
        <dgm:presOf/>
        <dgm:choose name="Name7">
          <dgm:if name="Name8" axis="root des" func="maxDepth" op="equ" val="1">
            <dgm:constrLst>
              <dgm:constr type="w" for="ch" forName="tx1" refType="w"/>
            </dgm:constrLst>
          </dgm:if>
          <dgm:if name="Name9" axis="root des" func="maxDepth" op="equ" val="2">
            <dgm:constrLst>
              <dgm:constr type="w" for="ch" forName="tx1" refType="w" fact="0.2"/>
              <dgm:constr type="w" for="des" forName="tx2" refType="w" fact="0.785"/>
              <dgm:constr type="w" for="des" forName="horzSpace2" refType="w" fact="0.015"/>
              <dgm:constr type="w" for="des" forName="thinLine2b" refType="w" fact="0.8"/>
            </dgm:constrLst>
          </dgm:if>
          <dgm:if name="Name10" axis="root des" func="maxDepth" op="equ" val="3">
            <dgm:constrLst>
              <dgm:constr type="w" for="ch" forName="tx1" refType="w" fact="0.2"/>
              <dgm:constr type="w" for="des" forName="tx2" refType="w" fact="0.385"/>
              <dgm:constr type="w" for="des" forName="tx3" refType="w" fact="0.385"/>
              <dgm:constr type="w" for="des" forName="horzSpace2" refType="w" fact="0.015"/>
              <dgm:constr type="w" for="des" forName="horzSpace3" refType="w" fact="0.015"/>
              <dgm:constr type="w" for="des" forName="thinLine2b" refType="w" fact="0.8"/>
              <dgm:constr type="w" for="des" forName="thinLine3" refType="w" fact="0.385"/>
            </dgm:constrLst>
          </dgm:if>
          <dgm:if name="Name11" axis="root des" func="maxDepth" op="gte" val="4">
            <dgm:constrLst>
              <dgm:constr type="w" for="ch" forName="tx1" refType="w" fact="0.2"/>
              <dgm:constr type="w" for="des" forName="tx2" refType="w" fact="0.2516"/>
              <dgm:constr type="w" for="des" forName="tx3" refType="w" fact="0.2516"/>
              <dgm:constr type="w" for="des" forName="tx4" refType="w" fact="0.2516"/>
              <dgm:constr type="w" for="des" forName="horzSpace2" refType="w" fact="0.015"/>
              <dgm:constr type="w" for="des" forName="horzSpace3" refType="w" fact="0.015"/>
              <dgm:constr type="w" for="des" forName="horzSpace4" refType="w" fact="0.015"/>
              <dgm:constr type="w" for="des" forName="thinLine2b" refType="w" fact="0.8"/>
              <dgm:constr type="w" for="des" forName="thinLine3" refType="w" fact="0.5332"/>
            </dgm:constrLst>
          </dgm:if>
          <dgm:else name="Name12"/>
        </dgm:choose>
        <dgm:layoutNode name="tx1" styleLbl="revTx">
          <dgm:alg type="tx">
            <dgm:param type="parTxLTRAlign" val="l"/>
            <dgm:param type="parTxRTLAlign" val="r"/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layoutNode name="vert1">
          <dgm:choose name="Name13">
            <dgm:if name="Name14" func="var" arg="dir" op="equ" val="norm">
              <dgm:alg type="lin">
                <dgm:param type="linDir" val="fromT"/>
                <dgm:param type="nodeHorzAlign" val="l"/>
              </dgm:alg>
            </dgm:if>
            <dgm:else name="Name15">
              <dgm:alg type="lin">
                <dgm:param type="linDir" val="fromT"/>
                <dgm:param type="nodeHorzAlign" val="r"/>
              </dgm:alg>
            </dgm:else>
          </dgm:choose>
          <dgm:shape xmlns:r="http://schemas.openxmlformats.org/officeDocument/2006/relationships" r:blip="">
            <dgm:adjLst/>
          </dgm:shape>
          <dgm:presOf/>
          <dgm:forEach name="Name16" axis="ch" ptType="node">
            <dgm:choose name="Name17">
              <dgm:if name="Name18" axis="self" ptType="node" func="pos" op="equ" val="1">
                <dgm:layoutNode name="vertSpace2a">
                  <dgm:alg type="sp"/>
                  <dgm:shape xmlns:r="http://schemas.openxmlformats.org/officeDocument/2006/relationships" r:blip="">
                    <dgm:adjLst/>
                  </dgm:shape>
                  <dgm:presOf/>
                </dgm:layoutNode>
              </dgm:if>
              <dgm:else name="Name19"/>
            </dgm:choose>
            <dgm:layoutNode name="horz2">
              <dgm:choose name="Name20">
                <dgm:if name="Name21" func="var" arg="dir" op="equ" val="norm">
                  <dgm:alg type="lin">
                    <dgm:param type="linDir" val="fromL"/>
                    <dgm:param type="nodeVertAlign" val="t"/>
                  </dgm:alg>
                </dgm:if>
                <dgm:else name="Name22">
                  <dgm:alg type="lin">
                    <dgm:param type="linDir" val="fromR"/>
                    <dgm:param type="nodeVertAlign" val="t"/>
                  </dgm:alg>
                </dgm:else>
              </dgm:choose>
              <dgm:shape xmlns:r="http://schemas.openxmlformats.org/officeDocument/2006/relationships" r:blip="">
                <dgm:adjLst/>
              </dgm:shape>
              <dgm:presOf/>
              <dgm:layoutNode name="horzSpace2">
                <dgm:alg type="sp"/>
                <dgm:shape xmlns:r="http://schemas.openxmlformats.org/officeDocument/2006/relationships" r:blip="">
                  <dgm:adjLst/>
                </dgm:shape>
                <dgm:presOf/>
              </dgm:layoutNode>
              <dgm:layoutNode name="tx2" styleLbl="revTx">
                <dgm:alg type="tx">
                  <dgm:param type="parTxLTRAlign" val="l"/>
                  <dgm:param type="parTxRTLAlign" val="r"/>
                  <dgm:param type="txAnchorVert" val="t"/>
                </dgm:alg>
                <dgm:shape xmlns:r="http://schemas.openxmlformats.org/officeDocument/2006/relationships" type="rect" r:blip="">
                  <dgm:adjLst/>
                </dgm:shape>
                <dgm:presOf axis="self"/>
                <dgm:constrLst>
                  <dgm:constr type="tMarg" refType="primFontSz" fact="0.3"/>
                  <dgm:constr type="bMarg" refType="primFontSz" fact="0.3"/>
                  <dgm:constr type="lMarg" refType="primFontSz" fact="0.3"/>
                  <dgm:constr type="rMarg" refType="primFontSz" fact="0.3"/>
                </dgm:constrLst>
                <dgm:ruleLst>
                  <dgm:rule type="primFontSz" val="5" fact="NaN" max="NaN"/>
                </dgm:ruleLst>
              </dgm:layoutNode>
              <dgm:layoutNode name="vert2">
                <dgm:choose name="Name23">
                  <dgm:if name="Name24" func="var" arg="dir" op="equ" val="norm">
                    <dgm:alg type="lin">
                      <dgm:param type="linDir" val="fromT"/>
                      <dgm:param type="nodeHorzAlign" val="l"/>
                    </dgm:alg>
                  </dgm:if>
                  <dgm:else name="Name25">
                    <dgm:alg type="lin">
                      <dgm:param type="linDir" val="fromT"/>
                      <dgm:param type="nodeHorzAlign" val="r"/>
                    </dgm:alg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forEach name="Name26" axis="ch" ptType="node">
                  <dgm:layoutNode name="horz3">
                    <dgm:choose name="Name27">
                      <dgm:if name="Name28" func="var" arg="dir" op="equ" val="norm">
                        <dgm:alg type="lin">
                          <dgm:param type="linDir" val="fromL"/>
                          <dgm:param type="nodeVertAlign" val="t"/>
                        </dgm:alg>
                      </dgm:if>
                      <dgm:else name="Name29">
                        <dgm:alg type="lin">
                          <dgm:param type="linDir" val="fromR"/>
                          <dgm:param type="nodeVertAlign" val="t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layoutNode name="horzSpace3">
                      <dgm:alg type="sp"/>
                      <dgm:shape xmlns:r="http://schemas.openxmlformats.org/officeDocument/2006/relationships" r:blip="">
                        <dgm:adjLst/>
                      </dgm:shape>
                      <dgm:presOf/>
                    </dgm:layoutNode>
                    <dgm:layoutNode name="tx3" styleLbl="revTx">
                      <dgm:alg type="tx">
                        <dgm:param type="parTxLTRAlign" val="l"/>
                        <dgm:param type="parTxRTLAlign" val="r"/>
                        <dgm:param type="txAnchorVert" val="t"/>
                      </dgm:alg>
                      <dgm:shape xmlns:r="http://schemas.openxmlformats.org/officeDocument/2006/relationships" type="rect" r:blip="">
                        <dgm:adjLst/>
                      </dgm:shape>
                      <dgm:presOf axis="self"/>
                      <dgm:constrLst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vert3">
                      <dgm:choose name="Name30">
                        <dgm:if name="Name31" func="var" arg="dir" op="equ" val="norm">
                          <dgm:alg type="lin">
                            <dgm:param type="linDir" val="fromT"/>
                            <dgm:param type="nodeHorzAlign" val="l"/>
                          </dgm:alg>
                        </dgm:if>
                        <dgm:else name="Name32">
                          <dgm:alg type="lin">
                            <dgm:param type="linDir" val="fromT"/>
                            <dgm:param type="nodeHorzAlign" val="r"/>
                          </dgm:alg>
                        </dgm:else>
                      </dgm:choose>
                      <dgm:shape xmlns:r="http://schemas.openxmlformats.org/officeDocument/2006/relationships" r:blip="">
                        <dgm:adjLst/>
                      </dgm:shape>
                      <dgm:presOf/>
                      <dgm:forEach name="Name33" axis="ch" ptType="node">
                        <dgm:layoutNode name="horz4">
                          <dgm:choose name="Name34">
                            <dgm:if name="Name35" func="var" arg="dir" op="equ" val="norm">
                              <dgm:alg type="lin">
                                <dgm:param type="linDir" val="fromL"/>
                                <dgm:param type="nodeVertAlign" val="t"/>
                              </dgm:alg>
                            </dgm:if>
                            <dgm:else name="Name36">
                              <dgm:alg type="lin">
                                <dgm:param type="linDir" val="fromR"/>
                                <dgm:param type="nodeVertAlign" val="t"/>
                              </dgm:alg>
                            </dgm:else>
                          </dgm:choose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layoutNode name="horzSpace4">
                            <dgm:alg type="sp"/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</dgm:layoutNode>
                          <dgm:layoutNode name="tx4" styleLbl="revTx">
                            <dgm:varLst>
                              <dgm:bulletEnabled val="1"/>
                            </dgm:varLst>
                            <dgm:alg type="tx">
                              <dgm:param type="parTxLTRAlign" val="l"/>
                              <dgm:param type="parTxRTLAlign" val="r"/>
                              <dgm:param type="txAnchorVert" val="t"/>
                            </dgm:alg>
                            <dgm:shape xmlns:r="http://schemas.openxmlformats.org/officeDocument/2006/relationships" type="rect" r:blip="">
                              <dgm:adjLst/>
                            </dgm:shape>
                            <dgm:presOf axis="desOrSelf" ptType="node"/>
                            <dgm:constrLst>
                              <dgm:constr type="tMarg" refType="primFontSz" fact="0.3"/>
                              <dgm:constr type="bMarg" refType="primFontSz" fact="0.3"/>
                              <dgm:constr type="lMarg" refType="primFontSz" fact="0.3"/>
                              <dgm:constr type="rMarg" refType="primFontSz" fact="0.3"/>
                            </dgm:constrLst>
                            <dgm:ruleLst>
                              <dgm:rule type="primFontSz" val="5" fact="NaN" max="NaN"/>
                            </dgm:ruleLst>
                          </dgm:layoutNode>
                        </dgm:layoutNode>
                      </dgm:forEach>
                    </dgm:layoutNode>
                  </dgm:layoutNode>
                  <dgm:forEach name="Name37" axis="followSib" ptType="sibTrans" cnt="1">
                    <dgm:layoutNode name="thinLine3" styleLbl="callout">
                      <dgm:alg type="sp"/>
                      <dgm:shape xmlns:r="http://schemas.openxmlformats.org/officeDocument/2006/relationships" type="line" r:blip="">
                        <dgm:adjLst/>
                      </dgm:shape>
                      <dgm:presOf/>
                    </dgm:layoutNode>
                  </dgm:forEach>
                </dgm:forEach>
              </dgm:layoutNode>
            </dgm:layoutNode>
            <dgm:layoutNode name="thinLine2b" styleLbl="callout">
              <dgm:alg type="sp"/>
              <dgm:shape xmlns:r="http://schemas.openxmlformats.org/officeDocument/2006/relationships" type="line" r:blip="">
                <dgm:adjLst/>
              </dgm:shape>
              <dgm:presOf/>
            </dgm:layoutNode>
            <dgm:layoutNode name="vertSpace2b">
              <dgm:alg type="sp"/>
              <dgm:shape xmlns:r="http://schemas.openxmlformats.org/officeDocument/2006/relationships" r:blip="">
                <dgm:adjLst/>
              </dgm:shape>
              <dgm:presOf/>
            </dgm:layoutNode>
          </dgm:forEach>
        </dgm:layoutNode>
      </dgm:layoutNode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7938448-F949-A340-94CF-EFC7FB146DC3}" type="datetimeFigureOut">
              <a:rPr lang="de-DE" smtClean="0"/>
              <a:t>12.09.25</a:t>
            </a:fld>
            <a:endParaRPr lang="de-DE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e-DE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4788973-CD00-DE47-B22A-36778A77FC1B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16123781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F8F3381-758E-0A6B-C899-EE7B45C9191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9ABE904A-0D34-BF1F-C60B-AB2B79C2160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A17F2103-A9E7-0F7A-20F0-3D0D22546D8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C7ACC2-601D-4B49-AF12-AE7E0A409668}" type="datetime1">
              <a:rPr lang="de-DE" smtClean="0"/>
              <a:t>12.09.25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9DA4E0A6-36C8-1189-39ED-220EA3F9621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9D3ED9AC-2E2B-7D50-57E1-82DB568B4A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55531C-5681-6B44-B2CA-926D7A74B06D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04726307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BF0CFF6-86AD-6ADD-B20D-10768B8185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6416DF11-A587-5A55-A9C7-00ECEB974AA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AD5515BA-ADCD-3F33-A6C7-EA3050DAA96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54D07D-C13F-4E4C-B9AC-279F2B3CA927}" type="datetime1">
              <a:rPr lang="de-DE" smtClean="0"/>
              <a:t>12.09.25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91095CDF-844D-CC6E-6717-53613FEAE1F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9F40EC7B-EDAB-00A6-6F74-C709326537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55531C-5681-6B44-B2CA-926D7A74B06D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77460993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DAC1590-182F-2FCF-C924-4F3EE84439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4DE60AF3-91B0-8C3D-5523-C00018D8E92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74008590-6CEA-A08F-D3D5-07D3C501D4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E61780-2A28-3749-A212-7540F54B9465}" type="datetime1">
              <a:rPr lang="de-DE" smtClean="0"/>
              <a:t>12.09.25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679E25F9-B12A-A47E-8A66-43CB636EE6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5158A3A1-1ED4-2B00-F774-0770579A1B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55531C-5681-6B44-B2CA-926D7A74B06D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02446512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9B74FDE-7C6E-8847-DDBD-9E1BB18D1F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1782620F-4E5D-4917-8505-0C755E88427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12BEAEB3-4A3B-9231-1314-64AB817B0B3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63E2B1EE-5C88-59AD-4B9E-761AE2475B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E8D020-F608-DA44-840A-F653D7B34645}" type="datetime1">
              <a:rPr lang="de-DE" smtClean="0"/>
              <a:t>12.09.25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91FE95AD-80EB-62FF-C99A-9E38000694C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6692B332-87AD-48FB-7E02-68E357726D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55531C-5681-6B44-B2CA-926D7A74B06D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47591121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ECF542A-653F-1437-8B84-07A7E33D16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B1DC182E-D365-DE63-5600-920A7C060A4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1CDFDA3A-9427-025F-5994-3996B4E122F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2DCAF632-C1ED-1E3C-10F3-CDCE7FCFFCF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31A83CEB-0EF1-FFA3-73F4-99558B22D26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7" name="Datumsplatzhalter 6">
            <a:extLst>
              <a:ext uri="{FF2B5EF4-FFF2-40B4-BE49-F238E27FC236}">
                <a16:creationId xmlns:a16="http://schemas.microsoft.com/office/drawing/2014/main" id="{DAEEAC70-EC21-893E-AC85-B37AD25AC4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584096-D809-3C4A-B49B-20A875EFDFE8}" type="datetime1">
              <a:rPr lang="de-DE" smtClean="0"/>
              <a:t>12.09.25</a:t>
            </a:fld>
            <a:endParaRPr lang="de-DE"/>
          </a:p>
        </p:txBody>
      </p:sp>
      <p:sp>
        <p:nvSpPr>
          <p:cNvPr id="8" name="Fußzeilenplatzhalter 7">
            <a:extLst>
              <a:ext uri="{FF2B5EF4-FFF2-40B4-BE49-F238E27FC236}">
                <a16:creationId xmlns:a16="http://schemas.microsoft.com/office/drawing/2014/main" id="{A1A1FA19-17AC-5EB2-96AD-6F9D853831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9" name="Foliennummernplatzhalter 8">
            <a:extLst>
              <a:ext uri="{FF2B5EF4-FFF2-40B4-BE49-F238E27FC236}">
                <a16:creationId xmlns:a16="http://schemas.microsoft.com/office/drawing/2014/main" id="{6823032A-0F25-C17F-2A05-0CCD6E8703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55531C-5681-6B44-B2CA-926D7A74B06D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54266871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383C254-D066-3A14-91DE-A70EBF110B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74A743DC-54A8-CD48-26ED-0D2A07C8C3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338CED-7C3B-D243-A7A7-180C1477BFE9}" type="datetime1">
              <a:rPr lang="de-DE" smtClean="0"/>
              <a:t>12.09.25</a:t>
            </a:fld>
            <a:endParaRPr lang="de-DE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20D36842-29E9-EF66-8D63-2BCBAE4133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47C2C2E3-CAD7-E9F5-63AD-736D4A12B3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55531C-5681-6B44-B2CA-926D7A74B06D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46114532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A4908658-FD8E-0CEF-21BC-B8FF7950FFC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293341-36E1-684C-B37A-E1CF770EFEDF}" type="datetime1">
              <a:rPr lang="de-DE" smtClean="0"/>
              <a:t>12.09.25</a:t>
            </a:fld>
            <a:endParaRPr lang="de-DE"/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44EC9D7A-C677-3F2C-74CE-431B846FD1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1FA1F798-6679-1AE5-2207-1932FDD31D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55531C-5681-6B44-B2CA-926D7A74B06D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57432812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5E89BBD-7D97-E0F7-1065-25AA23667D5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03C46EEB-64CF-7A84-CB75-32E6DA50F73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DB4EAAF5-AD44-3515-D676-A2172B694FA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259EECB0-76E8-CEAF-655D-BFF6669C0B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00489F-99E0-0B4E-AC85-0F547BC7C4E9}" type="datetime1">
              <a:rPr lang="de-DE" smtClean="0"/>
              <a:t>12.09.25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918A5A91-F424-7E07-D578-0E7CC98DEF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F0DD5CA1-07D1-05B6-EA2B-31CBAB224A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55531C-5681-6B44-B2CA-926D7A74B06D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10431134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4DB213C-7480-D134-315D-EADD8D28A2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Bildplatzhalter 2">
            <a:extLst>
              <a:ext uri="{FF2B5EF4-FFF2-40B4-BE49-F238E27FC236}">
                <a16:creationId xmlns:a16="http://schemas.microsoft.com/office/drawing/2014/main" id="{E9467DD8-B9BD-A36F-5B4F-3CE366207E8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de-DE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4700F4BA-D8C5-5332-F436-B65FF860B4A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A777A1C9-E1E6-58BE-52E8-34EC9B8BD2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068F7F-BE24-2A45-927E-12FDF36DDAB4}" type="datetime1">
              <a:rPr lang="de-DE" smtClean="0"/>
              <a:t>12.09.25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1CD30B87-C20C-7EF3-B7A1-61799D636D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C561909B-4950-379F-8A9A-81A057F25F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55531C-5681-6B44-B2CA-926D7A74B06D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40229771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B050051-6EFD-35CE-85D9-C783C6D668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EDB0DD0C-3A69-15AB-3CD0-2DBF5BFE66C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FDC661AC-11CB-9C29-3643-17779ED2456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E06029-94C2-D041-AE64-8D99E258F8A3}" type="datetime1">
              <a:rPr lang="de-DE" smtClean="0"/>
              <a:t>12.09.25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84074B47-69F2-8E3F-A878-A5B29BA96D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28059C75-0843-9F52-F09A-45713AED8D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55531C-5681-6B44-B2CA-926D7A74B06D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20625643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kaler Titel 1">
            <a:extLst>
              <a:ext uri="{FF2B5EF4-FFF2-40B4-BE49-F238E27FC236}">
                <a16:creationId xmlns:a16="http://schemas.microsoft.com/office/drawing/2014/main" id="{83008531-46C2-C27E-E410-4D516F6E39F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8E82FE20-CC8E-8053-BE5E-79D752050FA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62F817AE-96C8-22CB-55CB-28DE3F75C3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EC3790-B7B2-CE44-8ABE-1653D553799B}" type="datetime1">
              <a:rPr lang="de-DE" smtClean="0"/>
              <a:t>12.09.25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30C57D71-8770-E80A-1931-13A2BF38E41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E40A003E-85F4-1C42-C7F1-F9E6A0E17B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55531C-5681-6B44-B2CA-926D7A74B06D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15534993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platzhalter 1">
            <a:extLst>
              <a:ext uri="{FF2B5EF4-FFF2-40B4-BE49-F238E27FC236}">
                <a16:creationId xmlns:a16="http://schemas.microsoft.com/office/drawing/2014/main" id="{AB6AFC4F-27C6-4EAD-2564-2A708281E7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61CFAFB6-DFBC-D5F1-F54C-1D25DA0AE13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A34B3817-4790-FF66-D7D8-C883317450D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E62EDA1-0F0F-7343-82D4-3054E662EA0E}" type="datetime1">
              <a:rPr lang="de-DE" smtClean="0"/>
              <a:t>12.09.25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3B415EF2-7973-74A4-106A-53509B65B0B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09F25449-14F8-CDD0-9C9E-976594BAF3F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055531C-5681-6B44-B2CA-926D7A74B06D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72606393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hyperlink" Target="https://arxiv.org/abs/1810.04805v2" TargetMode="Externa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hyperlink" Target="https://arxiv.org/abs/1910.01108" TargetMode="External"/><Relationship Id="rId2" Type="http://schemas.openxmlformats.org/officeDocument/2006/relationships/hyperlink" Target="https://arxiv.org/abs/1907.11692" TargetMode="Externa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hyperlink" Target="https://mccormickml.com/2019/07/22/BERT-fine-tuning/" TargetMode="External"/><Relationship Id="rId2" Type="http://schemas.openxmlformats.org/officeDocument/2006/relationships/hyperlink" Target="https://www.kaggle.com/competitions/nlp-getting-started/overview" TargetMode="Externa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mccormickml.com/2019/07/22/BERT-fine-tuning/" TargetMode="Externa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researchgate.net/figure/Two-types-of-fine-tuning-techniques-using-pretrained-model-trained-on-ImageNet-The-first_fig2_339658226" TargetMode="External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hyperlink" Target="https://arxiv.org/abs/2109.01652" TargetMode="External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Layout" Target="../slideLayouts/slideLayout6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hyperlink" Target="https://huggingface.co/docs/trl/main/en/sft_trainer" TargetMode="Externa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hyperlink" Target="https://arxiv.org/abs/2203.02155" TargetMode="External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Relationship Id="rId5" Type="http://schemas.openxmlformats.org/officeDocument/2006/relationships/hyperlink" Target="https://arxiv.org/abs/2403.07691v1" TargetMode="External"/><Relationship Id="rId4" Type="http://schemas.openxmlformats.org/officeDocument/2006/relationships/hyperlink" Target="https://arxiv.org/abs/2305.18290" TargetMode="Externa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hyperlink" Target="https://cameronrwolfe.substack.com/p/understanding-and-using-supervised" TargetMode="External"/><Relationship Id="rId2" Type="http://schemas.openxmlformats.org/officeDocument/2006/relationships/hyperlink" Target="https://arxiv.org/abs/2203.02155" TargetMode="Externa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png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hyperlink" Target="https://arxiv.org/abs/2106.09685" TargetMode="Externa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13FF727-F4B3-3376-8344-F8D9ED808345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de-DE" dirty="0"/>
              <a:t>Finetuning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47BD8156-C5C8-1852-17C9-3396BF98F430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de-DE" dirty="0"/>
              <a:t>Language Models</a:t>
            </a:r>
          </a:p>
        </p:txBody>
      </p:sp>
    </p:spTree>
    <p:extLst>
      <p:ext uri="{BB962C8B-B14F-4D97-AF65-F5344CB8AC3E}">
        <p14:creationId xmlns:p14="http://schemas.microsoft.com/office/powerpoint/2010/main" val="367223650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31DC26F-F544-96F9-A23C-5F55F871FB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Course Contents</a:t>
            </a:r>
          </a:p>
        </p:txBody>
      </p:sp>
      <p:graphicFrame>
        <p:nvGraphicFramePr>
          <p:cNvPr id="5" name="Inhaltsplatzhalter 2">
            <a:extLst>
              <a:ext uri="{FF2B5EF4-FFF2-40B4-BE49-F238E27FC236}">
                <a16:creationId xmlns:a16="http://schemas.microsoft.com/office/drawing/2014/main" id="{94E61397-BED1-A35E-59D6-1913902B1876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278787944"/>
              </p:ext>
            </p:extLst>
          </p:nvPr>
        </p:nvGraphicFramePr>
        <p:xfrm>
          <a:off x="838200" y="1825625"/>
          <a:ext cx="10515600" cy="43513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AAA6BD21-F227-F385-D9F5-42230CC456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55531C-5681-6B44-B2CA-926D7A74B06D}" type="slidenum">
              <a:rPr lang="de-DE" smtClean="0"/>
              <a:t>2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66602808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A48D9AF-2ADC-CA80-8AD9-E05797B875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This Part: Finetuning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E003915B-1207-B8C7-B3C1-7DCBD8CC559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 err="1"/>
              <a:t>transfer</a:t>
            </a:r>
            <a:r>
              <a:rPr lang="de-DE" dirty="0"/>
              <a:t> </a:t>
            </a:r>
            <a:r>
              <a:rPr lang="de-DE" dirty="0" err="1"/>
              <a:t>learning</a:t>
            </a:r>
            <a:endParaRPr lang="de-DE" dirty="0"/>
          </a:p>
          <a:p>
            <a:pPr marL="0" indent="0">
              <a:buNone/>
            </a:pPr>
            <a:endParaRPr lang="de-DE" dirty="0"/>
          </a:p>
          <a:p>
            <a:r>
              <a:rPr lang="de-DE" dirty="0" err="1"/>
              <a:t>text</a:t>
            </a:r>
            <a:r>
              <a:rPr lang="de-DE" dirty="0"/>
              <a:t> </a:t>
            </a:r>
            <a:r>
              <a:rPr lang="de-DE" dirty="0" err="1"/>
              <a:t>classification</a:t>
            </a:r>
            <a:endParaRPr lang="de-DE" dirty="0"/>
          </a:p>
          <a:p>
            <a:pPr marL="0" indent="0">
              <a:buNone/>
            </a:pPr>
            <a:endParaRPr lang="de-DE" dirty="0"/>
          </a:p>
          <a:p>
            <a:r>
              <a:rPr lang="de-DE" dirty="0" err="1"/>
              <a:t>instruction</a:t>
            </a:r>
            <a:r>
              <a:rPr lang="de-DE" dirty="0"/>
              <a:t> </a:t>
            </a:r>
            <a:r>
              <a:rPr lang="de-DE" dirty="0" err="1"/>
              <a:t>tuning</a:t>
            </a:r>
            <a:r>
              <a:rPr lang="de-DE" dirty="0"/>
              <a:t>: </a:t>
            </a:r>
            <a:r>
              <a:rPr lang="de-DE" dirty="0" err="1"/>
              <a:t>supervised</a:t>
            </a:r>
            <a:r>
              <a:rPr lang="de-DE" dirty="0"/>
              <a:t> </a:t>
            </a:r>
            <a:r>
              <a:rPr lang="de-DE" dirty="0" err="1"/>
              <a:t>finetuning</a:t>
            </a:r>
            <a:r>
              <a:rPr lang="de-DE" dirty="0"/>
              <a:t>, </a:t>
            </a:r>
            <a:r>
              <a:rPr lang="de-DE" dirty="0" err="1"/>
              <a:t>preference</a:t>
            </a:r>
            <a:r>
              <a:rPr lang="de-DE" dirty="0"/>
              <a:t> </a:t>
            </a:r>
            <a:r>
              <a:rPr lang="de-DE" dirty="0" err="1"/>
              <a:t>alignment</a:t>
            </a:r>
            <a:endParaRPr lang="de-DE" dirty="0"/>
          </a:p>
          <a:p>
            <a:pPr marL="0" indent="0">
              <a:buNone/>
            </a:pPr>
            <a:endParaRPr lang="de-DE" dirty="0"/>
          </a:p>
          <a:p>
            <a:r>
              <a:rPr lang="de-DE" dirty="0" err="1"/>
              <a:t>efficient</a:t>
            </a:r>
            <a:r>
              <a:rPr lang="de-DE" dirty="0"/>
              <a:t> </a:t>
            </a:r>
            <a:r>
              <a:rPr lang="de-DE" dirty="0" err="1"/>
              <a:t>finetuning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DE8C123F-DC22-2183-82AC-AC846FE1A7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55531C-5681-6B44-B2CA-926D7A74B06D}" type="slidenum">
              <a:rPr lang="de-DE" smtClean="0"/>
              <a:t>3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93535156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Abgerundetes Rechteck 7">
            <a:extLst>
              <a:ext uri="{FF2B5EF4-FFF2-40B4-BE49-F238E27FC236}">
                <a16:creationId xmlns:a16="http://schemas.microsoft.com/office/drawing/2014/main" id="{64A12374-ACEF-7777-B3C5-6F49491F5D56}"/>
              </a:ext>
            </a:extLst>
          </p:cNvPr>
          <p:cNvSpPr/>
          <p:nvPr/>
        </p:nvSpPr>
        <p:spPr>
          <a:xfrm>
            <a:off x="745942" y="4719145"/>
            <a:ext cx="10515601" cy="1198178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4" name="Abgerundetes Rechteck 3">
            <a:extLst>
              <a:ext uri="{FF2B5EF4-FFF2-40B4-BE49-F238E27FC236}">
                <a16:creationId xmlns:a16="http://schemas.microsoft.com/office/drawing/2014/main" id="{9D95965F-A1BA-CDDF-A468-03E138217116}"/>
              </a:ext>
            </a:extLst>
          </p:cNvPr>
          <p:cNvSpPr/>
          <p:nvPr/>
        </p:nvSpPr>
        <p:spPr>
          <a:xfrm>
            <a:off x="745942" y="2543504"/>
            <a:ext cx="10515601" cy="1786758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" name="Abgerundetes Rechteck 1">
            <a:extLst>
              <a:ext uri="{FF2B5EF4-FFF2-40B4-BE49-F238E27FC236}">
                <a16:creationId xmlns:a16="http://schemas.microsoft.com/office/drawing/2014/main" id="{2A945196-42B4-0694-0FE2-DC64A74C1330}"/>
              </a:ext>
            </a:extLst>
          </p:cNvPr>
          <p:cNvSpPr/>
          <p:nvPr/>
        </p:nvSpPr>
        <p:spPr>
          <a:xfrm>
            <a:off x="745943" y="1759389"/>
            <a:ext cx="10515601" cy="395232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A6D4E78A-896B-C79A-E2FE-5D9193754C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Modern Language Models in a Nutshell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E908D6CC-B86F-1636-6F85-AB0B7A2A316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pPr marL="0" indent="0">
              <a:buNone/>
            </a:pPr>
            <a:r>
              <a:rPr lang="en-GB" b="1" dirty="0"/>
              <a:t>tokenization</a:t>
            </a:r>
            <a:r>
              <a:rPr lang="en-GB" dirty="0"/>
              <a:t> (split text into chunks)</a:t>
            </a:r>
          </a:p>
          <a:p>
            <a:pPr marL="0" indent="0">
              <a:buNone/>
            </a:pPr>
            <a:endParaRPr lang="en-GB" dirty="0"/>
          </a:p>
          <a:p>
            <a:pPr marL="0" indent="0">
              <a:buNone/>
            </a:pPr>
            <a:r>
              <a:rPr lang="en-GB" b="1" dirty="0"/>
              <a:t>pretraining</a:t>
            </a:r>
            <a:r>
              <a:rPr lang="en-GB" dirty="0"/>
              <a:t> of transformer (next- or masked-token prediction, self-supervised)</a:t>
            </a:r>
          </a:p>
          <a:p>
            <a:r>
              <a:rPr lang="en-GB" dirty="0"/>
              <a:t>vector embeddings from tokens (semantic meaning)</a:t>
            </a:r>
            <a:endParaRPr lang="en-GB" dirty="0">
              <a:sym typeface="Wingdings" pitchFamily="2" charset="2"/>
            </a:endParaRPr>
          </a:p>
          <a:p>
            <a:r>
              <a:rPr lang="en-GB" dirty="0"/>
              <a:t>add positional encoding to embeddings (use order of sequence, as attention is permutation-invariant)</a:t>
            </a:r>
          </a:p>
          <a:p>
            <a:r>
              <a:rPr lang="en-GB" dirty="0"/>
              <a:t>attention mechanism </a:t>
            </a:r>
            <a:r>
              <a:rPr lang="en-GB" dirty="0">
                <a:sym typeface="Wingdings" pitchFamily="2" charset="2"/>
              </a:rPr>
              <a:t></a:t>
            </a:r>
            <a:r>
              <a:rPr lang="en-GB" dirty="0"/>
              <a:t> contextual embeddings</a:t>
            </a:r>
          </a:p>
          <a:p>
            <a:pPr marL="0" indent="0">
              <a:buNone/>
            </a:pPr>
            <a:endParaRPr lang="en-GB" dirty="0"/>
          </a:p>
          <a:p>
            <a:pPr marL="0" indent="0">
              <a:buNone/>
            </a:pPr>
            <a:r>
              <a:rPr lang="en-GB" b="1" dirty="0"/>
              <a:t>finetuning</a:t>
            </a:r>
            <a:r>
              <a:rPr lang="en-GB" dirty="0"/>
              <a:t> (specialization)</a:t>
            </a:r>
          </a:p>
          <a:p>
            <a:r>
              <a:rPr lang="de-DE" dirty="0" err="1"/>
              <a:t>for</a:t>
            </a:r>
            <a:r>
              <a:rPr lang="de-DE" dirty="0"/>
              <a:t> </a:t>
            </a:r>
            <a:r>
              <a:rPr lang="de-DE" dirty="0" err="1"/>
              <a:t>specific</a:t>
            </a:r>
            <a:r>
              <a:rPr lang="de-DE" dirty="0"/>
              <a:t> </a:t>
            </a:r>
            <a:r>
              <a:rPr lang="de-DE" dirty="0" err="1"/>
              <a:t>task</a:t>
            </a:r>
            <a:r>
              <a:rPr lang="de-DE" dirty="0"/>
              <a:t> (</a:t>
            </a:r>
            <a:r>
              <a:rPr lang="de-DE" dirty="0" err="1"/>
              <a:t>encoder</a:t>
            </a:r>
            <a:r>
              <a:rPr lang="de-DE" dirty="0"/>
              <a:t> LLM)</a:t>
            </a:r>
          </a:p>
          <a:p>
            <a:r>
              <a:rPr lang="de-DE" dirty="0" err="1"/>
              <a:t>instruction</a:t>
            </a:r>
            <a:r>
              <a:rPr lang="de-DE" dirty="0"/>
              <a:t> </a:t>
            </a:r>
            <a:r>
              <a:rPr lang="de-DE" dirty="0" err="1"/>
              <a:t>tuning</a:t>
            </a:r>
            <a:r>
              <a:rPr lang="de-DE" dirty="0"/>
              <a:t> (</a:t>
            </a:r>
            <a:r>
              <a:rPr lang="de-DE" dirty="0" err="1"/>
              <a:t>decoder</a:t>
            </a:r>
            <a:r>
              <a:rPr lang="de-DE" dirty="0"/>
              <a:t> LLM), </a:t>
            </a:r>
            <a:r>
              <a:rPr lang="de-DE" dirty="0" err="1"/>
              <a:t>potentially</a:t>
            </a:r>
            <a:r>
              <a:rPr lang="de-DE" dirty="0"/>
              <a:t> </a:t>
            </a:r>
            <a:r>
              <a:rPr lang="de-DE" dirty="0" err="1"/>
              <a:t>followed</a:t>
            </a:r>
            <a:r>
              <a:rPr lang="de-DE" dirty="0"/>
              <a:t> </a:t>
            </a:r>
            <a:r>
              <a:rPr lang="de-DE" dirty="0" err="1"/>
              <a:t>by</a:t>
            </a:r>
            <a:r>
              <a:rPr lang="de-DE" dirty="0"/>
              <a:t> </a:t>
            </a:r>
            <a:r>
              <a:rPr lang="de-DE" dirty="0" err="1"/>
              <a:t>alignment</a:t>
            </a:r>
            <a:endParaRPr lang="de-DE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E568FCF-2CF1-B3CF-F33E-FD3F880A85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9D05A8-43E9-1C49-8606-50AB68220DEC}" type="slidenum">
              <a:rPr lang="en-DE" smtClean="0"/>
              <a:t>4</a:t>
            </a:fld>
            <a:endParaRPr lang="en-DE"/>
          </a:p>
        </p:txBody>
      </p:sp>
      <p:sp>
        <p:nvSpPr>
          <p:cNvPr id="3" name="Textfeld 2">
            <a:extLst>
              <a:ext uri="{FF2B5EF4-FFF2-40B4-BE49-F238E27FC236}">
                <a16:creationId xmlns:a16="http://schemas.microsoft.com/office/drawing/2014/main" id="{FA5C59CD-A8C5-4A51-66B1-AC6DAA4DC971}"/>
              </a:ext>
            </a:extLst>
          </p:cNvPr>
          <p:cNvSpPr txBox="1"/>
          <p:nvPr/>
        </p:nvSpPr>
        <p:spPr>
          <a:xfrm>
            <a:off x="9982200" y="4349813"/>
            <a:ext cx="100540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 err="1">
                <a:solidFill>
                  <a:schemeClr val="bg2">
                    <a:lumMod val="50000"/>
                  </a:schemeClr>
                </a:solidFill>
              </a:rPr>
              <a:t>this</a:t>
            </a:r>
            <a:r>
              <a:rPr lang="de-DE" dirty="0">
                <a:solidFill>
                  <a:schemeClr val="bg2">
                    <a:lumMod val="50000"/>
                  </a:schemeClr>
                </a:solidFill>
              </a:rPr>
              <a:t> </a:t>
            </a:r>
            <a:r>
              <a:rPr lang="de-DE" dirty="0" err="1">
                <a:solidFill>
                  <a:schemeClr val="bg2">
                    <a:lumMod val="50000"/>
                  </a:schemeClr>
                </a:solidFill>
              </a:rPr>
              <a:t>part</a:t>
            </a:r>
            <a:endParaRPr lang="de-DE" dirty="0">
              <a:solidFill>
                <a:schemeClr val="bg2">
                  <a:lumMod val="50000"/>
                </a:schemeClr>
              </a:solidFill>
            </a:endParaRPr>
          </a:p>
        </p:txBody>
      </p:sp>
      <p:cxnSp>
        <p:nvCxnSpPr>
          <p:cNvPr id="11" name="Gerade Verbindung mit Pfeil 10">
            <a:extLst>
              <a:ext uri="{FF2B5EF4-FFF2-40B4-BE49-F238E27FC236}">
                <a16:creationId xmlns:a16="http://schemas.microsoft.com/office/drawing/2014/main" id="{B154CDE4-FDAC-8004-8509-EDFA9015AA8D}"/>
              </a:ext>
            </a:extLst>
          </p:cNvPr>
          <p:cNvCxnSpPr/>
          <p:nvPr/>
        </p:nvCxnSpPr>
        <p:spPr>
          <a:xfrm flipH="1">
            <a:off x="5213131" y="4540469"/>
            <a:ext cx="4769069" cy="704193"/>
          </a:xfrm>
          <a:prstGeom prst="straightConnector1">
            <a:avLst/>
          </a:prstGeom>
          <a:ln>
            <a:solidFill>
              <a:schemeClr val="bg2">
                <a:lumMod val="75000"/>
              </a:schemeClr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902465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3EF7C251-E411-67C1-497C-2BFFEBC05F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Transfer Learning </a:t>
            </a:r>
            <a:r>
              <a:rPr lang="de-DE" dirty="0" err="1"/>
              <a:t>from</a:t>
            </a:r>
            <a:r>
              <a:rPr lang="de-DE" dirty="0"/>
              <a:t> </a:t>
            </a:r>
            <a:r>
              <a:rPr lang="de-DE" dirty="0" err="1"/>
              <a:t>Foundation</a:t>
            </a:r>
            <a:r>
              <a:rPr lang="de-DE" dirty="0"/>
              <a:t> Models</a:t>
            </a:r>
            <a:endParaRPr lang="en-GB" dirty="0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194FF263-6A7E-63B8-37B4-8152AC6DF7E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idea:</a:t>
            </a:r>
          </a:p>
          <a:p>
            <a:pPr marL="0" indent="0">
              <a:buNone/>
            </a:pPr>
            <a:r>
              <a:rPr lang="en-GB" dirty="0"/>
              <a:t>pretrain a big model (called foundation model) on a broad data set, and then use these learnings for subsequent trainings on specific (typically narrow) data by means of feature extraction or finetuning</a:t>
            </a:r>
          </a:p>
          <a:p>
            <a:pPr marL="0" indent="0">
              <a:buNone/>
            </a:pPr>
            <a:endParaRPr lang="en-GB" dirty="0"/>
          </a:p>
          <a:p>
            <a:pPr marL="0" indent="0">
              <a:buNone/>
            </a:pPr>
            <a:r>
              <a:rPr lang="en-GB" dirty="0">
                <a:sym typeface="Wingdings" pitchFamily="2" charset="2"/>
              </a:rPr>
              <a:t> here: self-supervised, internet-scale pretraining of models like BERT or GPT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F0B5BE9-331D-0505-FC7E-005F6B05B6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4C94FE-FF23-4504-88E9-14D481113291}" type="slidenum">
              <a:rPr lang="en-GB" smtClean="0"/>
              <a:t>5</a:t>
            </a:fld>
            <a:endParaRPr lang="en-GB"/>
          </a:p>
        </p:txBody>
      </p:sp>
      <p:sp>
        <p:nvSpPr>
          <p:cNvPr id="2" name="TextBox 4">
            <a:extLst>
              <a:ext uri="{FF2B5EF4-FFF2-40B4-BE49-F238E27FC236}">
                <a16:creationId xmlns:a16="http://schemas.microsoft.com/office/drawing/2014/main" id="{F66358C6-7FB2-EACB-408F-55037CA86FF9}"/>
              </a:ext>
            </a:extLst>
          </p:cNvPr>
          <p:cNvSpPr txBox="1"/>
          <p:nvPr/>
        </p:nvSpPr>
        <p:spPr>
          <a:xfrm>
            <a:off x="2799205" y="5988734"/>
            <a:ext cx="6593589" cy="64633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GB" dirty="0"/>
              <a:t>works well for homogenous, unstructured data (e.g., text, images)</a:t>
            </a:r>
          </a:p>
          <a:p>
            <a:r>
              <a:rPr lang="en-GB" dirty="0"/>
              <a:t>but very difficult for heterogenous, structured/tabular data</a:t>
            </a:r>
          </a:p>
        </p:txBody>
      </p:sp>
    </p:spTree>
    <p:extLst>
      <p:ext uri="{BB962C8B-B14F-4D97-AF65-F5344CB8AC3E}">
        <p14:creationId xmlns:p14="http://schemas.microsoft.com/office/powerpoint/2010/main" val="273314178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6E23BCC-EA2F-2E03-E8A6-ACECAA471E8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B75D134A-03B5-8F8A-AB03-A32CFC6CB2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de-DE" b="1" dirty="0"/>
              <a:t>Classification </a:t>
            </a:r>
            <a:r>
              <a:rPr lang="de-DE" b="1" dirty="0" err="1"/>
              <a:t>tasks</a:t>
            </a:r>
            <a:r>
              <a:rPr lang="de-DE" dirty="0"/>
              <a:t> → [CLS] (</a:t>
            </a:r>
            <a:r>
              <a:rPr lang="de-DE" dirty="0" err="1"/>
              <a:t>or</a:t>
            </a:r>
            <a:r>
              <a:rPr lang="de-DE" dirty="0"/>
              <a:t> </a:t>
            </a:r>
            <a:r>
              <a:rPr lang="de-DE" dirty="0" err="1"/>
              <a:t>sometimes</a:t>
            </a:r>
            <a:r>
              <a:rPr lang="de-DE" dirty="0"/>
              <a:t> </a:t>
            </a:r>
            <a:r>
              <a:rPr lang="de-DE" dirty="0" err="1"/>
              <a:t>average</a:t>
            </a:r>
            <a:r>
              <a:rPr lang="de-DE" dirty="0"/>
              <a:t> </a:t>
            </a:r>
            <a:r>
              <a:rPr lang="de-DE" dirty="0" err="1"/>
              <a:t>pooling</a:t>
            </a:r>
            <a:r>
              <a:rPr lang="de-DE" dirty="0"/>
              <a:t>).</a:t>
            </a:r>
          </a:p>
          <a:p>
            <a:pPr marL="0" indent="0">
              <a:buNone/>
            </a:pPr>
            <a:r>
              <a:rPr lang="de-DE" b="1" dirty="0"/>
              <a:t>Token-level </a:t>
            </a:r>
            <a:r>
              <a:rPr lang="de-DE" b="1" dirty="0" err="1"/>
              <a:t>tasks</a:t>
            </a:r>
            <a:r>
              <a:rPr lang="de-DE" dirty="0"/>
              <a:t> → </a:t>
            </a:r>
            <a:r>
              <a:rPr lang="de-DE" dirty="0" err="1"/>
              <a:t>hidden</a:t>
            </a:r>
            <a:r>
              <a:rPr lang="de-DE" dirty="0"/>
              <a:t> </a:t>
            </a:r>
            <a:r>
              <a:rPr lang="de-DE" dirty="0" err="1"/>
              <a:t>states</a:t>
            </a:r>
            <a:r>
              <a:rPr lang="de-DE" dirty="0"/>
              <a:t> </a:t>
            </a:r>
            <a:r>
              <a:rPr lang="de-DE" dirty="0" err="1"/>
              <a:t>directly</a:t>
            </a:r>
            <a:r>
              <a:rPr lang="de-DE" dirty="0"/>
              <a:t>.</a:t>
            </a:r>
          </a:p>
          <a:p>
            <a:pPr marL="0" indent="0">
              <a:buNone/>
            </a:pPr>
            <a:r>
              <a:rPr lang="de-DE" b="1" dirty="0"/>
              <a:t>MLM</a:t>
            </a:r>
            <a:r>
              <a:rPr lang="de-DE" dirty="0"/>
              <a:t> → </a:t>
            </a:r>
            <a:r>
              <a:rPr lang="de-DE" dirty="0" err="1"/>
              <a:t>masked</a:t>
            </a:r>
            <a:r>
              <a:rPr lang="de-DE" dirty="0"/>
              <a:t> </a:t>
            </a:r>
            <a:r>
              <a:rPr lang="de-DE" dirty="0" err="1"/>
              <a:t>token</a:t>
            </a:r>
            <a:r>
              <a:rPr lang="de-DE" dirty="0"/>
              <a:t> </a:t>
            </a:r>
            <a:r>
              <a:rPr lang="de-DE" dirty="0" err="1"/>
              <a:t>embeddings</a:t>
            </a:r>
            <a:r>
              <a:rPr lang="de-DE" dirty="0"/>
              <a:t> </a:t>
            </a:r>
            <a:r>
              <a:rPr lang="de-DE" dirty="0" err="1"/>
              <a:t>only</a:t>
            </a:r>
            <a:r>
              <a:rPr lang="de-DE" dirty="0"/>
              <a:t>.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C37B8CF4-165F-DCF3-1604-8B15312E52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55531C-5681-6B44-B2CA-926D7A74B06D}" type="slidenum">
              <a:rPr lang="de-DE" smtClean="0"/>
              <a:t>6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84610888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1FF0D77-63F1-825D-6560-C80B0DE3E9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3B55EF91-9EAF-B878-3441-F9D7A7F93FD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de-DE" b="1" dirty="0" err="1"/>
              <a:t>Sequence</a:t>
            </a:r>
            <a:r>
              <a:rPr lang="de-DE" b="1" dirty="0"/>
              <a:t> </a:t>
            </a:r>
            <a:r>
              <a:rPr lang="de-DE" b="1" dirty="0" err="1"/>
              <a:t>classification</a:t>
            </a:r>
            <a:r>
              <a:rPr lang="de-DE" b="1" dirty="0"/>
              <a:t> (</a:t>
            </a:r>
            <a:r>
              <a:rPr lang="de-DE" b="1" dirty="0" err="1"/>
              <a:t>sentiment</a:t>
            </a:r>
            <a:r>
              <a:rPr lang="de-DE" b="1" dirty="0"/>
              <a:t>, </a:t>
            </a:r>
            <a:r>
              <a:rPr lang="de-DE" b="1" dirty="0" err="1"/>
              <a:t>topic</a:t>
            </a:r>
            <a:r>
              <a:rPr lang="de-DE" b="1" dirty="0"/>
              <a:t>, NLI, etc.)</a:t>
            </a:r>
          </a:p>
          <a:p>
            <a:pPr marL="0" indent="0">
              <a:buNone/>
            </a:pPr>
            <a:r>
              <a:rPr lang="de-DE" dirty="0"/>
              <a:t>A </a:t>
            </a:r>
            <a:r>
              <a:rPr lang="de-DE" dirty="0" err="1"/>
              <a:t>special</a:t>
            </a:r>
            <a:r>
              <a:rPr lang="de-DE" dirty="0"/>
              <a:t> </a:t>
            </a:r>
            <a:r>
              <a:rPr lang="de-DE" dirty="0" err="1"/>
              <a:t>token</a:t>
            </a:r>
            <a:r>
              <a:rPr lang="de-DE" dirty="0"/>
              <a:t> </a:t>
            </a:r>
            <a:r>
              <a:rPr lang="de-DE" b="1" dirty="0"/>
              <a:t>[CLS]</a:t>
            </a:r>
            <a:r>
              <a:rPr lang="de-DE" dirty="0"/>
              <a:t> </a:t>
            </a:r>
            <a:r>
              <a:rPr lang="de-DE" dirty="0" err="1"/>
              <a:t>is</a:t>
            </a:r>
            <a:r>
              <a:rPr lang="de-DE" dirty="0"/>
              <a:t> </a:t>
            </a:r>
            <a:r>
              <a:rPr lang="de-DE" dirty="0" err="1"/>
              <a:t>prepended</a:t>
            </a:r>
            <a:r>
              <a:rPr lang="de-DE" dirty="0"/>
              <a:t> </a:t>
            </a:r>
            <a:r>
              <a:rPr lang="de-DE" dirty="0" err="1"/>
              <a:t>to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input</a:t>
            </a:r>
            <a:r>
              <a:rPr lang="de-DE" dirty="0"/>
              <a:t>.</a:t>
            </a:r>
          </a:p>
          <a:p>
            <a:pPr marL="0" indent="0">
              <a:buNone/>
            </a:pPr>
            <a:r>
              <a:rPr lang="de-DE" dirty="0" err="1"/>
              <a:t>Its</a:t>
            </a:r>
            <a:r>
              <a:rPr lang="de-DE" dirty="0"/>
              <a:t> final </a:t>
            </a:r>
            <a:r>
              <a:rPr lang="de-DE" dirty="0" err="1"/>
              <a:t>hidden</a:t>
            </a:r>
            <a:r>
              <a:rPr lang="de-DE" dirty="0"/>
              <a:t> </a:t>
            </a:r>
            <a:r>
              <a:rPr lang="de-DE" dirty="0" err="1"/>
              <a:t>state</a:t>
            </a:r>
            <a:r>
              <a:rPr lang="de-DE" dirty="0"/>
              <a:t> h_{\</a:t>
            </a:r>
            <a:r>
              <a:rPr lang="de-DE" dirty="0" err="1"/>
              <a:t>text</a:t>
            </a:r>
            <a:r>
              <a:rPr lang="de-DE" dirty="0"/>
              <a:t>{[CLS]}} </a:t>
            </a:r>
            <a:r>
              <a:rPr lang="de-DE" dirty="0" err="1"/>
              <a:t>is</a:t>
            </a:r>
            <a:r>
              <a:rPr lang="de-DE" dirty="0"/>
              <a:t> </a:t>
            </a:r>
            <a:r>
              <a:rPr lang="de-DE" dirty="0" err="1"/>
              <a:t>treated</a:t>
            </a:r>
            <a:r>
              <a:rPr lang="de-DE" dirty="0"/>
              <a:t> </a:t>
            </a:r>
            <a:r>
              <a:rPr lang="de-DE" dirty="0" err="1"/>
              <a:t>as</a:t>
            </a:r>
            <a:r>
              <a:rPr lang="de-DE" dirty="0"/>
              <a:t> a </a:t>
            </a:r>
            <a:r>
              <a:rPr lang="de-DE" dirty="0" err="1"/>
              <a:t>summary</a:t>
            </a:r>
            <a:r>
              <a:rPr lang="de-DE" dirty="0"/>
              <a:t>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whole</a:t>
            </a:r>
            <a:r>
              <a:rPr lang="de-DE" dirty="0"/>
              <a:t> </a:t>
            </a:r>
            <a:r>
              <a:rPr lang="de-DE" dirty="0" err="1"/>
              <a:t>sequence</a:t>
            </a:r>
            <a:r>
              <a:rPr lang="de-DE" dirty="0"/>
              <a:t>.</a:t>
            </a:r>
          </a:p>
          <a:p>
            <a:pPr marL="0" indent="0">
              <a:buNone/>
            </a:pPr>
            <a:r>
              <a:rPr lang="de-DE" dirty="0" err="1"/>
              <a:t>That</a:t>
            </a:r>
            <a:r>
              <a:rPr lang="de-DE" dirty="0"/>
              <a:t> </a:t>
            </a:r>
            <a:r>
              <a:rPr lang="de-DE" dirty="0" err="1"/>
              <a:t>vector</a:t>
            </a:r>
            <a:r>
              <a:rPr lang="de-DE" dirty="0"/>
              <a:t> </a:t>
            </a:r>
            <a:r>
              <a:rPr lang="de-DE" dirty="0" err="1"/>
              <a:t>is</a:t>
            </a:r>
            <a:r>
              <a:rPr lang="de-DE" dirty="0"/>
              <a:t> </a:t>
            </a:r>
            <a:r>
              <a:rPr lang="de-DE" dirty="0" err="1"/>
              <a:t>passed</a:t>
            </a:r>
            <a:r>
              <a:rPr lang="de-DE" dirty="0"/>
              <a:t> </a:t>
            </a:r>
            <a:r>
              <a:rPr lang="de-DE" dirty="0" err="1"/>
              <a:t>into</a:t>
            </a:r>
            <a:r>
              <a:rPr lang="de-DE" dirty="0"/>
              <a:t> a linear </a:t>
            </a:r>
            <a:r>
              <a:rPr lang="de-DE" dirty="0" err="1"/>
              <a:t>classification</a:t>
            </a:r>
            <a:r>
              <a:rPr lang="de-DE" dirty="0"/>
              <a:t> </a:t>
            </a:r>
            <a:r>
              <a:rPr lang="de-DE" dirty="0" err="1"/>
              <a:t>head</a:t>
            </a:r>
            <a:r>
              <a:rPr lang="de-DE" dirty="0"/>
              <a:t> → </a:t>
            </a:r>
            <a:r>
              <a:rPr lang="de-DE" dirty="0" err="1"/>
              <a:t>logits</a:t>
            </a:r>
            <a:r>
              <a:rPr lang="de-DE" dirty="0"/>
              <a:t> </a:t>
            </a:r>
            <a:r>
              <a:rPr lang="de-DE" dirty="0" err="1"/>
              <a:t>over</a:t>
            </a:r>
            <a:r>
              <a:rPr lang="de-DE" dirty="0"/>
              <a:t> </a:t>
            </a:r>
            <a:r>
              <a:rPr lang="de-DE" dirty="0" err="1"/>
              <a:t>classes</a:t>
            </a:r>
            <a:r>
              <a:rPr lang="de-DE" dirty="0"/>
              <a:t>.</a:t>
            </a:r>
          </a:p>
          <a:p>
            <a:pPr marL="0" indent="0">
              <a:buNone/>
            </a:pPr>
            <a:r>
              <a:rPr lang="de-DE" b="1" dirty="0" err="1"/>
              <a:t>default</a:t>
            </a:r>
            <a:r>
              <a:rPr lang="de-DE" b="1" dirty="0"/>
              <a:t> in BERT-style </a:t>
            </a:r>
            <a:r>
              <a:rPr lang="de-DE" b="1" dirty="0" err="1"/>
              <a:t>models</a:t>
            </a:r>
            <a:endParaRPr lang="de-DE" b="1" dirty="0"/>
          </a:p>
          <a:p>
            <a:pPr marL="0" indent="0">
              <a:buNone/>
            </a:pPr>
            <a:br>
              <a:rPr lang="de-DE" dirty="0"/>
            </a:br>
            <a:r>
              <a:rPr lang="de-DE" dirty="0"/>
              <a:t>(</a:t>
            </a:r>
            <a:r>
              <a:rPr lang="de-DE" dirty="0" err="1"/>
              <a:t>Some</a:t>
            </a:r>
            <a:r>
              <a:rPr lang="de-DE" dirty="0"/>
              <a:t> </a:t>
            </a:r>
            <a:r>
              <a:rPr lang="de-DE" dirty="0" err="1"/>
              <a:t>variants</a:t>
            </a:r>
            <a:r>
              <a:rPr lang="de-DE" dirty="0"/>
              <a:t> </a:t>
            </a:r>
            <a:r>
              <a:rPr lang="de-DE" dirty="0" err="1"/>
              <a:t>use</a:t>
            </a:r>
            <a:r>
              <a:rPr lang="de-DE" dirty="0"/>
              <a:t> </a:t>
            </a:r>
            <a:r>
              <a:rPr lang="de-DE" b="1" dirty="0" err="1"/>
              <a:t>average</a:t>
            </a:r>
            <a:r>
              <a:rPr lang="de-DE" b="1" dirty="0"/>
              <a:t> </a:t>
            </a:r>
            <a:r>
              <a:rPr lang="de-DE" b="1" dirty="0" err="1"/>
              <a:t>pooling</a:t>
            </a:r>
            <a:r>
              <a:rPr lang="de-DE" dirty="0"/>
              <a:t> </a:t>
            </a:r>
            <a:r>
              <a:rPr lang="de-DE" dirty="0" err="1"/>
              <a:t>over</a:t>
            </a:r>
            <a:r>
              <a:rPr lang="de-DE" dirty="0"/>
              <a:t> all </a:t>
            </a:r>
            <a:r>
              <a:rPr lang="de-DE" dirty="0" err="1"/>
              <a:t>token</a:t>
            </a:r>
            <a:r>
              <a:rPr lang="de-DE" dirty="0"/>
              <a:t> </a:t>
            </a:r>
            <a:r>
              <a:rPr lang="de-DE" dirty="0" err="1"/>
              <a:t>states</a:t>
            </a:r>
            <a:r>
              <a:rPr lang="de-DE" dirty="0"/>
              <a:t> </a:t>
            </a:r>
            <a:r>
              <a:rPr lang="de-DE" dirty="0" err="1"/>
              <a:t>instead</a:t>
            </a:r>
            <a:r>
              <a:rPr lang="de-DE" dirty="0"/>
              <a:t> </a:t>
            </a:r>
            <a:r>
              <a:rPr lang="de-DE" dirty="0" err="1"/>
              <a:t>of</a:t>
            </a:r>
            <a:r>
              <a:rPr lang="de-DE" dirty="0"/>
              <a:t> [CLS], but [CLS] </a:t>
            </a:r>
            <a:r>
              <a:rPr lang="de-DE" dirty="0" err="1"/>
              <a:t>is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original/</a:t>
            </a:r>
            <a:r>
              <a:rPr lang="de-DE" dirty="0" err="1"/>
              <a:t>standard</a:t>
            </a:r>
            <a:r>
              <a:rPr lang="de-DE" dirty="0"/>
              <a:t> </a:t>
            </a:r>
            <a:r>
              <a:rPr lang="de-DE" dirty="0" err="1"/>
              <a:t>choice</a:t>
            </a:r>
            <a:r>
              <a:rPr lang="de-DE" dirty="0"/>
              <a:t>.)</a:t>
            </a:r>
            <a:br>
              <a:rPr lang="de-DE" dirty="0"/>
            </a:b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B04A72D0-DDFF-CBDD-9B6B-E819F5AD25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55531C-5681-6B44-B2CA-926D7A74B06D}" type="slidenum">
              <a:rPr lang="de-DE" smtClean="0"/>
              <a:t>7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00423748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C8D2A51-B38D-9C57-1ABF-8D603A1E55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DFC6E1E0-93F3-C0C8-C345-1BD1F5C25C1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de-DE" b="1" dirty="0"/>
              <a:t>Token </a:t>
            </a:r>
            <a:r>
              <a:rPr lang="de-DE" b="1" dirty="0" err="1"/>
              <a:t>classification</a:t>
            </a:r>
            <a:r>
              <a:rPr lang="de-DE" b="1" dirty="0"/>
              <a:t> (NER, POS </a:t>
            </a:r>
            <a:r>
              <a:rPr lang="de-DE" b="1" dirty="0" err="1"/>
              <a:t>tagging</a:t>
            </a:r>
            <a:r>
              <a:rPr lang="de-DE" b="1" dirty="0"/>
              <a:t>, etc.)</a:t>
            </a:r>
          </a:p>
          <a:p>
            <a:pPr marL="0" indent="0">
              <a:buNone/>
            </a:pPr>
            <a:r>
              <a:rPr lang="de-DE" dirty="0" err="1"/>
              <a:t>Each</a:t>
            </a:r>
            <a:r>
              <a:rPr lang="de-DE" dirty="0"/>
              <a:t> </a:t>
            </a:r>
            <a:r>
              <a:rPr lang="de-DE" dirty="0" err="1"/>
              <a:t>token’s</a:t>
            </a:r>
            <a:r>
              <a:rPr lang="de-DE" dirty="0"/>
              <a:t> </a:t>
            </a:r>
            <a:r>
              <a:rPr lang="de-DE" dirty="0" err="1"/>
              <a:t>hidden</a:t>
            </a:r>
            <a:r>
              <a:rPr lang="de-DE" dirty="0"/>
              <a:t> </a:t>
            </a:r>
            <a:r>
              <a:rPr lang="de-DE" dirty="0" err="1"/>
              <a:t>state</a:t>
            </a:r>
            <a:r>
              <a:rPr lang="de-DE" dirty="0"/>
              <a:t> </a:t>
            </a:r>
            <a:r>
              <a:rPr lang="de-DE" dirty="0" err="1"/>
              <a:t>is</a:t>
            </a:r>
            <a:r>
              <a:rPr lang="de-DE" dirty="0"/>
              <a:t> </a:t>
            </a:r>
            <a:r>
              <a:rPr lang="de-DE" dirty="0" err="1"/>
              <a:t>projected</a:t>
            </a:r>
            <a:r>
              <a:rPr lang="de-DE" dirty="0"/>
              <a:t> </a:t>
            </a:r>
            <a:r>
              <a:rPr lang="de-DE" b="1" dirty="0" err="1"/>
              <a:t>independently</a:t>
            </a:r>
            <a:r>
              <a:rPr lang="de-DE" dirty="0"/>
              <a:t> </a:t>
            </a:r>
            <a:r>
              <a:rPr lang="de-DE" dirty="0" err="1"/>
              <a:t>into</a:t>
            </a:r>
            <a:r>
              <a:rPr lang="de-DE" dirty="0"/>
              <a:t> </a:t>
            </a:r>
            <a:r>
              <a:rPr lang="de-DE" dirty="0" err="1"/>
              <a:t>logits</a:t>
            </a:r>
            <a:r>
              <a:rPr lang="de-DE" dirty="0"/>
              <a:t> (</a:t>
            </a:r>
            <a:r>
              <a:rPr lang="de-DE" dirty="0" err="1"/>
              <a:t>usually</a:t>
            </a:r>
            <a:r>
              <a:rPr lang="de-DE" dirty="0"/>
              <a:t> </a:t>
            </a:r>
            <a:r>
              <a:rPr lang="de-DE" dirty="0" err="1"/>
              <a:t>over</a:t>
            </a:r>
            <a:r>
              <a:rPr lang="de-DE" dirty="0"/>
              <a:t> </a:t>
            </a:r>
            <a:r>
              <a:rPr lang="de-DE" dirty="0" err="1"/>
              <a:t>entity</a:t>
            </a:r>
            <a:r>
              <a:rPr lang="de-DE" dirty="0"/>
              <a:t> </a:t>
            </a:r>
            <a:r>
              <a:rPr lang="de-DE" dirty="0" err="1"/>
              <a:t>labels</a:t>
            </a:r>
            <a:r>
              <a:rPr lang="de-DE" dirty="0"/>
              <a:t>).</a:t>
            </a:r>
          </a:p>
          <a:p>
            <a:pPr marL="0" indent="0">
              <a:buNone/>
            </a:pPr>
            <a:r>
              <a:rPr lang="de-DE" dirty="0" err="1"/>
              <a:t>No</a:t>
            </a:r>
            <a:r>
              <a:rPr lang="de-DE" dirty="0"/>
              <a:t> </a:t>
            </a:r>
            <a:r>
              <a:rPr lang="de-DE" dirty="0" err="1"/>
              <a:t>pooling</a:t>
            </a:r>
            <a:r>
              <a:rPr lang="de-DE" dirty="0"/>
              <a:t>, </a:t>
            </a:r>
            <a:r>
              <a:rPr lang="de-DE" dirty="0" err="1"/>
              <a:t>because</a:t>
            </a:r>
            <a:r>
              <a:rPr lang="de-DE" dirty="0"/>
              <a:t> </a:t>
            </a:r>
            <a:r>
              <a:rPr lang="de-DE" dirty="0" err="1"/>
              <a:t>you</a:t>
            </a:r>
            <a:r>
              <a:rPr lang="de-DE" dirty="0"/>
              <a:t> </a:t>
            </a:r>
            <a:r>
              <a:rPr lang="de-DE" dirty="0" err="1"/>
              <a:t>need</a:t>
            </a:r>
            <a:r>
              <a:rPr lang="de-DE" dirty="0"/>
              <a:t> per-token </a:t>
            </a:r>
            <a:r>
              <a:rPr lang="de-DE" dirty="0" err="1"/>
              <a:t>predictions</a:t>
            </a:r>
            <a:r>
              <a:rPr lang="de-DE" dirty="0"/>
              <a:t>.</a:t>
            </a:r>
          </a:p>
          <a:p>
            <a:pPr marL="0" indent="0">
              <a:buNone/>
            </a:pPr>
            <a:r>
              <a:rPr lang="de-DE" dirty="0" err="1"/>
              <a:t>logits_i</a:t>
            </a:r>
            <a:r>
              <a:rPr lang="de-DE" dirty="0"/>
              <a:t> = </a:t>
            </a:r>
            <a:r>
              <a:rPr lang="de-DE" dirty="0" err="1"/>
              <a:t>h_i</a:t>
            </a:r>
            <a:r>
              <a:rPr lang="de-DE" dirty="0"/>
              <a:t> W + b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1F870D76-8BA8-B35C-291C-27A5AEB557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55531C-5681-6B44-B2CA-926D7A74B06D}" type="slidenum">
              <a:rPr lang="de-DE" smtClean="0"/>
              <a:t>8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78162533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17F9850-863B-4A7C-99A5-A8ED55900F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827E124F-2FF1-163C-3201-2FF90B52D75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de-DE" b="1" dirty="0" err="1"/>
              <a:t>Sentence</a:t>
            </a:r>
            <a:r>
              <a:rPr lang="de-DE" b="1" dirty="0"/>
              <a:t> </a:t>
            </a:r>
            <a:r>
              <a:rPr lang="de-DE" b="1" dirty="0" err="1"/>
              <a:t>similarity</a:t>
            </a:r>
            <a:r>
              <a:rPr lang="de-DE" b="1" dirty="0"/>
              <a:t> / </a:t>
            </a:r>
            <a:r>
              <a:rPr lang="de-DE" b="1" dirty="0" err="1"/>
              <a:t>retrieval</a:t>
            </a:r>
            <a:endParaRPr lang="de-DE" b="1" dirty="0"/>
          </a:p>
          <a:p>
            <a:pPr marL="0" indent="0">
              <a:buNone/>
            </a:pPr>
            <a:r>
              <a:rPr lang="de-DE" dirty="0" err="1"/>
              <a:t>Sometimes</a:t>
            </a:r>
            <a:r>
              <a:rPr lang="de-DE" dirty="0"/>
              <a:t> </a:t>
            </a:r>
            <a:r>
              <a:rPr lang="de-DE" dirty="0" err="1"/>
              <a:t>average</a:t>
            </a:r>
            <a:r>
              <a:rPr lang="de-DE" dirty="0"/>
              <a:t> </a:t>
            </a:r>
            <a:r>
              <a:rPr lang="de-DE" dirty="0" err="1"/>
              <a:t>pooling</a:t>
            </a:r>
            <a:r>
              <a:rPr lang="de-DE" dirty="0"/>
              <a:t> (</a:t>
            </a:r>
            <a:r>
              <a:rPr lang="de-DE" dirty="0" err="1"/>
              <a:t>mean</a:t>
            </a:r>
            <a:r>
              <a:rPr lang="de-DE" dirty="0"/>
              <a:t> </a:t>
            </a:r>
            <a:r>
              <a:rPr lang="de-DE" dirty="0" err="1"/>
              <a:t>of</a:t>
            </a:r>
            <a:r>
              <a:rPr lang="de-DE" dirty="0"/>
              <a:t> all </a:t>
            </a:r>
            <a:r>
              <a:rPr lang="de-DE" dirty="0" err="1"/>
              <a:t>hidden</a:t>
            </a:r>
            <a:r>
              <a:rPr lang="de-DE" dirty="0"/>
              <a:t> </a:t>
            </a:r>
            <a:r>
              <a:rPr lang="de-DE" dirty="0" err="1"/>
              <a:t>states</a:t>
            </a:r>
            <a:r>
              <a:rPr lang="de-DE" dirty="0"/>
              <a:t>) </a:t>
            </a:r>
            <a:r>
              <a:rPr lang="de-DE" dirty="0" err="1"/>
              <a:t>is</a:t>
            </a:r>
            <a:r>
              <a:rPr lang="de-DE" dirty="0"/>
              <a:t> </a:t>
            </a:r>
            <a:r>
              <a:rPr lang="de-DE" dirty="0" err="1"/>
              <a:t>used</a:t>
            </a:r>
            <a:r>
              <a:rPr lang="de-DE" dirty="0"/>
              <a:t> </a:t>
            </a:r>
            <a:r>
              <a:rPr lang="de-DE" dirty="0" err="1"/>
              <a:t>instead</a:t>
            </a:r>
            <a:r>
              <a:rPr lang="de-DE" dirty="0"/>
              <a:t> </a:t>
            </a:r>
            <a:r>
              <a:rPr lang="de-DE" dirty="0" err="1"/>
              <a:t>of</a:t>
            </a:r>
            <a:r>
              <a:rPr lang="de-DE" dirty="0"/>
              <a:t> [CLS], </a:t>
            </a:r>
            <a:r>
              <a:rPr lang="de-DE" dirty="0" err="1"/>
              <a:t>because</a:t>
            </a:r>
            <a:r>
              <a:rPr lang="de-DE" dirty="0"/>
              <a:t> </a:t>
            </a:r>
            <a:r>
              <a:rPr lang="de-DE" dirty="0" err="1"/>
              <a:t>it</a:t>
            </a:r>
            <a:r>
              <a:rPr lang="de-DE" dirty="0"/>
              <a:t> </a:t>
            </a:r>
            <a:r>
              <a:rPr lang="de-DE" dirty="0" err="1"/>
              <a:t>gives</a:t>
            </a:r>
            <a:r>
              <a:rPr lang="de-DE" dirty="0"/>
              <a:t> a smoother </a:t>
            </a:r>
            <a:r>
              <a:rPr lang="de-DE" dirty="0" err="1"/>
              <a:t>representation</a:t>
            </a:r>
            <a:r>
              <a:rPr lang="de-DE" dirty="0"/>
              <a:t> </a:t>
            </a:r>
            <a:r>
              <a:rPr lang="de-DE" dirty="0" err="1"/>
              <a:t>for</a:t>
            </a:r>
            <a:r>
              <a:rPr lang="de-DE" dirty="0"/>
              <a:t> </a:t>
            </a:r>
            <a:r>
              <a:rPr lang="de-DE" dirty="0" err="1"/>
              <a:t>embeddings</a:t>
            </a:r>
            <a:r>
              <a:rPr lang="de-DE" dirty="0"/>
              <a:t>.</a:t>
            </a:r>
          </a:p>
          <a:p>
            <a:pPr marL="0" indent="0">
              <a:buNone/>
            </a:pPr>
            <a:r>
              <a:rPr lang="de-DE" dirty="0" err="1"/>
              <a:t>That’s</a:t>
            </a:r>
            <a:r>
              <a:rPr lang="de-DE" dirty="0"/>
              <a:t> </a:t>
            </a:r>
            <a:r>
              <a:rPr lang="de-DE" dirty="0" err="1"/>
              <a:t>what</a:t>
            </a:r>
            <a:r>
              <a:rPr lang="de-DE" dirty="0"/>
              <a:t> </a:t>
            </a:r>
            <a:r>
              <a:rPr lang="de-DE" b="1" dirty="0" err="1"/>
              <a:t>Sentence</a:t>
            </a:r>
            <a:r>
              <a:rPr lang="de-DE" b="1" dirty="0"/>
              <a:t>-BERT (SBERT)</a:t>
            </a:r>
            <a:r>
              <a:rPr lang="de-DE" dirty="0"/>
              <a:t> </a:t>
            </a:r>
            <a:r>
              <a:rPr lang="de-DE" dirty="0" err="1"/>
              <a:t>does</a:t>
            </a:r>
            <a:r>
              <a:rPr lang="de-DE" dirty="0"/>
              <a:t>.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F3FA2F52-7FFF-92B0-F7A7-623ED745F3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55531C-5681-6B44-B2CA-926D7A74B06D}" type="slidenum">
              <a:rPr lang="de-DE" smtClean="0"/>
              <a:t>9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47622279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893F29B-BD86-3EF8-10C3-E57EA752C0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EF684A05-346A-6203-E269-C1F6CFBE41A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55000" lnSpcReduction="20000"/>
          </a:bodyPr>
          <a:lstStyle/>
          <a:p>
            <a:pPr marL="0" indent="0">
              <a:buNone/>
            </a:pPr>
            <a:r>
              <a:rPr lang="en-GB" dirty="0"/>
              <a:t>but uses a combination (average pooling or [CLS] token) of the hidden states of every token for projection to vector of logits</a:t>
            </a:r>
          </a:p>
          <a:p>
            <a:pPr marL="0" indent="0">
              <a:buNone/>
            </a:pPr>
            <a:endParaRPr lang="de-DE" dirty="0">
              <a:hlinkClick r:id="rId2"/>
            </a:endParaRPr>
          </a:p>
          <a:p>
            <a:pPr marL="0" indent="0">
              <a:buNone/>
            </a:pPr>
            <a:r>
              <a:rPr lang="en-DE">
                <a:hlinkClick r:id="rId2"/>
              </a:rPr>
              <a:t>BERT</a:t>
            </a:r>
            <a:r>
              <a:rPr lang="de-DE" dirty="0"/>
              <a:t> (</a:t>
            </a:r>
            <a:r>
              <a:rPr lang="de-DE" dirty="0" err="1"/>
              <a:t>uses</a:t>
            </a:r>
            <a:r>
              <a:rPr lang="de-DE" dirty="0"/>
              <a:t> </a:t>
            </a:r>
            <a:r>
              <a:rPr lang="en-GB" dirty="0"/>
              <a:t>next-sentence prediction as additional pretraining objective</a:t>
            </a:r>
            <a:r>
              <a:rPr lang="de-DE" dirty="0"/>
              <a:t>)</a:t>
            </a:r>
          </a:p>
          <a:p>
            <a:pPr marL="0" indent="0">
              <a:buNone/>
            </a:pPr>
            <a:endParaRPr lang="de-DE" dirty="0"/>
          </a:p>
          <a:p>
            <a:r>
              <a:rPr lang="de-DE" dirty="0" err="1"/>
              <a:t>For</a:t>
            </a:r>
            <a:r>
              <a:rPr lang="de-DE" dirty="0"/>
              <a:t> </a:t>
            </a:r>
            <a:r>
              <a:rPr lang="de-DE" dirty="0" err="1"/>
              <a:t>each</a:t>
            </a:r>
            <a:r>
              <a:rPr lang="de-DE" dirty="0"/>
              <a:t> </a:t>
            </a:r>
            <a:r>
              <a:rPr lang="de-DE" dirty="0" err="1"/>
              <a:t>token</a:t>
            </a:r>
            <a:r>
              <a:rPr lang="de-DE" dirty="0"/>
              <a:t> </a:t>
            </a:r>
            <a:r>
              <a:rPr lang="de-DE" dirty="0" err="1"/>
              <a:t>selected</a:t>
            </a:r>
            <a:r>
              <a:rPr lang="de-DE" dirty="0"/>
              <a:t> </a:t>
            </a:r>
            <a:r>
              <a:rPr lang="de-DE" dirty="0" err="1"/>
              <a:t>for</a:t>
            </a:r>
            <a:r>
              <a:rPr lang="de-DE" dirty="0"/>
              <a:t> </a:t>
            </a:r>
            <a:r>
              <a:rPr lang="de-DE" dirty="0" err="1"/>
              <a:t>masking</a:t>
            </a:r>
            <a:r>
              <a:rPr lang="de-DE" dirty="0"/>
              <a:t> (15% </a:t>
            </a:r>
            <a:r>
              <a:rPr lang="de-DE" dirty="0" err="1"/>
              <a:t>of</a:t>
            </a:r>
            <a:r>
              <a:rPr lang="de-DE" dirty="0"/>
              <a:t> all </a:t>
            </a:r>
            <a:r>
              <a:rPr lang="de-DE" dirty="0" err="1"/>
              <a:t>tokens</a:t>
            </a:r>
            <a:r>
              <a:rPr lang="de-DE" dirty="0"/>
              <a:t>):</a:t>
            </a:r>
          </a:p>
          <a:p>
            <a:r>
              <a:rPr lang="de-DE" b="1" dirty="0"/>
              <a:t>80% </a:t>
            </a:r>
            <a:r>
              <a:rPr lang="de-DE" b="1" dirty="0" err="1"/>
              <a:t>of</a:t>
            </a:r>
            <a:r>
              <a:rPr lang="de-DE" b="1" dirty="0"/>
              <a:t> </a:t>
            </a:r>
            <a:r>
              <a:rPr lang="de-DE" b="1" dirty="0" err="1"/>
              <a:t>the</a:t>
            </a:r>
            <a:r>
              <a:rPr lang="de-DE" b="1" dirty="0"/>
              <a:t> time</a:t>
            </a:r>
            <a:r>
              <a:rPr lang="de-DE" dirty="0"/>
              <a:t> → </a:t>
            </a:r>
            <a:r>
              <a:rPr lang="de-DE" dirty="0" err="1"/>
              <a:t>Replace</a:t>
            </a:r>
            <a:r>
              <a:rPr lang="de-DE" dirty="0"/>
              <a:t> </a:t>
            </a:r>
            <a:r>
              <a:rPr lang="de-DE" dirty="0" err="1"/>
              <a:t>it</a:t>
            </a:r>
            <a:r>
              <a:rPr lang="de-DE" dirty="0"/>
              <a:t> </a:t>
            </a:r>
            <a:r>
              <a:rPr lang="de-DE" dirty="0" err="1"/>
              <a:t>with</a:t>
            </a:r>
            <a:r>
              <a:rPr lang="de-DE" dirty="0"/>
              <a:t> [MASK].</a:t>
            </a:r>
          </a:p>
          <a:p>
            <a:r>
              <a:rPr lang="de-DE" dirty="0" err="1"/>
              <a:t>Example</a:t>
            </a:r>
            <a:r>
              <a:rPr lang="de-DE" dirty="0"/>
              <a:t>: "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cat</a:t>
            </a:r>
            <a:r>
              <a:rPr lang="de-DE" dirty="0"/>
              <a:t> </a:t>
            </a:r>
            <a:r>
              <a:rPr lang="de-DE" dirty="0" err="1"/>
              <a:t>sat</a:t>
            </a:r>
            <a:r>
              <a:rPr lang="de-DE" dirty="0"/>
              <a:t>" → "</a:t>
            </a:r>
            <a:r>
              <a:rPr lang="de-DE" dirty="0" err="1"/>
              <a:t>the</a:t>
            </a:r>
            <a:r>
              <a:rPr lang="de-DE" dirty="0"/>
              <a:t> [MASK] </a:t>
            </a:r>
            <a:r>
              <a:rPr lang="de-DE" dirty="0" err="1"/>
              <a:t>sat</a:t>
            </a:r>
            <a:r>
              <a:rPr lang="de-DE" dirty="0"/>
              <a:t>".</a:t>
            </a:r>
          </a:p>
          <a:p>
            <a:r>
              <a:rPr lang="de-DE" dirty="0"/>
              <a:t>The </a:t>
            </a:r>
            <a:r>
              <a:rPr lang="de-DE" dirty="0" err="1"/>
              <a:t>embedding</a:t>
            </a:r>
            <a:r>
              <a:rPr lang="de-DE" dirty="0"/>
              <a:t> </a:t>
            </a:r>
            <a:r>
              <a:rPr lang="de-DE" dirty="0" err="1"/>
              <a:t>is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learned</a:t>
            </a:r>
            <a:r>
              <a:rPr lang="de-DE" dirty="0"/>
              <a:t> </a:t>
            </a:r>
            <a:r>
              <a:rPr lang="de-DE" dirty="0" err="1"/>
              <a:t>embedding</a:t>
            </a:r>
            <a:r>
              <a:rPr lang="de-DE" dirty="0"/>
              <a:t> </a:t>
            </a:r>
            <a:r>
              <a:rPr lang="de-DE" dirty="0" err="1"/>
              <a:t>vector</a:t>
            </a:r>
            <a:r>
              <a:rPr lang="de-DE" dirty="0"/>
              <a:t> </a:t>
            </a:r>
            <a:r>
              <a:rPr lang="de-DE" dirty="0" err="1"/>
              <a:t>for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[MASK] </a:t>
            </a:r>
            <a:r>
              <a:rPr lang="de-DE" dirty="0" err="1"/>
              <a:t>token</a:t>
            </a:r>
            <a:r>
              <a:rPr lang="de-DE" dirty="0"/>
              <a:t> (just like </a:t>
            </a:r>
            <a:r>
              <a:rPr lang="de-DE" dirty="0" err="1"/>
              <a:t>any</a:t>
            </a:r>
            <a:r>
              <a:rPr lang="de-DE" dirty="0"/>
              <a:t> </a:t>
            </a:r>
            <a:r>
              <a:rPr lang="de-DE" dirty="0" err="1"/>
              <a:t>other</a:t>
            </a:r>
            <a:r>
              <a:rPr lang="de-DE" dirty="0"/>
              <a:t> </a:t>
            </a:r>
            <a:r>
              <a:rPr lang="de-DE" dirty="0" err="1"/>
              <a:t>token</a:t>
            </a:r>
            <a:r>
              <a:rPr lang="de-DE" dirty="0"/>
              <a:t>).</a:t>
            </a:r>
          </a:p>
          <a:p>
            <a:r>
              <a:rPr lang="de-DE" b="1" dirty="0"/>
              <a:t>10% </a:t>
            </a:r>
            <a:r>
              <a:rPr lang="de-DE" b="1" dirty="0" err="1"/>
              <a:t>of</a:t>
            </a:r>
            <a:r>
              <a:rPr lang="de-DE" b="1" dirty="0"/>
              <a:t> </a:t>
            </a:r>
            <a:r>
              <a:rPr lang="de-DE" b="1" dirty="0" err="1"/>
              <a:t>the</a:t>
            </a:r>
            <a:r>
              <a:rPr lang="de-DE" b="1" dirty="0"/>
              <a:t> time</a:t>
            </a:r>
            <a:r>
              <a:rPr lang="de-DE" dirty="0"/>
              <a:t> → </a:t>
            </a:r>
            <a:r>
              <a:rPr lang="de-DE" dirty="0" err="1"/>
              <a:t>Replace</a:t>
            </a:r>
            <a:r>
              <a:rPr lang="de-DE" dirty="0"/>
              <a:t> </a:t>
            </a:r>
            <a:r>
              <a:rPr lang="de-DE" dirty="0" err="1"/>
              <a:t>it</a:t>
            </a:r>
            <a:r>
              <a:rPr lang="de-DE" dirty="0"/>
              <a:t> </a:t>
            </a:r>
            <a:r>
              <a:rPr lang="de-DE" dirty="0" err="1"/>
              <a:t>with</a:t>
            </a:r>
            <a:r>
              <a:rPr lang="de-DE" dirty="0"/>
              <a:t> a </a:t>
            </a:r>
            <a:r>
              <a:rPr lang="de-DE" b="1" dirty="0" err="1"/>
              <a:t>random</a:t>
            </a:r>
            <a:r>
              <a:rPr lang="de-DE" b="1" dirty="0"/>
              <a:t> </a:t>
            </a:r>
            <a:r>
              <a:rPr lang="de-DE" b="1" dirty="0" err="1"/>
              <a:t>token</a:t>
            </a:r>
            <a:r>
              <a:rPr lang="de-DE" dirty="0"/>
              <a:t> </a:t>
            </a:r>
            <a:r>
              <a:rPr lang="de-DE" dirty="0" err="1"/>
              <a:t>from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vocabulary</a:t>
            </a:r>
            <a:r>
              <a:rPr lang="de-DE" dirty="0"/>
              <a:t>.</a:t>
            </a:r>
          </a:p>
          <a:p>
            <a:r>
              <a:rPr lang="de-DE" dirty="0" err="1"/>
              <a:t>Prevents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model</a:t>
            </a:r>
            <a:r>
              <a:rPr lang="de-DE" dirty="0"/>
              <a:t> </a:t>
            </a:r>
            <a:r>
              <a:rPr lang="de-DE" dirty="0" err="1"/>
              <a:t>from</a:t>
            </a:r>
            <a:r>
              <a:rPr lang="de-DE" dirty="0"/>
              <a:t> </a:t>
            </a:r>
            <a:r>
              <a:rPr lang="de-DE" dirty="0" err="1"/>
              <a:t>overfitting</a:t>
            </a:r>
            <a:r>
              <a:rPr lang="de-DE" dirty="0"/>
              <a:t> </a:t>
            </a:r>
            <a:r>
              <a:rPr lang="de-DE" dirty="0" err="1"/>
              <a:t>to</a:t>
            </a:r>
            <a:r>
              <a:rPr lang="de-DE" dirty="0"/>
              <a:t> </a:t>
            </a:r>
            <a:r>
              <a:rPr lang="de-DE" dirty="0" err="1"/>
              <a:t>always</a:t>
            </a:r>
            <a:r>
              <a:rPr lang="de-DE" dirty="0"/>
              <a:t> </a:t>
            </a:r>
            <a:r>
              <a:rPr lang="de-DE" dirty="0" err="1"/>
              <a:t>associating</a:t>
            </a:r>
            <a:r>
              <a:rPr lang="de-DE" dirty="0"/>
              <a:t> [MASK] </a:t>
            </a:r>
            <a:r>
              <a:rPr lang="de-DE" dirty="0" err="1"/>
              <a:t>with</a:t>
            </a:r>
            <a:r>
              <a:rPr lang="de-DE" dirty="0"/>
              <a:t> </a:t>
            </a:r>
            <a:r>
              <a:rPr lang="de-DE" dirty="0" err="1"/>
              <a:t>prediction</a:t>
            </a:r>
            <a:r>
              <a:rPr lang="de-DE" dirty="0"/>
              <a:t>.</a:t>
            </a:r>
          </a:p>
          <a:p>
            <a:r>
              <a:rPr lang="de-DE" b="1" dirty="0"/>
              <a:t>10% </a:t>
            </a:r>
            <a:r>
              <a:rPr lang="de-DE" b="1" dirty="0" err="1"/>
              <a:t>of</a:t>
            </a:r>
            <a:r>
              <a:rPr lang="de-DE" b="1" dirty="0"/>
              <a:t> </a:t>
            </a:r>
            <a:r>
              <a:rPr lang="de-DE" b="1" dirty="0" err="1"/>
              <a:t>the</a:t>
            </a:r>
            <a:r>
              <a:rPr lang="de-DE" b="1" dirty="0"/>
              <a:t> time</a:t>
            </a:r>
            <a:r>
              <a:rPr lang="de-DE" dirty="0"/>
              <a:t> → </a:t>
            </a:r>
            <a:r>
              <a:rPr lang="de-DE" dirty="0" err="1"/>
              <a:t>Leave</a:t>
            </a:r>
            <a:r>
              <a:rPr lang="de-DE" dirty="0"/>
              <a:t> </a:t>
            </a:r>
            <a:r>
              <a:rPr lang="de-DE" dirty="0" err="1"/>
              <a:t>it</a:t>
            </a:r>
            <a:r>
              <a:rPr lang="de-DE" dirty="0"/>
              <a:t> </a:t>
            </a:r>
            <a:r>
              <a:rPr lang="de-DE" b="1" dirty="0" err="1"/>
              <a:t>unchanged</a:t>
            </a:r>
            <a:r>
              <a:rPr lang="de-DE" dirty="0"/>
              <a:t>.</a:t>
            </a:r>
          </a:p>
          <a:p>
            <a:r>
              <a:rPr lang="de-DE" dirty="0"/>
              <a:t>Forces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model</a:t>
            </a:r>
            <a:r>
              <a:rPr lang="de-DE" dirty="0"/>
              <a:t> </a:t>
            </a:r>
            <a:r>
              <a:rPr lang="de-DE" dirty="0" err="1"/>
              <a:t>to</a:t>
            </a:r>
            <a:r>
              <a:rPr lang="de-DE" dirty="0"/>
              <a:t> </a:t>
            </a:r>
            <a:r>
              <a:rPr lang="de-DE" dirty="0" err="1"/>
              <a:t>sometimes</a:t>
            </a:r>
            <a:r>
              <a:rPr lang="de-DE" dirty="0"/>
              <a:t> </a:t>
            </a:r>
            <a:r>
              <a:rPr lang="de-DE" dirty="0" err="1"/>
              <a:t>predict</a:t>
            </a:r>
            <a:r>
              <a:rPr lang="de-DE" dirty="0"/>
              <a:t> </a:t>
            </a:r>
            <a:r>
              <a:rPr lang="de-DE" dirty="0" err="1"/>
              <a:t>without</a:t>
            </a:r>
            <a:r>
              <a:rPr lang="de-DE" dirty="0"/>
              <a:t> </a:t>
            </a:r>
            <a:r>
              <a:rPr lang="de-DE" dirty="0" err="1"/>
              <a:t>seeing</a:t>
            </a:r>
            <a:r>
              <a:rPr lang="de-DE" dirty="0"/>
              <a:t> an explicit [MASK].</a:t>
            </a:r>
          </a:p>
          <a:p>
            <a:pPr marL="0" indent="0">
              <a:buNone/>
            </a:pPr>
            <a:br>
              <a:rPr lang="de-DE" dirty="0"/>
            </a:br>
            <a:r>
              <a:rPr lang="de-DE" dirty="0" err="1"/>
              <a:t>Regardless</a:t>
            </a:r>
            <a:r>
              <a:rPr lang="de-DE" dirty="0"/>
              <a:t>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which</a:t>
            </a:r>
            <a:r>
              <a:rPr lang="de-DE" dirty="0"/>
              <a:t> </a:t>
            </a:r>
            <a:r>
              <a:rPr lang="de-DE" dirty="0" err="1"/>
              <a:t>replacement</a:t>
            </a:r>
            <a:r>
              <a:rPr lang="de-DE" dirty="0"/>
              <a:t> </a:t>
            </a:r>
            <a:r>
              <a:rPr lang="de-DE" dirty="0" err="1"/>
              <a:t>is</a:t>
            </a:r>
            <a:r>
              <a:rPr lang="de-DE" dirty="0"/>
              <a:t> </a:t>
            </a:r>
            <a:r>
              <a:rPr lang="de-DE" dirty="0" err="1"/>
              <a:t>used</a:t>
            </a:r>
            <a:r>
              <a:rPr lang="de-DE" dirty="0"/>
              <a:t>,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b="1" dirty="0" err="1"/>
              <a:t>loss</a:t>
            </a:r>
            <a:r>
              <a:rPr lang="de-DE" b="1" dirty="0"/>
              <a:t> </a:t>
            </a:r>
            <a:r>
              <a:rPr lang="de-DE" b="1" dirty="0" err="1"/>
              <a:t>is</a:t>
            </a:r>
            <a:r>
              <a:rPr lang="de-DE" b="1" dirty="0"/>
              <a:t> still </a:t>
            </a:r>
            <a:r>
              <a:rPr lang="de-DE" b="1" dirty="0" err="1"/>
              <a:t>computed</a:t>
            </a:r>
            <a:r>
              <a:rPr lang="de-DE" b="1" dirty="0"/>
              <a:t> </a:t>
            </a:r>
            <a:r>
              <a:rPr lang="de-DE" b="1" dirty="0" err="1"/>
              <a:t>against</a:t>
            </a:r>
            <a:r>
              <a:rPr lang="de-DE" b="1" dirty="0"/>
              <a:t> </a:t>
            </a:r>
            <a:r>
              <a:rPr lang="de-DE" b="1" dirty="0" err="1"/>
              <a:t>the</a:t>
            </a:r>
            <a:r>
              <a:rPr lang="de-DE" b="1" dirty="0"/>
              <a:t> original </a:t>
            </a:r>
            <a:r>
              <a:rPr lang="de-DE" b="1" dirty="0" err="1"/>
              <a:t>token</a:t>
            </a:r>
            <a:r>
              <a:rPr lang="de-DE" dirty="0"/>
              <a:t>.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98A71D12-1308-5AA4-28A9-50891017FA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55531C-5681-6B44-B2CA-926D7A74B06D}" type="slidenum">
              <a:rPr lang="de-DE" smtClean="0"/>
              <a:t>10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0908397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7377014-5C9A-61F9-AEB0-5422FFC74E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BERT </a:t>
            </a:r>
            <a:r>
              <a:rPr lang="de-DE" dirty="0" err="1"/>
              <a:t>Variants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E32E57AC-9AEC-A942-0A0F-644BB5F978B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de-DE" sz="2400" dirty="0">
                <a:hlinkClick r:id="rId2"/>
              </a:rPr>
              <a:t>RoBERTa</a:t>
            </a:r>
            <a:r>
              <a:rPr lang="de-DE" sz="2400" b="1" dirty="0"/>
              <a:t>: </a:t>
            </a:r>
            <a:r>
              <a:rPr lang="de-DE" sz="2400" dirty="0" err="1"/>
              <a:t>improved</a:t>
            </a:r>
            <a:r>
              <a:rPr lang="de-DE" sz="2400" dirty="0"/>
              <a:t> </a:t>
            </a:r>
            <a:r>
              <a:rPr lang="de-DE" sz="2400" dirty="0" err="1"/>
              <a:t>performance</a:t>
            </a:r>
            <a:endParaRPr lang="de-DE" sz="2400" dirty="0"/>
          </a:p>
          <a:p>
            <a:r>
              <a:rPr lang="de-DE" sz="1800" dirty="0" err="1"/>
              <a:t>removed</a:t>
            </a:r>
            <a:r>
              <a:rPr lang="de-DE" sz="1800" dirty="0"/>
              <a:t> </a:t>
            </a:r>
            <a:r>
              <a:rPr lang="de-DE" sz="1800" dirty="0" err="1"/>
              <a:t>next</a:t>
            </a:r>
            <a:r>
              <a:rPr lang="de-DE" sz="1800" dirty="0"/>
              <a:t> </a:t>
            </a:r>
            <a:r>
              <a:rPr lang="de-DE" sz="1800" dirty="0" err="1"/>
              <a:t>sentence</a:t>
            </a:r>
            <a:r>
              <a:rPr lang="de-DE" sz="1800" dirty="0"/>
              <a:t> </a:t>
            </a:r>
            <a:r>
              <a:rPr lang="de-DE" sz="1800" dirty="0" err="1"/>
              <a:t>prediction</a:t>
            </a:r>
            <a:r>
              <a:rPr lang="de-DE" sz="1800" dirty="0"/>
              <a:t> </a:t>
            </a:r>
            <a:r>
              <a:rPr lang="de-DE" sz="1800" dirty="0" err="1"/>
              <a:t>as</a:t>
            </a:r>
            <a:r>
              <a:rPr lang="de-DE" sz="1800" dirty="0"/>
              <a:t> </a:t>
            </a:r>
            <a:r>
              <a:rPr lang="de-DE" sz="1800" dirty="0" err="1"/>
              <a:t>pretraining</a:t>
            </a:r>
            <a:r>
              <a:rPr lang="de-DE" sz="1800" dirty="0"/>
              <a:t> </a:t>
            </a:r>
            <a:r>
              <a:rPr lang="de-DE" sz="1800" dirty="0" err="1"/>
              <a:t>objective</a:t>
            </a:r>
            <a:r>
              <a:rPr lang="de-DE" sz="1800" dirty="0"/>
              <a:t> and …</a:t>
            </a:r>
          </a:p>
          <a:p>
            <a:r>
              <a:rPr lang="de-DE" sz="1800" dirty="0"/>
              <a:t>~</a:t>
            </a:r>
            <a:r>
              <a:rPr lang="de-DE" sz="1800" dirty="0" err="1"/>
              <a:t>ten</a:t>
            </a:r>
            <a:r>
              <a:rPr lang="de-DE" sz="1800" dirty="0"/>
              <a:t> </a:t>
            </a:r>
            <a:r>
              <a:rPr lang="de-DE" sz="1800" dirty="0" err="1"/>
              <a:t>times</a:t>
            </a:r>
            <a:r>
              <a:rPr lang="de-DE" sz="1800" dirty="0"/>
              <a:t> </a:t>
            </a:r>
            <a:r>
              <a:rPr lang="de-DE" sz="1800" dirty="0" err="1"/>
              <a:t>more</a:t>
            </a:r>
            <a:r>
              <a:rPr lang="de-DE" sz="1800" dirty="0"/>
              <a:t> </a:t>
            </a:r>
            <a:r>
              <a:rPr lang="de-DE" sz="1800" dirty="0" err="1"/>
              <a:t>training</a:t>
            </a:r>
            <a:r>
              <a:rPr lang="de-DE" sz="1800" dirty="0"/>
              <a:t> </a:t>
            </a:r>
            <a:r>
              <a:rPr lang="de-DE" sz="1800" dirty="0" err="1"/>
              <a:t>data</a:t>
            </a:r>
            <a:r>
              <a:rPr lang="de-DE" sz="1800" dirty="0"/>
              <a:t>, </a:t>
            </a:r>
            <a:r>
              <a:rPr lang="de-DE" sz="1800" dirty="0" err="1"/>
              <a:t>longer</a:t>
            </a:r>
            <a:r>
              <a:rPr lang="de-DE" sz="1800" dirty="0"/>
              <a:t> </a:t>
            </a:r>
            <a:r>
              <a:rPr lang="de-DE" sz="1800" dirty="0" err="1"/>
              <a:t>training</a:t>
            </a:r>
            <a:r>
              <a:rPr lang="de-DE" sz="1800" dirty="0"/>
              <a:t>, larger </a:t>
            </a:r>
            <a:r>
              <a:rPr lang="de-DE" sz="1800" dirty="0" err="1"/>
              <a:t>batches</a:t>
            </a:r>
            <a:r>
              <a:rPr lang="de-DE" sz="1800" dirty="0"/>
              <a:t>, </a:t>
            </a:r>
            <a:r>
              <a:rPr lang="de-DE" sz="1800" dirty="0" err="1"/>
              <a:t>longer</a:t>
            </a:r>
            <a:r>
              <a:rPr lang="de-DE" sz="1800" dirty="0"/>
              <a:t> </a:t>
            </a:r>
            <a:r>
              <a:rPr lang="de-DE" sz="1800" dirty="0" err="1"/>
              <a:t>sequences</a:t>
            </a:r>
            <a:endParaRPr lang="de-DE" sz="1800" dirty="0"/>
          </a:p>
          <a:p>
            <a:r>
              <a:rPr lang="de-DE" sz="1800" dirty="0" err="1"/>
              <a:t>dynamic</a:t>
            </a:r>
            <a:r>
              <a:rPr lang="de-DE" sz="1800" dirty="0"/>
              <a:t> </a:t>
            </a:r>
            <a:r>
              <a:rPr lang="de-DE" sz="1800" dirty="0" err="1"/>
              <a:t>masking</a:t>
            </a:r>
            <a:r>
              <a:rPr lang="de-DE" sz="1800" dirty="0"/>
              <a:t>: </a:t>
            </a:r>
            <a:r>
              <a:rPr lang="de-DE" sz="1800" dirty="0" err="1"/>
              <a:t>instead</a:t>
            </a:r>
            <a:r>
              <a:rPr lang="de-DE" sz="1800" dirty="0"/>
              <a:t> </a:t>
            </a:r>
            <a:r>
              <a:rPr lang="de-DE" sz="1800" dirty="0" err="1"/>
              <a:t>of</a:t>
            </a:r>
            <a:r>
              <a:rPr lang="de-DE" sz="1800" dirty="0"/>
              <a:t> </a:t>
            </a:r>
            <a:r>
              <a:rPr lang="de-DE" sz="1800" dirty="0" err="1"/>
              <a:t>fixed</a:t>
            </a:r>
            <a:r>
              <a:rPr lang="de-DE" sz="1800" dirty="0"/>
              <a:t> </a:t>
            </a:r>
            <a:r>
              <a:rPr lang="de-DE" sz="1800" dirty="0" err="1"/>
              <a:t>masked</a:t>
            </a:r>
            <a:r>
              <a:rPr lang="de-DE" sz="1800" dirty="0"/>
              <a:t> </a:t>
            </a:r>
            <a:r>
              <a:rPr lang="de-DE" sz="1800" dirty="0" err="1"/>
              <a:t>tokens</a:t>
            </a:r>
            <a:r>
              <a:rPr lang="de-DE" sz="1800" dirty="0"/>
              <a:t> </a:t>
            </a:r>
            <a:r>
              <a:rPr lang="de-DE" sz="1800" dirty="0" err="1"/>
              <a:t>for</a:t>
            </a:r>
            <a:r>
              <a:rPr lang="de-DE" sz="1800" dirty="0"/>
              <a:t> </a:t>
            </a:r>
            <a:r>
              <a:rPr lang="de-DE" sz="1800" dirty="0" err="1"/>
              <a:t>each</a:t>
            </a:r>
            <a:r>
              <a:rPr lang="de-DE" sz="1800" dirty="0"/>
              <a:t> </a:t>
            </a:r>
            <a:r>
              <a:rPr lang="de-DE" sz="1800" dirty="0" err="1"/>
              <a:t>sequence</a:t>
            </a:r>
            <a:r>
              <a:rPr lang="de-DE" sz="1800" dirty="0"/>
              <a:t>, </a:t>
            </a:r>
            <a:r>
              <a:rPr lang="de-DE" sz="1800" dirty="0" err="1"/>
              <a:t>masks</a:t>
            </a:r>
            <a:r>
              <a:rPr lang="de-DE" sz="1800" dirty="0"/>
              <a:t> </a:t>
            </a:r>
            <a:r>
              <a:rPr lang="de-DE" sz="1800" dirty="0" err="1"/>
              <a:t>change</a:t>
            </a:r>
            <a:r>
              <a:rPr lang="de-DE" sz="1800" dirty="0"/>
              <a:t> </a:t>
            </a:r>
            <a:r>
              <a:rPr lang="de-DE" sz="1800" dirty="0" err="1"/>
              <a:t>each</a:t>
            </a:r>
            <a:r>
              <a:rPr lang="de-DE" sz="1800" dirty="0"/>
              <a:t> </a:t>
            </a:r>
            <a:r>
              <a:rPr lang="de-DE" sz="1800" dirty="0" err="1"/>
              <a:t>epoch</a:t>
            </a:r>
            <a:endParaRPr lang="de-DE" sz="1800" dirty="0"/>
          </a:p>
          <a:p>
            <a:pPr marL="0" indent="0">
              <a:buNone/>
            </a:pPr>
            <a:endParaRPr lang="de-DE" sz="2400" dirty="0"/>
          </a:p>
          <a:p>
            <a:pPr marL="0" indent="0">
              <a:buNone/>
            </a:pPr>
            <a:r>
              <a:rPr lang="de-DE" sz="2400" dirty="0" err="1">
                <a:hlinkClick r:id="rId3"/>
              </a:rPr>
              <a:t>DistilBERT</a:t>
            </a:r>
            <a:r>
              <a:rPr lang="de-DE" sz="2400" dirty="0"/>
              <a:t>: </a:t>
            </a:r>
            <a:r>
              <a:rPr lang="de-DE" sz="2400" dirty="0" err="1"/>
              <a:t>much</a:t>
            </a:r>
            <a:r>
              <a:rPr lang="de-DE" sz="2400" dirty="0"/>
              <a:t> </a:t>
            </a:r>
            <a:r>
              <a:rPr lang="de-DE" sz="2400" dirty="0" err="1"/>
              <a:t>lighter</a:t>
            </a:r>
            <a:r>
              <a:rPr lang="de-DE" sz="2400" dirty="0"/>
              <a:t> and </a:t>
            </a:r>
            <a:r>
              <a:rPr lang="de-DE" sz="2400" dirty="0" err="1"/>
              <a:t>faster</a:t>
            </a:r>
            <a:r>
              <a:rPr lang="de-DE" sz="2400" dirty="0"/>
              <a:t>, </a:t>
            </a:r>
            <a:r>
              <a:rPr lang="de-DE" sz="2400" dirty="0" err="1"/>
              <a:t>retaining</a:t>
            </a:r>
            <a:r>
              <a:rPr lang="de-DE" sz="2400" dirty="0"/>
              <a:t> ~95% </a:t>
            </a:r>
            <a:r>
              <a:rPr lang="de-DE" sz="2400" dirty="0" err="1"/>
              <a:t>of</a:t>
            </a:r>
            <a:r>
              <a:rPr lang="de-DE" sz="2400" dirty="0"/>
              <a:t> </a:t>
            </a:r>
            <a:r>
              <a:rPr lang="de-DE" sz="2400" dirty="0" err="1"/>
              <a:t>BERT’s</a:t>
            </a:r>
            <a:r>
              <a:rPr lang="de-DE" sz="2400" dirty="0"/>
              <a:t> </a:t>
            </a:r>
            <a:r>
              <a:rPr lang="de-DE" sz="2400" dirty="0" err="1"/>
              <a:t>performance</a:t>
            </a:r>
            <a:endParaRPr lang="de-DE" sz="2400" dirty="0"/>
          </a:p>
          <a:p>
            <a:r>
              <a:rPr lang="de-DE" sz="1800" dirty="0"/>
              <a:t>a </a:t>
            </a:r>
            <a:r>
              <a:rPr lang="de-DE" sz="1800" dirty="0" err="1"/>
              <a:t>smaller</a:t>
            </a:r>
            <a:r>
              <a:rPr lang="de-DE" sz="1800" dirty="0"/>
              <a:t> “</a:t>
            </a:r>
            <a:r>
              <a:rPr lang="de-DE" sz="1800" dirty="0" err="1"/>
              <a:t>student</a:t>
            </a:r>
            <a:r>
              <a:rPr lang="de-DE" sz="1800" dirty="0"/>
              <a:t>” </a:t>
            </a:r>
            <a:r>
              <a:rPr lang="de-DE" sz="1800" dirty="0" err="1"/>
              <a:t>model</a:t>
            </a:r>
            <a:r>
              <a:rPr lang="de-DE" sz="1800" dirty="0"/>
              <a:t> </a:t>
            </a:r>
            <a:r>
              <a:rPr lang="de-DE" sz="1800" dirty="0" err="1"/>
              <a:t>is</a:t>
            </a:r>
            <a:r>
              <a:rPr lang="de-DE" sz="1800" dirty="0"/>
              <a:t> </a:t>
            </a:r>
            <a:r>
              <a:rPr lang="de-DE" sz="1800" dirty="0" err="1"/>
              <a:t>trained</a:t>
            </a:r>
            <a:r>
              <a:rPr lang="de-DE" sz="1800" dirty="0"/>
              <a:t> </a:t>
            </a:r>
            <a:r>
              <a:rPr lang="de-DE" sz="1800" dirty="0" err="1"/>
              <a:t>to</a:t>
            </a:r>
            <a:r>
              <a:rPr lang="de-DE" sz="1800" dirty="0"/>
              <a:t> </a:t>
            </a:r>
            <a:r>
              <a:rPr lang="de-DE" sz="1800" dirty="0" err="1"/>
              <a:t>mimic</a:t>
            </a:r>
            <a:r>
              <a:rPr lang="de-DE" sz="1800" dirty="0"/>
              <a:t> </a:t>
            </a:r>
            <a:r>
              <a:rPr lang="de-DE" sz="1800" dirty="0" err="1"/>
              <a:t>BERT’s</a:t>
            </a:r>
            <a:r>
              <a:rPr lang="de-DE" sz="1800" dirty="0"/>
              <a:t> </a:t>
            </a:r>
            <a:r>
              <a:rPr lang="de-DE" sz="1800" dirty="0" err="1"/>
              <a:t>predictions</a:t>
            </a:r>
            <a:endParaRPr lang="de-DE" sz="1800" dirty="0"/>
          </a:p>
          <a:p>
            <a:r>
              <a:rPr lang="de-DE" sz="1800" dirty="0"/>
              <a:t>40% </a:t>
            </a:r>
            <a:r>
              <a:rPr lang="de-DE" sz="1800" dirty="0" err="1"/>
              <a:t>fewer</a:t>
            </a:r>
            <a:r>
              <a:rPr lang="de-DE" sz="1800" dirty="0"/>
              <a:t> </a:t>
            </a:r>
            <a:r>
              <a:rPr lang="de-DE" sz="1800" dirty="0" err="1"/>
              <a:t>parameters</a:t>
            </a:r>
            <a:r>
              <a:rPr lang="de-DE" sz="1800" dirty="0"/>
              <a:t> </a:t>
            </a:r>
            <a:r>
              <a:rPr lang="de-DE" sz="1800" dirty="0" err="1"/>
              <a:t>than</a:t>
            </a:r>
            <a:r>
              <a:rPr lang="de-DE" sz="1800" dirty="0"/>
              <a:t> BERT, 60% </a:t>
            </a:r>
            <a:r>
              <a:rPr lang="de-DE" sz="1800" dirty="0" err="1"/>
              <a:t>faster</a:t>
            </a:r>
            <a:r>
              <a:rPr lang="de-DE" sz="1800" dirty="0"/>
              <a:t> </a:t>
            </a:r>
            <a:r>
              <a:rPr lang="de-DE" sz="1800" dirty="0" err="1"/>
              <a:t>inference</a:t>
            </a:r>
            <a:r>
              <a:rPr lang="de-DE" sz="1800" dirty="0"/>
              <a:t>, </a:t>
            </a:r>
            <a:r>
              <a:rPr lang="de-DE" sz="1800" dirty="0" err="1"/>
              <a:t>using</a:t>
            </a:r>
            <a:r>
              <a:rPr lang="de-DE" sz="1800" dirty="0"/>
              <a:t> half </a:t>
            </a:r>
            <a:r>
              <a:rPr lang="de-DE" sz="1800" dirty="0" err="1"/>
              <a:t>the</a:t>
            </a:r>
            <a:r>
              <a:rPr lang="de-DE" sz="1800" dirty="0"/>
              <a:t> </a:t>
            </a:r>
            <a:r>
              <a:rPr lang="de-DE" sz="1800" dirty="0" err="1"/>
              <a:t>memory</a:t>
            </a:r>
            <a:endParaRPr lang="de-DE" sz="1800" dirty="0"/>
          </a:p>
          <a:p>
            <a:r>
              <a:rPr lang="de-DE" sz="1800" dirty="0"/>
              <a:t>… also </a:t>
            </a:r>
            <a:r>
              <a:rPr lang="de-DE" sz="1800" dirty="0" err="1"/>
              <a:t>removed</a:t>
            </a:r>
            <a:r>
              <a:rPr lang="de-DE" sz="1800" dirty="0"/>
              <a:t> </a:t>
            </a:r>
            <a:r>
              <a:rPr lang="de-DE" sz="1800" dirty="0" err="1"/>
              <a:t>next</a:t>
            </a:r>
            <a:r>
              <a:rPr lang="de-DE" sz="1800" dirty="0"/>
              <a:t> </a:t>
            </a:r>
            <a:r>
              <a:rPr lang="de-DE" sz="1800" dirty="0" err="1"/>
              <a:t>sentence</a:t>
            </a:r>
            <a:r>
              <a:rPr lang="de-DE" sz="1800" dirty="0"/>
              <a:t> </a:t>
            </a:r>
            <a:r>
              <a:rPr lang="de-DE" sz="1800" dirty="0" err="1"/>
              <a:t>prediction</a:t>
            </a:r>
            <a:r>
              <a:rPr lang="de-DE" sz="1800" dirty="0"/>
              <a:t> </a:t>
            </a:r>
            <a:r>
              <a:rPr lang="de-DE" sz="1800" dirty="0" err="1"/>
              <a:t>as</a:t>
            </a:r>
            <a:r>
              <a:rPr lang="de-DE" sz="1800" dirty="0"/>
              <a:t> </a:t>
            </a:r>
            <a:r>
              <a:rPr lang="de-DE" sz="1800" dirty="0" err="1"/>
              <a:t>pretraining</a:t>
            </a:r>
            <a:r>
              <a:rPr lang="de-DE" sz="1800" dirty="0"/>
              <a:t> </a:t>
            </a:r>
            <a:r>
              <a:rPr lang="de-DE" sz="1800" dirty="0" err="1"/>
              <a:t>objective</a:t>
            </a:r>
            <a:r>
              <a:rPr lang="de-DE" sz="1800" dirty="0"/>
              <a:t> …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6C9E7DDC-F9E4-F124-BF7B-7A2E77B7C2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4C94FE-FF23-4504-88E9-14D481113291}" type="slidenum">
              <a:rPr lang="en-GB" smtClean="0"/>
              <a:t>11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7504663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8835DB9-A493-0493-6DC6-1A59F19555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Text Classification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C8B9C882-7432-CB1C-F348-C72E3D7ABCC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de-DE" dirty="0"/>
              <a:t>…</a:t>
            </a:r>
          </a:p>
          <a:p>
            <a:pPr marL="0" indent="0">
              <a:buNone/>
            </a:pPr>
            <a:endParaRPr lang="de-DE" dirty="0"/>
          </a:p>
          <a:p>
            <a:pPr marL="0" indent="0">
              <a:buNone/>
            </a:pPr>
            <a:r>
              <a:rPr lang="en-GB" dirty="0"/>
              <a:t>exercise: </a:t>
            </a:r>
            <a:r>
              <a:rPr lang="en-GB" dirty="0">
                <a:hlinkClick r:id="rId2"/>
              </a:rPr>
              <a:t>Kaggle Disaster Tweets</a:t>
            </a:r>
            <a:endParaRPr lang="en-GB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BD68B0B8-AEDC-2BFB-161C-7E00CD7BC9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55531C-5681-6B44-B2CA-926D7A74B06D}" type="slidenum">
              <a:rPr lang="de-DE" smtClean="0"/>
              <a:t>12</a:t>
            </a:fld>
            <a:endParaRPr lang="de-DE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D99F652-C896-0305-B650-D8E63E971F3C}"/>
              </a:ext>
            </a:extLst>
          </p:cNvPr>
          <p:cNvSpPr txBox="1"/>
          <p:nvPr/>
        </p:nvSpPr>
        <p:spPr>
          <a:xfrm>
            <a:off x="11529848" y="5325559"/>
            <a:ext cx="57281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000" dirty="0">
                <a:hlinkClick r:id="rId3"/>
              </a:rPr>
              <a:t>source</a:t>
            </a:r>
            <a:endParaRPr lang="de-DE" sz="1000" dirty="0"/>
          </a:p>
        </p:txBody>
      </p:sp>
      <p:pic>
        <p:nvPicPr>
          <p:cNvPr id="6" name="Picture 7" descr="A screen shot of a computer&#10;&#10;Description automatically generated">
            <a:extLst>
              <a:ext uri="{FF2B5EF4-FFF2-40B4-BE49-F238E27FC236}">
                <a16:creationId xmlns:a16="http://schemas.microsoft.com/office/drawing/2014/main" id="{C8F59914-648D-5650-D612-D3EE335423E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10600" y="2458788"/>
            <a:ext cx="3581400" cy="2866770"/>
          </a:xfrm>
          <a:prstGeom prst="rect">
            <a:avLst/>
          </a:prstGeom>
        </p:spPr>
      </p:pic>
      <p:sp>
        <p:nvSpPr>
          <p:cNvPr id="7" name="TextBox 8">
            <a:extLst>
              <a:ext uri="{FF2B5EF4-FFF2-40B4-BE49-F238E27FC236}">
                <a16:creationId xmlns:a16="http://schemas.microsoft.com/office/drawing/2014/main" id="{BD7EAC5A-7507-A820-5AD8-104092932C7D}"/>
              </a:ext>
            </a:extLst>
          </p:cNvPr>
          <p:cNvSpPr txBox="1"/>
          <p:nvPr/>
        </p:nvSpPr>
        <p:spPr>
          <a:xfrm>
            <a:off x="8958029" y="5568144"/>
            <a:ext cx="287837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sentence classification via [CLS] token</a:t>
            </a:r>
          </a:p>
        </p:txBody>
      </p:sp>
      <p:cxnSp>
        <p:nvCxnSpPr>
          <p:cNvPr id="8" name="Straight Arrow Connector 10">
            <a:extLst>
              <a:ext uri="{FF2B5EF4-FFF2-40B4-BE49-F238E27FC236}">
                <a16:creationId xmlns:a16="http://schemas.microsoft.com/office/drawing/2014/main" id="{EB53C338-64C6-0C11-4269-811E0771F4FD}"/>
              </a:ext>
            </a:extLst>
          </p:cNvPr>
          <p:cNvCxnSpPr>
            <a:cxnSpLocks/>
          </p:cNvCxnSpPr>
          <p:nvPr/>
        </p:nvCxnSpPr>
        <p:spPr>
          <a:xfrm flipH="1" flipV="1">
            <a:off x="8958029" y="5004381"/>
            <a:ext cx="228304" cy="65193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7438199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6DF84C9-7C51-3B5E-CEAC-B8DAC520A1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Feature </a:t>
            </a:r>
            <a:r>
              <a:rPr lang="de-DE" dirty="0" err="1"/>
              <a:t>Extraction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B0397F5D-3B96-44CC-0D86-A08B51D4C43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7683059" cy="4351338"/>
          </a:xfrm>
        </p:spPr>
        <p:txBody>
          <a:bodyPr>
            <a:normAutofit fontScale="92500"/>
          </a:bodyPr>
          <a:lstStyle/>
          <a:p>
            <a:r>
              <a:rPr lang="de-DE" dirty="0" err="1"/>
              <a:t>get</a:t>
            </a:r>
            <a:r>
              <a:rPr lang="de-DE" dirty="0"/>
              <a:t> </a:t>
            </a:r>
            <a:r>
              <a:rPr lang="de-DE" dirty="0" err="1"/>
              <a:t>pretrained</a:t>
            </a:r>
            <a:r>
              <a:rPr lang="de-DE" dirty="0"/>
              <a:t> </a:t>
            </a:r>
            <a:r>
              <a:rPr lang="de-DE" dirty="0" err="1"/>
              <a:t>encoder</a:t>
            </a:r>
            <a:r>
              <a:rPr lang="de-DE" dirty="0"/>
              <a:t> LLM </a:t>
            </a:r>
            <a:r>
              <a:rPr lang="de-DE" dirty="0" err="1"/>
              <a:t>as</a:t>
            </a:r>
            <a:r>
              <a:rPr lang="de-DE" dirty="0"/>
              <a:t> </a:t>
            </a:r>
            <a:r>
              <a:rPr lang="de-DE" dirty="0" err="1"/>
              <a:t>foundation</a:t>
            </a:r>
            <a:r>
              <a:rPr lang="de-DE" dirty="0"/>
              <a:t> </a:t>
            </a:r>
            <a:r>
              <a:rPr lang="de-DE" dirty="0" err="1"/>
              <a:t>model</a:t>
            </a:r>
            <a:endParaRPr lang="de-DE" dirty="0"/>
          </a:p>
          <a:p>
            <a:pPr marL="0" indent="0">
              <a:buNone/>
            </a:pPr>
            <a:endParaRPr lang="de-DE" dirty="0"/>
          </a:p>
          <a:p>
            <a:r>
              <a:rPr lang="de-DE" dirty="0" err="1"/>
              <a:t>remove</a:t>
            </a:r>
            <a:r>
              <a:rPr lang="de-DE" dirty="0"/>
              <a:t> </a:t>
            </a:r>
            <a:r>
              <a:rPr lang="de-DE" dirty="0" err="1"/>
              <a:t>classifier</a:t>
            </a:r>
            <a:r>
              <a:rPr lang="de-DE" dirty="0"/>
              <a:t> </a:t>
            </a:r>
            <a:r>
              <a:rPr lang="de-DE" dirty="0" err="1"/>
              <a:t>head</a:t>
            </a:r>
            <a:r>
              <a:rPr lang="de-DE" dirty="0"/>
              <a:t> </a:t>
            </a:r>
            <a:r>
              <a:rPr lang="de-DE" dirty="0" err="1"/>
              <a:t>from</a:t>
            </a:r>
            <a:r>
              <a:rPr lang="de-DE" dirty="0"/>
              <a:t> </a:t>
            </a:r>
            <a:r>
              <a:rPr lang="de-DE" dirty="0" err="1"/>
              <a:t>pretraining</a:t>
            </a:r>
            <a:r>
              <a:rPr lang="de-DE" dirty="0"/>
              <a:t> (after final </a:t>
            </a:r>
            <a:r>
              <a:rPr lang="de-DE" dirty="0" err="1"/>
              <a:t>contextual</a:t>
            </a:r>
            <a:r>
              <a:rPr lang="de-DE" dirty="0"/>
              <a:t> </a:t>
            </a:r>
            <a:r>
              <a:rPr lang="de-DE" dirty="0" err="1"/>
              <a:t>embeddings</a:t>
            </a:r>
            <a:r>
              <a:rPr lang="de-DE" dirty="0"/>
              <a:t>)</a:t>
            </a:r>
          </a:p>
          <a:p>
            <a:pPr marL="0" indent="0">
              <a:buNone/>
            </a:pPr>
            <a:endParaRPr lang="de-DE" dirty="0"/>
          </a:p>
          <a:p>
            <a:r>
              <a:rPr lang="de-DE" dirty="0"/>
              <a:t>pass </a:t>
            </a:r>
            <a:r>
              <a:rPr lang="de-DE" dirty="0" err="1"/>
              <a:t>training</a:t>
            </a:r>
            <a:r>
              <a:rPr lang="de-DE" dirty="0"/>
              <a:t> </a:t>
            </a:r>
            <a:r>
              <a:rPr lang="de-DE" dirty="0" err="1"/>
              <a:t>data</a:t>
            </a:r>
            <a:r>
              <a:rPr lang="de-DE" dirty="0"/>
              <a:t> (</a:t>
            </a:r>
            <a:r>
              <a:rPr lang="de-DE" dirty="0" err="1"/>
              <a:t>for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task</a:t>
            </a:r>
            <a:r>
              <a:rPr lang="de-DE" dirty="0"/>
              <a:t> at </a:t>
            </a:r>
            <a:r>
              <a:rPr lang="de-DE" dirty="0" err="1"/>
              <a:t>hand</a:t>
            </a:r>
            <a:r>
              <a:rPr lang="de-DE" dirty="0"/>
              <a:t>) </a:t>
            </a:r>
            <a:r>
              <a:rPr lang="de-DE" dirty="0" err="1"/>
              <a:t>through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model</a:t>
            </a:r>
            <a:r>
              <a:rPr lang="de-DE" dirty="0"/>
              <a:t> and </a:t>
            </a:r>
            <a:r>
              <a:rPr lang="de-DE" dirty="0" err="1"/>
              <a:t>use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[CLS] </a:t>
            </a:r>
            <a:r>
              <a:rPr lang="de-DE" dirty="0" err="1"/>
              <a:t>token</a:t>
            </a:r>
            <a:r>
              <a:rPr lang="de-DE" dirty="0"/>
              <a:t> </a:t>
            </a:r>
            <a:r>
              <a:rPr lang="de-DE" dirty="0" err="1"/>
              <a:t>embedding</a:t>
            </a:r>
            <a:r>
              <a:rPr lang="de-DE" dirty="0"/>
              <a:t> </a:t>
            </a:r>
            <a:r>
              <a:rPr lang="de-DE" dirty="0" err="1"/>
              <a:t>as</a:t>
            </a:r>
            <a:r>
              <a:rPr lang="de-DE" dirty="0"/>
              <a:t> </a:t>
            </a:r>
            <a:r>
              <a:rPr lang="de-DE" dirty="0" err="1"/>
              <a:t>input</a:t>
            </a:r>
            <a:r>
              <a:rPr lang="de-DE" dirty="0"/>
              <a:t> </a:t>
            </a:r>
            <a:r>
              <a:rPr lang="de-DE" dirty="0" err="1"/>
              <a:t>for</a:t>
            </a:r>
            <a:r>
              <a:rPr lang="de-DE" dirty="0"/>
              <a:t> a </a:t>
            </a:r>
            <a:r>
              <a:rPr lang="de-DE" dirty="0" err="1"/>
              <a:t>small</a:t>
            </a:r>
            <a:r>
              <a:rPr lang="de-DE" dirty="0"/>
              <a:t>, task-</a:t>
            </a:r>
            <a:r>
              <a:rPr lang="de-DE" dirty="0" err="1"/>
              <a:t>specific</a:t>
            </a:r>
            <a:r>
              <a:rPr lang="de-DE" dirty="0"/>
              <a:t> </a:t>
            </a:r>
            <a:r>
              <a:rPr lang="de-DE" dirty="0" err="1"/>
              <a:t>model</a:t>
            </a:r>
            <a:endParaRPr lang="de-DE" dirty="0"/>
          </a:p>
          <a:p>
            <a:pPr marL="0" indent="0">
              <a:buNone/>
            </a:pPr>
            <a:r>
              <a:rPr lang="de-DE" dirty="0"/>
              <a:t>alternative </a:t>
            </a:r>
            <a:r>
              <a:rPr lang="de-DE" dirty="0" err="1"/>
              <a:t>to</a:t>
            </a:r>
            <a:r>
              <a:rPr lang="de-DE" dirty="0"/>
              <a:t> [CLS] </a:t>
            </a:r>
            <a:r>
              <a:rPr lang="de-DE" dirty="0" err="1"/>
              <a:t>token</a:t>
            </a:r>
            <a:r>
              <a:rPr lang="de-DE" dirty="0"/>
              <a:t>: </a:t>
            </a:r>
            <a:r>
              <a:rPr lang="de-DE" dirty="0" err="1"/>
              <a:t>mean</a:t>
            </a:r>
            <a:r>
              <a:rPr lang="de-DE" dirty="0"/>
              <a:t>/</a:t>
            </a:r>
            <a:r>
              <a:rPr lang="de-DE" dirty="0" err="1"/>
              <a:t>max</a:t>
            </a:r>
            <a:r>
              <a:rPr lang="de-DE" dirty="0"/>
              <a:t> </a:t>
            </a:r>
            <a:r>
              <a:rPr lang="de-DE" dirty="0" err="1"/>
              <a:t>pooling</a:t>
            </a:r>
            <a:r>
              <a:rPr lang="de-DE" dirty="0"/>
              <a:t> </a:t>
            </a:r>
            <a:r>
              <a:rPr lang="de-DE" dirty="0" err="1"/>
              <a:t>over</a:t>
            </a:r>
            <a:r>
              <a:rPr lang="de-DE" dirty="0"/>
              <a:t> final </a:t>
            </a:r>
            <a:r>
              <a:rPr lang="de-DE" dirty="0" err="1"/>
              <a:t>token</a:t>
            </a:r>
            <a:r>
              <a:rPr lang="de-DE" dirty="0"/>
              <a:t> </a:t>
            </a:r>
            <a:r>
              <a:rPr lang="de-DE" dirty="0" err="1"/>
              <a:t>embeddings</a:t>
            </a:r>
            <a:r>
              <a:rPr lang="de-DE" dirty="0"/>
              <a:t> (e.g., </a:t>
            </a:r>
            <a:r>
              <a:rPr lang="de-DE" dirty="0" err="1"/>
              <a:t>for</a:t>
            </a:r>
            <a:r>
              <a:rPr lang="de-DE" dirty="0"/>
              <a:t> </a:t>
            </a:r>
            <a:r>
              <a:rPr lang="de-DE" dirty="0" err="1"/>
              <a:t>sentence</a:t>
            </a:r>
            <a:r>
              <a:rPr lang="de-DE" dirty="0"/>
              <a:t> </a:t>
            </a:r>
            <a:r>
              <a:rPr lang="de-DE" dirty="0" err="1"/>
              <a:t>similarity</a:t>
            </a:r>
            <a:r>
              <a:rPr lang="de-DE" dirty="0"/>
              <a:t>)</a:t>
            </a:r>
          </a:p>
          <a:p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0BF87474-2FE1-1D25-ABD2-967B5E868E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55531C-5681-6B44-B2CA-926D7A74B06D}" type="slidenum">
              <a:rPr lang="de-DE" smtClean="0"/>
              <a:t>13</a:t>
            </a:fld>
            <a:endParaRPr lang="de-DE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310B2C6-3A5F-9519-04DA-E6239220BB59}"/>
              </a:ext>
            </a:extLst>
          </p:cNvPr>
          <p:cNvSpPr txBox="1"/>
          <p:nvPr/>
        </p:nvSpPr>
        <p:spPr>
          <a:xfrm>
            <a:off x="11529848" y="4800045"/>
            <a:ext cx="57281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000" dirty="0">
                <a:hlinkClick r:id="rId2"/>
              </a:rPr>
              <a:t>source</a:t>
            </a:r>
            <a:endParaRPr lang="de-DE" sz="1000" dirty="0"/>
          </a:p>
        </p:txBody>
      </p:sp>
      <p:pic>
        <p:nvPicPr>
          <p:cNvPr id="6" name="Picture 7" descr="A screen shot of a computer&#10;&#10;Description automatically generated">
            <a:extLst>
              <a:ext uri="{FF2B5EF4-FFF2-40B4-BE49-F238E27FC236}">
                <a16:creationId xmlns:a16="http://schemas.microsoft.com/office/drawing/2014/main" id="{3E9F7FDF-48D5-7328-35E3-E99E3D3B4CD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10600" y="1933274"/>
            <a:ext cx="3581400" cy="2866770"/>
          </a:xfrm>
          <a:prstGeom prst="rect">
            <a:avLst/>
          </a:prstGeom>
        </p:spPr>
      </p:pic>
      <p:sp>
        <p:nvSpPr>
          <p:cNvPr id="7" name="TextBox 8">
            <a:extLst>
              <a:ext uri="{FF2B5EF4-FFF2-40B4-BE49-F238E27FC236}">
                <a16:creationId xmlns:a16="http://schemas.microsoft.com/office/drawing/2014/main" id="{D4D6E73C-E984-5CF0-54C9-1C7FBF2544C7}"/>
              </a:ext>
            </a:extLst>
          </p:cNvPr>
          <p:cNvSpPr txBox="1"/>
          <p:nvPr/>
        </p:nvSpPr>
        <p:spPr>
          <a:xfrm>
            <a:off x="8958029" y="5042630"/>
            <a:ext cx="287837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sentence classification via [CLS] token</a:t>
            </a:r>
          </a:p>
        </p:txBody>
      </p:sp>
      <p:cxnSp>
        <p:nvCxnSpPr>
          <p:cNvPr id="8" name="Straight Arrow Connector 10">
            <a:extLst>
              <a:ext uri="{FF2B5EF4-FFF2-40B4-BE49-F238E27FC236}">
                <a16:creationId xmlns:a16="http://schemas.microsoft.com/office/drawing/2014/main" id="{001A42F3-47EB-3340-CC48-9BE4AC6D2692}"/>
              </a:ext>
            </a:extLst>
          </p:cNvPr>
          <p:cNvCxnSpPr>
            <a:cxnSpLocks/>
          </p:cNvCxnSpPr>
          <p:nvPr/>
        </p:nvCxnSpPr>
        <p:spPr>
          <a:xfrm flipH="1" flipV="1">
            <a:off x="8958029" y="4478867"/>
            <a:ext cx="228304" cy="65193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5836931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028E18EF-EC53-ACA5-61E8-A955218138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Finetuning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F7F4B16-9855-AFD2-D174-7FE31533046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5219637" cy="4530725"/>
          </a:xfrm>
        </p:spPr>
        <p:txBody>
          <a:bodyPr>
            <a:normAutofit/>
          </a:bodyPr>
          <a:lstStyle/>
          <a:p>
            <a:r>
              <a:rPr lang="de-DE" dirty="0" err="1"/>
              <a:t>get</a:t>
            </a:r>
            <a:r>
              <a:rPr lang="de-DE" dirty="0"/>
              <a:t> </a:t>
            </a:r>
            <a:r>
              <a:rPr lang="de-DE" dirty="0" err="1"/>
              <a:t>pretrained</a:t>
            </a:r>
            <a:r>
              <a:rPr lang="de-DE" dirty="0"/>
              <a:t> </a:t>
            </a:r>
            <a:r>
              <a:rPr lang="de-DE" dirty="0" err="1"/>
              <a:t>encoder</a:t>
            </a:r>
            <a:r>
              <a:rPr lang="de-DE" dirty="0"/>
              <a:t> LLM as </a:t>
            </a:r>
            <a:r>
              <a:rPr lang="de-DE" dirty="0" err="1"/>
              <a:t>foundation</a:t>
            </a:r>
            <a:r>
              <a:rPr lang="de-DE" dirty="0"/>
              <a:t> </a:t>
            </a:r>
            <a:r>
              <a:rPr lang="de-DE" dirty="0" err="1"/>
              <a:t>model</a:t>
            </a:r>
            <a:endParaRPr lang="de-DE" dirty="0"/>
          </a:p>
          <a:p>
            <a:pPr marL="0" indent="0">
              <a:buNone/>
            </a:pPr>
            <a:endParaRPr lang="de-DE" dirty="0"/>
          </a:p>
          <a:p>
            <a:r>
              <a:rPr lang="de-DE" dirty="0" err="1"/>
              <a:t>replace</a:t>
            </a:r>
            <a:r>
              <a:rPr lang="de-DE" dirty="0"/>
              <a:t> </a:t>
            </a:r>
            <a:r>
              <a:rPr lang="de-DE" dirty="0" err="1"/>
              <a:t>classifier</a:t>
            </a:r>
            <a:r>
              <a:rPr lang="de-DE" dirty="0"/>
              <a:t> </a:t>
            </a:r>
            <a:r>
              <a:rPr lang="de-DE" dirty="0" err="1"/>
              <a:t>head</a:t>
            </a:r>
            <a:r>
              <a:rPr lang="de-DE" dirty="0"/>
              <a:t> </a:t>
            </a:r>
            <a:r>
              <a:rPr lang="de-DE" dirty="0" err="1"/>
              <a:t>from</a:t>
            </a:r>
            <a:r>
              <a:rPr lang="de-DE" dirty="0"/>
              <a:t> </a:t>
            </a:r>
            <a:r>
              <a:rPr lang="de-DE" dirty="0" err="1"/>
              <a:t>pretraining</a:t>
            </a:r>
            <a:r>
              <a:rPr lang="de-DE" dirty="0"/>
              <a:t> </a:t>
            </a:r>
            <a:r>
              <a:rPr lang="de-DE" dirty="0" err="1"/>
              <a:t>with</a:t>
            </a:r>
            <a:r>
              <a:rPr lang="de-DE" dirty="0"/>
              <a:t> task-</a:t>
            </a:r>
            <a:r>
              <a:rPr lang="de-DE" dirty="0" err="1"/>
              <a:t>specific</a:t>
            </a:r>
            <a:r>
              <a:rPr lang="de-DE" dirty="0"/>
              <a:t> </a:t>
            </a:r>
            <a:r>
              <a:rPr lang="de-DE" dirty="0" err="1"/>
              <a:t>head</a:t>
            </a:r>
            <a:endParaRPr lang="de-DE" dirty="0"/>
          </a:p>
          <a:p>
            <a:pPr marL="0" indent="0">
              <a:buNone/>
            </a:pPr>
            <a:endParaRPr lang="en-GB" dirty="0"/>
          </a:p>
          <a:p>
            <a:r>
              <a:rPr lang="de-DE" dirty="0"/>
              <a:t>continue (starting with weights after pretraining) training with data for task at </a:t>
            </a:r>
            <a:r>
              <a:rPr lang="de-DE" dirty="0" err="1"/>
              <a:t>hand</a:t>
            </a:r>
            <a:endParaRPr lang="de-DE" dirty="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E455EA56-7CB1-7041-F3BA-0AEA9E42E1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4C94FE-FF23-4504-88E9-14D481113291}" type="slidenum">
              <a:rPr lang="en-GB" smtClean="0"/>
              <a:t>14</a:t>
            </a:fld>
            <a:endParaRPr lang="en-GB"/>
          </a:p>
        </p:txBody>
      </p:sp>
      <p:pic>
        <p:nvPicPr>
          <p:cNvPr id="5" name="44F0CE3B-0B30-475E-9AB0-8A52FDC60368" descr="Two-types-of-fine-tuning-techniques-using-pretrained-model-trained-on-ImageNet-The-first.png">
            <a:extLst>
              <a:ext uri="{FF2B5EF4-FFF2-40B4-BE49-F238E27FC236}">
                <a16:creationId xmlns:a16="http://schemas.microsoft.com/office/drawing/2014/main" id="{41955F9F-8537-8F49-68AF-A52D399B0B1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278098" y="1117410"/>
            <a:ext cx="5829368" cy="530835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2FEDA80F-387A-F82C-BB62-44CC7DCEF2FD}"/>
              </a:ext>
            </a:extLst>
          </p:cNvPr>
          <p:cNvSpPr txBox="1"/>
          <p:nvPr/>
        </p:nvSpPr>
        <p:spPr>
          <a:xfrm>
            <a:off x="7230529" y="6538912"/>
            <a:ext cx="53251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000" dirty="0">
                <a:hlinkClick r:id="rId3"/>
              </a:rPr>
              <a:t>source</a:t>
            </a:r>
            <a:endParaRPr lang="de-DE" sz="10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E527FE3-CED6-2943-D4A9-D8312B6F38C1}"/>
              </a:ext>
            </a:extLst>
          </p:cNvPr>
          <p:cNvSpPr txBox="1"/>
          <p:nvPr/>
        </p:nvSpPr>
        <p:spPr>
          <a:xfrm>
            <a:off x="6944578" y="291397"/>
            <a:ext cx="5162888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200" dirty="0"/>
              <a:t>options: finetune all weights or just </a:t>
            </a:r>
            <a:r>
              <a:rPr lang="de-DE" sz="2200" dirty="0" err="1"/>
              <a:t>some</a:t>
            </a:r>
            <a:endParaRPr lang="de-DE" sz="2200" dirty="0"/>
          </a:p>
          <a:p>
            <a:r>
              <a:rPr lang="de-DE" sz="2200" dirty="0"/>
              <a:t>(</a:t>
            </a:r>
            <a:r>
              <a:rPr lang="de-DE" sz="2200" dirty="0" err="1"/>
              <a:t>image</a:t>
            </a:r>
            <a:r>
              <a:rPr lang="de-DE" sz="2200" dirty="0"/>
              <a:t> </a:t>
            </a:r>
            <a:r>
              <a:rPr lang="de-DE" sz="2200" dirty="0" err="1"/>
              <a:t>classfication</a:t>
            </a:r>
            <a:r>
              <a:rPr lang="de-DE" sz="2200" dirty="0"/>
              <a:t> </a:t>
            </a:r>
            <a:r>
              <a:rPr lang="de-DE" sz="2200" dirty="0" err="1"/>
              <a:t>example</a:t>
            </a:r>
            <a:r>
              <a:rPr lang="de-DE" sz="2200" dirty="0"/>
              <a:t>)</a:t>
            </a:r>
            <a:endParaRPr lang="en-GB" sz="2200" dirty="0"/>
          </a:p>
        </p:txBody>
      </p:sp>
    </p:spTree>
    <p:extLst>
      <p:ext uri="{BB962C8B-B14F-4D97-AF65-F5344CB8AC3E}">
        <p14:creationId xmlns:p14="http://schemas.microsoft.com/office/powerpoint/2010/main" val="88090361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C70418-8F83-3C9E-7A93-DF61EC41A1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Finetuning Scenarios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AFF65F-2B24-83B6-1383-8EC4F945484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indent="0">
              <a:buNone/>
            </a:pPr>
            <a:r>
              <a:rPr lang="de-DE" sz="2400" dirty="0"/>
              <a:t>finetuning gives better adjustment to new task than feature extraction (important if new task differs a lot from pretraining task)</a:t>
            </a:r>
          </a:p>
          <a:p>
            <a:pPr marL="0" indent="0">
              <a:buNone/>
            </a:pPr>
            <a:r>
              <a:rPr lang="en-GB" sz="2400" dirty="0">
                <a:sym typeface="Wingdings" panose="05000000000000000000" pitchFamily="2" charset="2"/>
              </a:rPr>
              <a:t> coming along with </a:t>
            </a:r>
            <a:r>
              <a:rPr lang="en-GB" sz="2400" dirty="0"/>
              <a:t>danger of overfitting</a:t>
            </a:r>
          </a:p>
          <a:p>
            <a:pPr marL="0" indent="0">
              <a:buNone/>
            </a:pPr>
            <a:endParaRPr lang="en-GB" sz="2400" dirty="0"/>
          </a:p>
          <a:p>
            <a:pPr marL="0" indent="0">
              <a:buNone/>
            </a:pPr>
            <a:r>
              <a:rPr lang="en-GB" sz="2400" dirty="0"/>
              <a:t>features more generic in early layers (</a:t>
            </a:r>
            <a:r>
              <a:rPr lang="de-DE" sz="2400" dirty="0"/>
              <a:t>e.g., </a:t>
            </a:r>
            <a:r>
              <a:rPr lang="de-DE" sz="2400" dirty="0" err="1"/>
              <a:t>token</a:t>
            </a:r>
            <a:r>
              <a:rPr lang="de-DE" sz="2400" dirty="0"/>
              <a:t> </a:t>
            </a:r>
            <a:r>
              <a:rPr lang="de-DE" sz="2400" dirty="0" err="1"/>
              <a:t>structure</a:t>
            </a:r>
            <a:r>
              <a:rPr lang="de-DE" sz="2400" dirty="0"/>
              <a:t>, </a:t>
            </a:r>
            <a:r>
              <a:rPr lang="de-DE" sz="2400" dirty="0" err="1"/>
              <a:t>syntax</a:t>
            </a:r>
            <a:r>
              <a:rPr lang="de-DE" sz="2400" dirty="0"/>
              <a:t>, </a:t>
            </a:r>
            <a:r>
              <a:rPr lang="de-DE" sz="2400" dirty="0" err="1"/>
              <a:t>part-of-speech</a:t>
            </a:r>
            <a:r>
              <a:rPr lang="en-GB" sz="2400" dirty="0"/>
              <a:t>) and more specific to the pretraining data in later layers (</a:t>
            </a:r>
            <a:r>
              <a:rPr lang="de-DE" sz="2400" dirty="0"/>
              <a:t>e.g., </a:t>
            </a:r>
            <a:r>
              <a:rPr lang="de-DE" sz="2400" dirty="0" err="1"/>
              <a:t>word</a:t>
            </a:r>
            <a:r>
              <a:rPr lang="de-DE" sz="2400" dirty="0"/>
              <a:t> sense, </a:t>
            </a:r>
            <a:r>
              <a:rPr lang="de-DE" sz="2400" dirty="0" err="1"/>
              <a:t>entity</a:t>
            </a:r>
            <a:r>
              <a:rPr lang="de-DE" sz="2400" dirty="0"/>
              <a:t> </a:t>
            </a:r>
            <a:r>
              <a:rPr lang="de-DE" sz="2400" dirty="0" err="1"/>
              <a:t>linking</a:t>
            </a:r>
            <a:r>
              <a:rPr lang="en-GB" sz="2400" dirty="0"/>
              <a:t>)</a:t>
            </a:r>
          </a:p>
          <a:p>
            <a:pPr marL="0" indent="0">
              <a:buNone/>
            </a:pPr>
            <a:r>
              <a:rPr lang="en-GB" sz="2400" dirty="0">
                <a:sym typeface="Wingdings" panose="05000000000000000000" pitchFamily="2" charset="2"/>
              </a:rPr>
              <a:t> for small finetuning data sets, typically keep weights of early layers fixed to avoid overfitting</a:t>
            </a:r>
          </a:p>
          <a:p>
            <a:pPr marL="0" indent="0">
              <a:buNone/>
            </a:pPr>
            <a:endParaRPr lang="en-GB" sz="2400" dirty="0"/>
          </a:p>
          <a:p>
            <a:pPr marL="0" indent="0">
              <a:buNone/>
            </a:pPr>
            <a:r>
              <a:rPr lang="en-GB" sz="2400" dirty="0"/>
              <a:t>for large finetuning data sets (less danger of overfitting), finetuning all layers can be beneficial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1A47A66-9C27-B5A5-879C-001B250652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4C94FE-FF23-4504-88E9-14D481113291}" type="slidenum">
              <a:rPr lang="en-GB" smtClean="0"/>
              <a:t>15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0732042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CEFB21-2CCA-564A-D312-3A4B41E5AA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Why</a:t>
            </a:r>
            <a:r>
              <a:rPr lang="de-DE" dirty="0"/>
              <a:t> Finetuning? </a:t>
            </a:r>
            <a:endParaRPr lang="en-DE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DB15F20-2568-EEBA-AF76-03A86D63DF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9D05A8-43E9-1C49-8606-50AB68220DEC}" type="slidenum">
              <a:rPr lang="en-DE" smtClean="0"/>
              <a:t>16</a:t>
            </a:fld>
            <a:endParaRPr lang="en-DE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18758AB1-B3B0-0616-5CEB-865CA618E6D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13454" y="4100715"/>
            <a:ext cx="6965091" cy="2261627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CCBF6A85-5F13-3267-7016-A5B242B7FF98}"/>
              </a:ext>
            </a:extLst>
          </p:cNvPr>
          <p:cNvSpPr txBox="1"/>
          <p:nvPr/>
        </p:nvSpPr>
        <p:spPr>
          <a:xfrm>
            <a:off x="6302826" y="6356350"/>
            <a:ext cx="644512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000" dirty="0">
                <a:hlinkClick r:id="rId3"/>
              </a:rPr>
              <a:t>source</a:t>
            </a:r>
            <a:endParaRPr lang="de-DE" sz="1000" dirty="0"/>
          </a:p>
        </p:txBody>
      </p:sp>
      <p:sp>
        <p:nvSpPr>
          <p:cNvPr id="9" name="Inhaltsplatzhalter 8">
            <a:extLst>
              <a:ext uri="{FF2B5EF4-FFF2-40B4-BE49-F238E27FC236}">
                <a16:creationId xmlns:a16="http://schemas.microsoft.com/office/drawing/2014/main" id="{26BAE1A0-1615-EE5C-7E82-5B0C212C8B0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de-DE" dirty="0" err="1"/>
              <a:t>make</a:t>
            </a:r>
            <a:r>
              <a:rPr lang="de-DE" dirty="0"/>
              <a:t> </a:t>
            </a:r>
            <a:r>
              <a:rPr lang="de-DE" dirty="0" err="1"/>
              <a:t>use</a:t>
            </a:r>
            <a:r>
              <a:rPr lang="de-DE" dirty="0"/>
              <a:t>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your</a:t>
            </a:r>
            <a:r>
              <a:rPr lang="de-DE" dirty="0"/>
              <a:t> own </a:t>
            </a:r>
            <a:r>
              <a:rPr lang="de-DE" dirty="0" err="1"/>
              <a:t>data</a:t>
            </a:r>
            <a:r>
              <a:rPr lang="de-DE" dirty="0"/>
              <a:t> (domain-</a:t>
            </a:r>
            <a:r>
              <a:rPr lang="de-DE" dirty="0" err="1"/>
              <a:t>specific</a:t>
            </a:r>
            <a:r>
              <a:rPr lang="de-DE" dirty="0"/>
              <a:t>, high-quality)</a:t>
            </a:r>
          </a:p>
          <a:p>
            <a:pPr marL="0" indent="0">
              <a:buNone/>
            </a:pPr>
            <a:endParaRPr lang="de-DE" dirty="0"/>
          </a:p>
          <a:p>
            <a:pPr marL="0" indent="0">
              <a:buNone/>
            </a:pPr>
            <a:r>
              <a:rPr lang="de-DE" dirty="0" err="1"/>
              <a:t>instruction</a:t>
            </a:r>
            <a:r>
              <a:rPr lang="de-DE" dirty="0"/>
              <a:t> </a:t>
            </a:r>
            <a:r>
              <a:rPr lang="de-DE" dirty="0" err="1"/>
              <a:t>tuning</a:t>
            </a:r>
            <a:r>
              <a:rPr lang="de-DE" dirty="0"/>
              <a:t> </a:t>
            </a:r>
            <a:r>
              <a:rPr lang="de-DE" dirty="0" err="1"/>
              <a:t>typically</a:t>
            </a:r>
            <a:r>
              <a:rPr lang="de-DE" dirty="0"/>
              <a:t> </a:t>
            </a:r>
            <a:r>
              <a:rPr lang="de-DE" dirty="0" err="1"/>
              <a:t>for</a:t>
            </a:r>
            <a:r>
              <a:rPr lang="de-DE" dirty="0"/>
              <a:t> </a:t>
            </a:r>
            <a:r>
              <a:rPr lang="de-DE" dirty="0" err="1"/>
              <a:t>more</a:t>
            </a:r>
            <a:r>
              <a:rPr lang="de-DE" dirty="0"/>
              <a:t> </a:t>
            </a:r>
            <a:r>
              <a:rPr lang="de-DE" dirty="0" err="1"/>
              <a:t>generic</a:t>
            </a:r>
            <a:r>
              <a:rPr lang="de-DE" dirty="0"/>
              <a:t> expert, like </a:t>
            </a:r>
            <a:r>
              <a:rPr lang="de-DE" dirty="0" err="1"/>
              <a:t>coding</a:t>
            </a:r>
            <a:r>
              <a:rPr lang="de-DE" dirty="0"/>
              <a:t> (but </a:t>
            </a:r>
            <a:r>
              <a:rPr lang="de-DE" dirty="0" err="1"/>
              <a:t>can</a:t>
            </a:r>
            <a:r>
              <a:rPr lang="de-DE" dirty="0"/>
              <a:t> also </a:t>
            </a:r>
            <a:r>
              <a:rPr lang="de-DE" dirty="0" err="1"/>
              <a:t>be</a:t>
            </a:r>
            <a:r>
              <a:rPr lang="de-DE" dirty="0"/>
              <a:t> a </a:t>
            </a:r>
            <a:r>
              <a:rPr lang="de-DE" dirty="0" err="1"/>
              <a:t>more</a:t>
            </a:r>
            <a:r>
              <a:rPr lang="de-DE" dirty="0"/>
              <a:t> </a:t>
            </a:r>
            <a:r>
              <a:rPr lang="de-DE" dirty="0" err="1"/>
              <a:t>specific</a:t>
            </a:r>
            <a:r>
              <a:rPr lang="de-DE" dirty="0"/>
              <a:t> </a:t>
            </a:r>
            <a:r>
              <a:rPr lang="de-DE" dirty="0" err="1"/>
              <a:t>thing</a:t>
            </a:r>
            <a:r>
              <a:rPr lang="de-DE" dirty="0"/>
              <a:t> on private </a:t>
            </a:r>
            <a:r>
              <a:rPr lang="de-DE" dirty="0" err="1"/>
              <a:t>data</a:t>
            </a:r>
            <a:r>
              <a:rPr lang="de-DE" dirty="0"/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343321471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el 4">
            <a:extLst>
              <a:ext uri="{FF2B5EF4-FFF2-40B4-BE49-F238E27FC236}">
                <a16:creationId xmlns:a16="http://schemas.microsoft.com/office/drawing/2014/main" id="{4ED462E1-7391-FF3F-8ADF-6D5135CCE1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7B347D77-2736-E668-977C-E7F81439B1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55531C-5681-6B44-B2CA-926D7A74B06D}" type="slidenum">
              <a:rPr lang="de-DE" smtClean="0"/>
              <a:t>17</a:t>
            </a:fld>
            <a:endParaRPr lang="de-DE"/>
          </a:p>
        </p:txBody>
      </p:sp>
      <p:pic>
        <p:nvPicPr>
          <p:cNvPr id="7" name="Grafik 6" descr="Ein Bild, das Text, Diagramm, Screenshot, Reihe enthält.&#10;&#10;KI-generierte Inhalte können fehlerhaft sein.">
            <a:extLst>
              <a:ext uri="{FF2B5EF4-FFF2-40B4-BE49-F238E27FC236}">
                <a16:creationId xmlns:a16="http://schemas.microsoft.com/office/drawing/2014/main" id="{140FEE93-8F5D-CF9B-C151-C259F9021E2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09800" y="2308259"/>
            <a:ext cx="7772400" cy="41846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3077542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8DCEE70-38C0-6533-2AC9-319D23948A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Instruction</a:t>
            </a:r>
            <a:r>
              <a:rPr lang="de-DE" dirty="0"/>
              <a:t> Tuning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6058E5BD-E8C1-3A42-10A3-CBE78B1726A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/>
              <a:t>…</a:t>
            </a:r>
          </a:p>
          <a:p>
            <a:r>
              <a:rPr lang="en-GB" dirty="0"/>
              <a:t>supervised fine-tuning (</a:t>
            </a:r>
            <a:r>
              <a:rPr lang="en-GB" dirty="0">
                <a:hlinkClick r:id="rId2"/>
              </a:rPr>
              <a:t>SFT</a:t>
            </a:r>
            <a:r>
              <a:rPr lang="en-GB" dirty="0"/>
              <a:t>)</a:t>
            </a:r>
          </a:p>
          <a:p>
            <a:r>
              <a:rPr lang="en-GB" dirty="0"/>
              <a:t>(e.g., formatting)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97D7E70E-8F09-7DCF-2E5A-5879BF103E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55531C-5681-6B44-B2CA-926D7A74B06D}" type="slidenum">
              <a:rPr lang="de-DE" smtClean="0"/>
              <a:t>18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00953239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6694547-5151-D7D3-A925-23192933D4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Use Case: Question </a:t>
            </a:r>
            <a:r>
              <a:rPr lang="de-DE" dirty="0" err="1"/>
              <a:t>Answering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16ECF3B4-00CD-08EC-E43D-808D6F92E4C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FF4B0235-81C4-B185-7A07-065F0D4471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55531C-5681-6B44-B2CA-926D7A74B06D}" type="slidenum">
              <a:rPr lang="de-DE" smtClean="0"/>
              <a:t>19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68708136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2">
            <a:extLst>
              <a:ext uri="{FF2B5EF4-FFF2-40B4-BE49-F238E27FC236}">
                <a16:creationId xmlns:a16="http://schemas.microsoft.com/office/drawing/2014/main" id="{4B6824DA-8B74-F684-F880-FDAAE5FC68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Vibe Coding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6F9C158D-A2EE-2A3F-360F-3F48C1631E9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2" name="Foliennummernplatzhalter 1">
            <a:extLst>
              <a:ext uri="{FF2B5EF4-FFF2-40B4-BE49-F238E27FC236}">
                <a16:creationId xmlns:a16="http://schemas.microsoft.com/office/drawing/2014/main" id="{2FCD1A9F-76D0-3A1D-0524-21380D475A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55531C-5681-6B44-B2CA-926D7A74B06D}" type="slidenum">
              <a:rPr lang="de-DE" smtClean="0"/>
              <a:t>20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476970652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Grafik 4" descr="Ein Bild, das Text, Diagramm, Reihe, Screenshot enthält.&#10;&#10;KI-generierte Inhalte können fehlerhaft sein.">
            <a:extLst>
              <a:ext uri="{FF2B5EF4-FFF2-40B4-BE49-F238E27FC236}">
                <a16:creationId xmlns:a16="http://schemas.microsoft.com/office/drawing/2014/main" id="{96747100-59AE-6262-89EF-8C7470AFFDA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3334977"/>
            <a:ext cx="10515600" cy="3298525"/>
          </a:xfrm>
          <a:prstGeom prst="rect">
            <a:avLst/>
          </a:prstGeom>
        </p:spPr>
      </p:pic>
      <p:sp>
        <p:nvSpPr>
          <p:cNvPr id="2" name="Titel 1">
            <a:extLst>
              <a:ext uri="{FF2B5EF4-FFF2-40B4-BE49-F238E27FC236}">
                <a16:creationId xmlns:a16="http://schemas.microsoft.com/office/drawing/2014/main" id="{A2D747F7-B5C9-14F0-BC67-84479A070F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Alignment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FDF9E407-E7CD-CEC9-08A9-C9287C7FD40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/>
              <a:t>…</a:t>
            </a:r>
          </a:p>
          <a:p>
            <a:r>
              <a:rPr lang="en-GB" dirty="0"/>
              <a:t>reinforcement learning from human feedback (</a:t>
            </a:r>
            <a:r>
              <a:rPr lang="en-GB" dirty="0">
                <a:hlinkClick r:id="rId3"/>
              </a:rPr>
              <a:t>RLHF</a:t>
            </a:r>
            <a:r>
              <a:rPr lang="en-GB" dirty="0"/>
              <a:t>)</a:t>
            </a:r>
          </a:p>
          <a:p>
            <a:r>
              <a:rPr lang="en-GB" dirty="0"/>
              <a:t>alternatives: </a:t>
            </a:r>
            <a:r>
              <a:rPr lang="en-GB" dirty="0">
                <a:hlinkClick r:id="rId4"/>
              </a:rPr>
              <a:t>DPO</a:t>
            </a:r>
            <a:r>
              <a:rPr lang="en-GB" dirty="0"/>
              <a:t>, </a:t>
            </a:r>
            <a:r>
              <a:rPr lang="en-GB" dirty="0">
                <a:hlinkClick r:id="rId5"/>
              </a:rPr>
              <a:t>ORPO</a:t>
            </a:r>
            <a:endParaRPr lang="en-GB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EAE107DF-A4FD-7351-4A7D-0434F1EAC9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55531C-5681-6B44-B2CA-926D7A74B06D}" type="slidenum">
              <a:rPr lang="de-DE" smtClean="0"/>
              <a:t>21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126874156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DD99FF-C910-A0E8-3381-C448E5F165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 err="1">
                <a:hlinkClick r:id="rId2"/>
              </a:rPr>
              <a:t>InstructGPT</a:t>
            </a: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8FF788B-7FE4-0E3B-1C93-49275F5E67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9D05A8-43E9-1C49-8606-50AB68220DEC}" type="slidenum">
              <a:rPr lang="en-DE" smtClean="0"/>
              <a:t>22</a:t>
            </a:fld>
            <a:endParaRPr lang="en-DE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3F48B22-F5A5-3996-02A4-5527B567641F}"/>
              </a:ext>
            </a:extLst>
          </p:cNvPr>
          <p:cNvSpPr txBox="1"/>
          <p:nvPr/>
        </p:nvSpPr>
        <p:spPr>
          <a:xfrm>
            <a:off x="11277600" y="5178391"/>
            <a:ext cx="608718" cy="2462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000" dirty="0">
                <a:hlinkClick r:id="rId3"/>
              </a:rPr>
              <a:t>source</a:t>
            </a:r>
            <a:endParaRPr lang="de-DE" sz="1000" dirty="0"/>
          </a:p>
        </p:txBody>
      </p:sp>
      <p:pic>
        <p:nvPicPr>
          <p:cNvPr id="7" name="Grafik 6" descr="Ein Bild, das Text, Screenshot enthält.&#10;&#10;KI-generierte Inhalte können fehlerhaft sein.">
            <a:extLst>
              <a:ext uri="{FF2B5EF4-FFF2-40B4-BE49-F238E27FC236}">
                <a16:creationId xmlns:a16="http://schemas.microsoft.com/office/drawing/2014/main" id="{51ABF00D-E8BF-27E7-1A48-C092AAB646B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6605" y="1690688"/>
            <a:ext cx="11449713" cy="3258162"/>
          </a:xfrm>
          <a:prstGeom prst="rect">
            <a:avLst/>
          </a:prstGeom>
        </p:spPr>
      </p:pic>
      <p:sp>
        <p:nvSpPr>
          <p:cNvPr id="9" name="Textfeld 8">
            <a:extLst>
              <a:ext uri="{FF2B5EF4-FFF2-40B4-BE49-F238E27FC236}">
                <a16:creationId xmlns:a16="http://schemas.microsoft.com/office/drawing/2014/main" id="{DFB0CE71-E065-7443-636C-0D3D508B9E73}"/>
              </a:ext>
            </a:extLst>
          </p:cNvPr>
          <p:cNvSpPr txBox="1"/>
          <p:nvPr/>
        </p:nvSpPr>
        <p:spPr>
          <a:xfrm>
            <a:off x="2984938" y="5424610"/>
            <a:ext cx="6222124" cy="4924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en-GB" sz="2600" dirty="0"/>
              <a:t>aligning LLM output with human intention</a:t>
            </a:r>
          </a:p>
        </p:txBody>
      </p:sp>
    </p:spTree>
    <p:extLst>
      <p:ext uri="{BB962C8B-B14F-4D97-AF65-F5344CB8AC3E}">
        <p14:creationId xmlns:p14="http://schemas.microsoft.com/office/powerpoint/2010/main" val="2859818903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9493DE1-8681-E946-F35C-2A338BAFE2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84C5182F-76D3-02B3-807F-78D531F2C37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 err="1"/>
              <a:t>from</a:t>
            </a:r>
            <a:r>
              <a:rPr lang="de-DE" dirty="0"/>
              <a:t> GPT-3 </a:t>
            </a:r>
            <a:r>
              <a:rPr lang="de-DE" dirty="0" err="1"/>
              <a:t>to</a:t>
            </a:r>
            <a:r>
              <a:rPr lang="de-DE" dirty="0"/>
              <a:t> </a:t>
            </a:r>
            <a:r>
              <a:rPr lang="de-DE" dirty="0" err="1"/>
              <a:t>InstructGPT</a:t>
            </a:r>
            <a:r>
              <a:rPr lang="de-DE" dirty="0"/>
              <a:t> and ChatGPT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425A7FC5-9ED3-4885-ECCE-73FBD8CB74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55531C-5681-6B44-B2CA-926D7A74B06D}" type="slidenum">
              <a:rPr lang="de-DE" smtClean="0"/>
              <a:t>23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914762839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A1B08B0-5FAB-8E36-9583-086C5FE7FBA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Multi-Turn </a:t>
            </a:r>
            <a:r>
              <a:rPr lang="de-DE" dirty="0" err="1"/>
              <a:t>Dialogue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BFDAE060-03E4-7410-C0A6-AE36D46743C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 err="1"/>
              <a:t>Handled</a:t>
            </a:r>
            <a:r>
              <a:rPr lang="de-DE" dirty="0"/>
              <a:t> </a:t>
            </a:r>
            <a:r>
              <a:rPr lang="de-DE" dirty="0" err="1"/>
              <a:t>entirely</a:t>
            </a:r>
            <a:r>
              <a:rPr lang="de-DE" dirty="0"/>
              <a:t> </a:t>
            </a:r>
            <a:r>
              <a:rPr lang="de-DE" dirty="0" err="1"/>
              <a:t>by</a:t>
            </a:r>
            <a:r>
              <a:rPr lang="de-DE" dirty="0"/>
              <a:t> </a:t>
            </a:r>
            <a:r>
              <a:rPr lang="de-DE" dirty="0" err="1"/>
              <a:t>passing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conversation</a:t>
            </a:r>
            <a:r>
              <a:rPr lang="de-DE" dirty="0"/>
              <a:t> </a:t>
            </a:r>
            <a:r>
              <a:rPr lang="de-DE" dirty="0" err="1"/>
              <a:t>history</a:t>
            </a:r>
            <a:r>
              <a:rPr lang="de-DE" dirty="0"/>
              <a:t> </a:t>
            </a:r>
            <a:r>
              <a:rPr lang="de-DE" dirty="0" err="1"/>
              <a:t>as</a:t>
            </a:r>
            <a:r>
              <a:rPr lang="de-DE" dirty="0"/>
              <a:t> </a:t>
            </a:r>
            <a:r>
              <a:rPr lang="de-DE" dirty="0" err="1"/>
              <a:t>part</a:t>
            </a:r>
            <a:r>
              <a:rPr lang="de-DE" dirty="0"/>
              <a:t>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input</a:t>
            </a:r>
            <a:r>
              <a:rPr lang="de-DE" dirty="0"/>
              <a:t> </a:t>
            </a:r>
            <a:r>
              <a:rPr lang="de-DE" dirty="0" err="1"/>
              <a:t>to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model</a:t>
            </a:r>
            <a:r>
              <a:rPr lang="de-DE" dirty="0"/>
              <a:t> at </a:t>
            </a:r>
            <a:r>
              <a:rPr lang="de-DE" dirty="0" err="1"/>
              <a:t>each</a:t>
            </a:r>
            <a:r>
              <a:rPr lang="de-DE" dirty="0"/>
              <a:t> </a:t>
            </a:r>
            <a:r>
              <a:rPr lang="de-DE" dirty="0" err="1"/>
              <a:t>step</a:t>
            </a:r>
            <a:r>
              <a:rPr lang="de-DE" dirty="0"/>
              <a:t>.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4341BFF8-BEC1-70D4-324B-8FD51E0DAC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55531C-5681-6B44-B2CA-926D7A74B06D}" type="slidenum">
              <a:rPr lang="de-DE" smtClean="0"/>
              <a:t>24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345780904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6EB045E-1272-3E62-6E68-080CE472E3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Dialog Systems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C16BFCD0-FDF6-89AF-2AC1-D92E4EB1046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de-DE" dirty="0"/>
              <a:t>…</a:t>
            </a:r>
          </a:p>
          <a:p>
            <a:pPr marL="0" indent="0">
              <a:buNone/>
            </a:pPr>
            <a:endParaRPr lang="de-DE" dirty="0"/>
          </a:p>
          <a:p>
            <a:pPr marL="0" indent="0">
              <a:buNone/>
            </a:pPr>
            <a:r>
              <a:rPr lang="de-DE" dirty="0" err="1"/>
              <a:t>with</a:t>
            </a:r>
            <a:r>
              <a:rPr lang="de-DE" dirty="0"/>
              <a:t> </a:t>
            </a:r>
            <a:r>
              <a:rPr lang="de-DE" dirty="0" err="1"/>
              <a:t>instruction-tuned</a:t>
            </a:r>
            <a:r>
              <a:rPr lang="de-DE" dirty="0"/>
              <a:t> and </a:t>
            </a:r>
            <a:r>
              <a:rPr lang="de-DE" dirty="0" err="1"/>
              <a:t>aligned</a:t>
            </a:r>
            <a:r>
              <a:rPr lang="de-DE" dirty="0"/>
              <a:t> LLMs: </a:t>
            </a:r>
            <a:r>
              <a:rPr lang="de-DE" dirty="0" err="1"/>
              <a:t>assistant</a:t>
            </a:r>
            <a:r>
              <a:rPr lang="de-DE" dirty="0"/>
              <a:t>-style </a:t>
            </a:r>
            <a:r>
              <a:rPr lang="de-DE" dirty="0" err="1"/>
              <a:t>models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96D7745C-33A3-5E08-9676-31B82A7FED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55531C-5681-6B44-B2CA-926D7A74B06D}" type="slidenum">
              <a:rPr lang="de-DE" smtClean="0"/>
              <a:t>25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682940258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9AD07C-8362-D471-3F09-B2FC347557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Parameter-Efficient Finetuning (PEFT)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9876C3D-25E9-6468-66D7-A1D0E870E37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5"/>
            <a:ext cx="8009239" cy="4431242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dirty="0"/>
              <a:t>… </a:t>
            </a:r>
            <a:r>
              <a:rPr lang="en-GB" dirty="0">
                <a:hlinkClick r:id="rId2"/>
              </a:rPr>
              <a:t>LoRA</a:t>
            </a: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2E4E765-465F-5DF8-7C82-EFF8EB0E64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9D05A8-43E9-1C49-8606-50AB68220DEC}" type="slidenum">
              <a:rPr lang="en-DE" smtClean="0"/>
              <a:t>26</a:t>
            </a:fld>
            <a:endParaRPr lang="en-DE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93E85E75-380C-048D-109E-337786578A5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59485" y="2282775"/>
            <a:ext cx="3983086" cy="35174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4674663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1054</Words>
  <Application>Microsoft Macintosh PowerPoint</Application>
  <PresentationFormat>Breitbild</PresentationFormat>
  <Paragraphs>160</Paragraphs>
  <Slides>26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4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26</vt:i4>
      </vt:variant>
    </vt:vector>
  </HeadingPairs>
  <TitlesOfParts>
    <vt:vector size="31" baseType="lpstr">
      <vt:lpstr>Aptos</vt:lpstr>
      <vt:lpstr>Aptos Display</vt:lpstr>
      <vt:lpstr>Arial</vt:lpstr>
      <vt:lpstr>Wingdings</vt:lpstr>
      <vt:lpstr>Office</vt:lpstr>
      <vt:lpstr>Finetuning</vt:lpstr>
      <vt:lpstr>Course Contents</vt:lpstr>
      <vt:lpstr>This Part: Finetuning</vt:lpstr>
      <vt:lpstr>Modern Language Models in a Nutshell</vt:lpstr>
      <vt:lpstr>Transfer Learning from Foundation Models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BERT Variants</vt:lpstr>
      <vt:lpstr>Text Classification</vt:lpstr>
      <vt:lpstr>Feature Extraction</vt:lpstr>
      <vt:lpstr>Finetuning</vt:lpstr>
      <vt:lpstr>Finetuning Scenarios</vt:lpstr>
      <vt:lpstr>Why Finetuning? </vt:lpstr>
      <vt:lpstr>PowerPoint-Präsentation</vt:lpstr>
      <vt:lpstr>Instruction Tuning</vt:lpstr>
      <vt:lpstr>Use Case: Question Answering</vt:lpstr>
      <vt:lpstr>Vibe Coding</vt:lpstr>
      <vt:lpstr>Alignment</vt:lpstr>
      <vt:lpstr>InstructGPT</vt:lpstr>
      <vt:lpstr>PowerPoint-Präsentation</vt:lpstr>
      <vt:lpstr>Multi-Turn Dialogue</vt:lpstr>
      <vt:lpstr>Dialog Systems</vt:lpstr>
      <vt:lpstr>Parameter-Efficient Finetuning (PEFT)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Felix Wick</dc:creator>
  <cp:lastModifiedBy>Felix Wick</cp:lastModifiedBy>
  <cp:revision>77</cp:revision>
  <dcterms:created xsi:type="dcterms:W3CDTF">2025-07-07T13:23:51Z</dcterms:created>
  <dcterms:modified xsi:type="dcterms:W3CDTF">2025-09-12T12:56:49Z</dcterms:modified>
</cp:coreProperties>
</file>