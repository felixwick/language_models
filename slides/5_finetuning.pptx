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792" r:id="rId3"/>
    <p:sldId id="790" r:id="rId4"/>
    <p:sldId id="835" r:id="rId5"/>
    <p:sldId id="754" r:id="rId6"/>
    <p:sldId id="842" r:id="rId7"/>
    <p:sldId id="814" r:id="rId8"/>
    <p:sldId id="812" r:id="rId9"/>
    <p:sldId id="736" r:id="rId10"/>
    <p:sldId id="766" r:id="rId11"/>
    <p:sldId id="816" r:id="rId12"/>
    <p:sldId id="834" r:id="rId13"/>
    <p:sldId id="833" r:id="rId14"/>
    <p:sldId id="280" r:id="rId15"/>
    <p:sldId id="810" r:id="rId16"/>
    <p:sldId id="829" r:id="rId17"/>
    <p:sldId id="333" r:id="rId18"/>
    <p:sldId id="830" r:id="rId19"/>
    <p:sldId id="800" r:id="rId20"/>
    <p:sldId id="819" r:id="rId21"/>
    <p:sldId id="821" r:id="rId22"/>
    <p:sldId id="831" r:id="rId23"/>
    <p:sldId id="840" r:id="rId24"/>
    <p:sldId id="839" r:id="rId2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915"/>
    <p:restoredTop sz="94602"/>
  </p:normalViewPr>
  <p:slideViewPr>
    <p:cSldViewPr snapToGrid="0">
      <p:cViewPr varScale="1">
        <p:scale>
          <a:sx n="115" d="100"/>
          <a:sy n="115" d="100"/>
        </p:scale>
        <p:origin x="1440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6648FB5-C09B-4C87-AEF3-A553C798BCF5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EA944AD-327D-427D-A5F0-7AE39B4AFACB}">
      <dgm:prSet/>
      <dgm:spPr/>
      <dgm:t>
        <a:bodyPr/>
        <a:lstStyle/>
        <a:p>
          <a:r>
            <a:rPr lang="de-DE" b="0" dirty="0"/>
            <a:t>Deep Learning</a:t>
          </a:r>
          <a:endParaRPr lang="en-US" b="0" dirty="0"/>
        </a:p>
      </dgm:t>
    </dgm:pt>
    <dgm:pt modelId="{C379FD06-505A-41F8-9A66-4E9F695F9C1A}" type="parTrans" cxnId="{946460B5-6A24-4AD5-9BDB-D5E7AE78994B}">
      <dgm:prSet/>
      <dgm:spPr/>
      <dgm:t>
        <a:bodyPr/>
        <a:lstStyle/>
        <a:p>
          <a:endParaRPr lang="en-US"/>
        </a:p>
      </dgm:t>
    </dgm:pt>
    <dgm:pt modelId="{AD9B37F6-7A60-4E62-AE70-54601B347097}" type="sibTrans" cxnId="{946460B5-6A24-4AD5-9BDB-D5E7AE78994B}">
      <dgm:prSet/>
      <dgm:spPr/>
      <dgm:t>
        <a:bodyPr/>
        <a:lstStyle/>
        <a:p>
          <a:endParaRPr lang="en-US"/>
        </a:p>
      </dgm:t>
    </dgm:pt>
    <dgm:pt modelId="{0C6B1536-6269-470E-891B-548B1A1741C8}">
      <dgm:prSet/>
      <dgm:spPr/>
      <dgm:t>
        <a:bodyPr/>
        <a:lstStyle/>
        <a:p>
          <a:r>
            <a:rPr lang="de-DE" b="0" dirty="0"/>
            <a:t>Transformer</a:t>
          </a:r>
          <a:endParaRPr lang="en-US" b="0" dirty="0"/>
        </a:p>
      </dgm:t>
    </dgm:pt>
    <dgm:pt modelId="{BA3188B2-0301-4CA0-AC58-59A0732D4CC9}" type="parTrans" cxnId="{7F381230-3114-44FB-913E-0CD35BF36BA2}">
      <dgm:prSet/>
      <dgm:spPr/>
      <dgm:t>
        <a:bodyPr/>
        <a:lstStyle/>
        <a:p>
          <a:endParaRPr lang="en-US"/>
        </a:p>
      </dgm:t>
    </dgm:pt>
    <dgm:pt modelId="{E7BF0292-5C5E-44B5-9020-5B605116E8F8}" type="sibTrans" cxnId="{7F381230-3114-44FB-913E-0CD35BF36BA2}">
      <dgm:prSet/>
      <dgm:spPr/>
      <dgm:t>
        <a:bodyPr/>
        <a:lstStyle/>
        <a:p>
          <a:endParaRPr lang="en-US"/>
        </a:p>
      </dgm:t>
    </dgm:pt>
    <dgm:pt modelId="{DDA901FD-5C05-41F1-A824-5C833C35698E}">
      <dgm:prSet/>
      <dgm:spPr/>
      <dgm:t>
        <a:bodyPr/>
        <a:lstStyle/>
        <a:p>
          <a:r>
            <a:rPr lang="de-DE" dirty="0" err="1"/>
            <a:t>Agents</a:t>
          </a:r>
          <a:endParaRPr lang="en-US" dirty="0"/>
        </a:p>
      </dgm:t>
    </dgm:pt>
    <dgm:pt modelId="{D760294E-1D9B-408E-B689-8391D4CF7D9C}" type="parTrans" cxnId="{76557D45-55A9-46E4-80D0-E1396A52CE52}">
      <dgm:prSet/>
      <dgm:spPr/>
      <dgm:t>
        <a:bodyPr/>
        <a:lstStyle/>
        <a:p>
          <a:endParaRPr lang="en-US"/>
        </a:p>
      </dgm:t>
    </dgm:pt>
    <dgm:pt modelId="{EDCB14DE-D3C3-4E5C-A331-71113C0250BD}" type="sibTrans" cxnId="{76557D45-55A9-46E4-80D0-E1396A52CE52}">
      <dgm:prSet/>
      <dgm:spPr/>
      <dgm:t>
        <a:bodyPr/>
        <a:lstStyle/>
        <a:p>
          <a:endParaRPr lang="en-US"/>
        </a:p>
      </dgm:t>
    </dgm:pt>
    <dgm:pt modelId="{5F30F6BE-7A6E-4F0D-B3AA-2B05FD8FA60B}">
      <dgm:prSet/>
      <dgm:spPr/>
      <dgm:t>
        <a:bodyPr/>
        <a:lstStyle/>
        <a:p>
          <a:r>
            <a:rPr lang="de-DE" b="0" dirty="0"/>
            <a:t>The Bigger Picture</a:t>
          </a:r>
          <a:endParaRPr lang="en-US" b="0" dirty="0"/>
        </a:p>
      </dgm:t>
    </dgm:pt>
    <dgm:pt modelId="{204DD833-1CD5-42F1-B596-8D8B6D369E5E}" type="parTrans" cxnId="{336AE3DC-37F1-4955-813F-D94B74C0A559}">
      <dgm:prSet/>
      <dgm:spPr/>
      <dgm:t>
        <a:bodyPr/>
        <a:lstStyle/>
        <a:p>
          <a:endParaRPr lang="en-US"/>
        </a:p>
      </dgm:t>
    </dgm:pt>
    <dgm:pt modelId="{838162BB-5917-468F-85CC-DC0FE427929A}" type="sibTrans" cxnId="{336AE3DC-37F1-4955-813F-D94B74C0A559}">
      <dgm:prSet/>
      <dgm:spPr/>
      <dgm:t>
        <a:bodyPr/>
        <a:lstStyle/>
        <a:p>
          <a:endParaRPr lang="en-US"/>
        </a:p>
      </dgm:t>
    </dgm:pt>
    <dgm:pt modelId="{5F8A9840-886B-1549-86FA-DFF28283C6F7}">
      <dgm:prSet/>
      <dgm:spPr/>
      <dgm:t>
        <a:bodyPr/>
        <a:lstStyle/>
        <a:p>
          <a:r>
            <a:rPr lang="en-US" b="0" dirty="0"/>
            <a:t>Context Engineering</a:t>
          </a:r>
        </a:p>
      </dgm:t>
    </dgm:pt>
    <dgm:pt modelId="{A0E52CAA-BC0A-2241-8286-5195FC90ACDB}" type="parTrans" cxnId="{9C4437E1-A996-CF40-B2F7-2FD90BC18B8E}">
      <dgm:prSet/>
      <dgm:spPr/>
      <dgm:t>
        <a:bodyPr/>
        <a:lstStyle/>
        <a:p>
          <a:endParaRPr lang="de-DE"/>
        </a:p>
      </dgm:t>
    </dgm:pt>
    <dgm:pt modelId="{1EDED046-CF50-0248-AC64-C3620E7361E1}" type="sibTrans" cxnId="{9C4437E1-A996-CF40-B2F7-2FD90BC18B8E}">
      <dgm:prSet/>
      <dgm:spPr/>
      <dgm:t>
        <a:bodyPr/>
        <a:lstStyle/>
        <a:p>
          <a:endParaRPr lang="de-DE"/>
        </a:p>
      </dgm:t>
    </dgm:pt>
    <dgm:pt modelId="{A5BBF571-5253-6E40-82D7-7DFA55C403EE}">
      <dgm:prSet/>
      <dgm:spPr/>
      <dgm:t>
        <a:bodyPr/>
        <a:lstStyle/>
        <a:p>
          <a:r>
            <a:rPr lang="en-US" b="0" dirty="0"/>
            <a:t>LLMs</a:t>
          </a:r>
        </a:p>
      </dgm:t>
    </dgm:pt>
    <dgm:pt modelId="{3F510184-3A7A-F04A-AB3A-A6DA046D9501}" type="parTrans" cxnId="{47933137-DA02-BE4A-92B7-574CA30C7525}">
      <dgm:prSet/>
      <dgm:spPr/>
      <dgm:t>
        <a:bodyPr/>
        <a:lstStyle/>
        <a:p>
          <a:endParaRPr lang="de-DE"/>
        </a:p>
      </dgm:t>
    </dgm:pt>
    <dgm:pt modelId="{EBB0758C-E85A-AE4B-A658-5E0A4625321C}" type="sibTrans" cxnId="{47933137-DA02-BE4A-92B7-574CA30C7525}">
      <dgm:prSet/>
      <dgm:spPr/>
      <dgm:t>
        <a:bodyPr/>
        <a:lstStyle/>
        <a:p>
          <a:endParaRPr lang="de-DE"/>
        </a:p>
      </dgm:t>
    </dgm:pt>
    <dgm:pt modelId="{288D3E87-5781-4F83-84CB-1610EAD21773}">
      <dgm:prSet/>
      <dgm:spPr/>
      <dgm:t>
        <a:bodyPr/>
        <a:lstStyle/>
        <a:p>
          <a:r>
            <a:rPr lang="de-DE" b="1"/>
            <a:t>Finetuning</a:t>
          </a:r>
          <a:endParaRPr lang="en-US" b="1" dirty="0"/>
        </a:p>
      </dgm:t>
    </dgm:pt>
    <dgm:pt modelId="{E930F8F9-CD27-4F21-8645-528352089D37}" type="sibTrans" cxnId="{4B05A8AF-8E44-411A-9840-24940C52F31E}">
      <dgm:prSet/>
      <dgm:spPr/>
      <dgm:t>
        <a:bodyPr/>
        <a:lstStyle/>
        <a:p>
          <a:endParaRPr lang="en-US"/>
        </a:p>
      </dgm:t>
    </dgm:pt>
    <dgm:pt modelId="{5D1CA44E-A2B8-416C-AF5D-FE642F689AF8}" type="parTrans" cxnId="{4B05A8AF-8E44-411A-9840-24940C52F31E}">
      <dgm:prSet/>
      <dgm:spPr/>
      <dgm:t>
        <a:bodyPr/>
        <a:lstStyle/>
        <a:p>
          <a:endParaRPr lang="en-US"/>
        </a:p>
      </dgm:t>
    </dgm:pt>
    <dgm:pt modelId="{7852B3C2-A44C-F446-9060-CA21A0D28991}" type="pres">
      <dgm:prSet presAssocID="{56648FB5-C09B-4C87-AEF3-A553C798BCF5}" presName="vert0" presStyleCnt="0">
        <dgm:presLayoutVars>
          <dgm:dir/>
          <dgm:animOne val="branch"/>
          <dgm:animLvl val="lvl"/>
        </dgm:presLayoutVars>
      </dgm:prSet>
      <dgm:spPr/>
    </dgm:pt>
    <dgm:pt modelId="{4F1690E2-16BD-2B42-AE98-F2A735104EFA}" type="pres">
      <dgm:prSet presAssocID="{1EA944AD-327D-427D-A5F0-7AE39B4AFACB}" presName="thickLine" presStyleLbl="alignNode1" presStyleIdx="0" presStyleCnt="7"/>
      <dgm:spPr/>
    </dgm:pt>
    <dgm:pt modelId="{7B746AAE-0D31-DE44-A5F6-86F76B8A3E80}" type="pres">
      <dgm:prSet presAssocID="{1EA944AD-327D-427D-A5F0-7AE39B4AFACB}" presName="horz1" presStyleCnt="0"/>
      <dgm:spPr/>
    </dgm:pt>
    <dgm:pt modelId="{D28CB533-C51E-334E-9261-65C425A19706}" type="pres">
      <dgm:prSet presAssocID="{1EA944AD-327D-427D-A5F0-7AE39B4AFACB}" presName="tx1" presStyleLbl="revTx" presStyleIdx="0" presStyleCnt="7"/>
      <dgm:spPr/>
    </dgm:pt>
    <dgm:pt modelId="{4B5756DB-F77A-B44F-B3F7-F3894F36872A}" type="pres">
      <dgm:prSet presAssocID="{1EA944AD-327D-427D-A5F0-7AE39B4AFACB}" presName="vert1" presStyleCnt="0"/>
      <dgm:spPr/>
    </dgm:pt>
    <dgm:pt modelId="{A11F9CE2-7889-D042-B67A-3B946F072596}" type="pres">
      <dgm:prSet presAssocID="{0C6B1536-6269-470E-891B-548B1A1741C8}" presName="thickLine" presStyleLbl="alignNode1" presStyleIdx="1" presStyleCnt="7"/>
      <dgm:spPr/>
    </dgm:pt>
    <dgm:pt modelId="{FDBEDC87-8791-4D44-8FD8-85B48AD39373}" type="pres">
      <dgm:prSet presAssocID="{0C6B1536-6269-470E-891B-548B1A1741C8}" presName="horz1" presStyleCnt="0"/>
      <dgm:spPr/>
    </dgm:pt>
    <dgm:pt modelId="{8D7BB36B-DCB0-1945-8136-BD40AAFC958C}" type="pres">
      <dgm:prSet presAssocID="{0C6B1536-6269-470E-891B-548B1A1741C8}" presName="tx1" presStyleLbl="revTx" presStyleIdx="1" presStyleCnt="7"/>
      <dgm:spPr/>
    </dgm:pt>
    <dgm:pt modelId="{DCBD3594-6E80-0B41-BD87-AFAFE90B7B0C}" type="pres">
      <dgm:prSet presAssocID="{0C6B1536-6269-470E-891B-548B1A1741C8}" presName="vert1" presStyleCnt="0"/>
      <dgm:spPr/>
    </dgm:pt>
    <dgm:pt modelId="{9D950D6B-5C89-8A48-9960-CA8B4C499A1A}" type="pres">
      <dgm:prSet presAssocID="{A5BBF571-5253-6E40-82D7-7DFA55C403EE}" presName="thickLine" presStyleLbl="alignNode1" presStyleIdx="2" presStyleCnt="7"/>
      <dgm:spPr/>
    </dgm:pt>
    <dgm:pt modelId="{743C7BE5-F107-5047-8108-35976C730BE6}" type="pres">
      <dgm:prSet presAssocID="{A5BBF571-5253-6E40-82D7-7DFA55C403EE}" presName="horz1" presStyleCnt="0"/>
      <dgm:spPr/>
    </dgm:pt>
    <dgm:pt modelId="{1B96839A-94C6-3747-AECB-6AFE26E91254}" type="pres">
      <dgm:prSet presAssocID="{A5BBF571-5253-6E40-82D7-7DFA55C403EE}" presName="tx1" presStyleLbl="revTx" presStyleIdx="2" presStyleCnt="7"/>
      <dgm:spPr/>
    </dgm:pt>
    <dgm:pt modelId="{437624BB-39AA-794C-B0F6-B2CF5CA2B5A0}" type="pres">
      <dgm:prSet presAssocID="{A5BBF571-5253-6E40-82D7-7DFA55C403EE}" presName="vert1" presStyleCnt="0"/>
      <dgm:spPr/>
    </dgm:pt>
    <dgm:pt modelId="{34CF0AAF-5C3E-5349-AD9D-2034F634313C}" type="pres">
      <dgm:prSet presAssocID="{5F8A9840-886B-1549-86FA-DFF28283C6F7}" presName="thickLine" presStyleLbl="alignNode1" presStyleIdx="3" presStyleCnt="7"/>
      <dgm:spPr/>
    </dgm:pt>
    <dgm:pt modelId="{2F409A89-4A7E-3D4A-93C7-15493EA49A4E}" type="pres">
      <dgm:prSet presAssocID="{5F8A9840-886B-1549-86FA-DFF28283C6F7}" presName="horz1" presStyleCnt="0"/>
      <dgm:spPr/>
    </dgm:pt>
    <dgm:pt modelId="{D2ABD2C0-EDD7-194E-81CA-D9A5311A1607}" type="pres">
      <dgm:prSet presAssocID="{5F8A9840-886B-1549-86FA-DFF28283C6F7}" presName="tx1" presStyleLbl="revTx" presStyleIdx="3" presStyleCnt="7"/>
      <dgm:spPr/>
    </dgm:pt>
    <dgm:pt modelId="{F666EF11-8510-CD40-BB10-489FF0DA3CFF}" type="pres">
      <dgm:prSet presAssocID="{5F8A9840-886B-1549-86FA-DFF28283C6F7}" presName="vert1" presStyleCnt="0"/>
      <dgm:spPr/>
    </dgm:pt>
    <dgm:pt modelId="{8A505F94-65E4-9D41-AC2C-CCE8BD4C175F}" type="pres">
      <dgm:prSet presAssocID="{288D3E87-5781-4F83-84CB-1610EAD21773}" presName="thickLine" presStyleLbl="alignNode1" presStyleIdx="4" presStyleCnt="7"/>
      <dgm:spPr/>
    </dgm:pt>
    <dgm:pt modelId="{B678B193-63FE-3044-8C53-579A035591F8}" type="pres">
      <dgm:prSet presAssocID="{288D3E87-5781-4F83-84CB-1610EAD21773}" presName="horz1" presStyleCnt="0"/>
      <dgm:spPr/>
    </dgm:pt>
    <dgm:pt modelId="{6E572D5D-DE9A-BF49-8B86-50D4250D1411}" type="pres">
      <dgm:prSet presAssocID="{288D3E87-5781-4F83-84CB-1610EAD21773}" presName="tx1" presStyleLbl="revTx" presStyleIdx="4" presStyleCnt="7"/>
      <dgm:spPr/>
    </dgm:pt>
    <dgm:pt modelId="{7F071049-5D5A-2445-8B31-652B1063C281}" type="pres">
      <dgm:prSet presAssocID="{288D3E87-5781-4F83-84CB-1610EAD21773}" presName="vert1" presStyleCnt="0"/>
      <dgm:spPr/>
    </dgm:pt>
    <dgm:pt modelId="{3D5DC94A-13EE-9348-AB63-BA6D7AB77EF3}" type="pres">
      <dgm:prSet presAssocID="{DDA901FD-5C05-41F1-A824-5C833C35698E}" presName="thickLine" presStyleLbl="alignNode1" presStyleIdx="5" presStyleCnt="7"/>
      <dgm:spPr/>
    </dgm:pt>
    <dgm:pt modelId="{27EB4548-6597-7A48-B8EB-8D5D075E0879}" type="pres">
      <dgm:prSet presAssocID="{DDA901FD-5C05-41F1-A824-5C833C35698E}" presName="horz1" presStyleCnt="0"/>
      <dgm:spPr/>
    </dgm:pt>
    <dgm:pt modelId="{B71E94BA-938F-EC4F-AA59-749EE236EA14}" type="pres">
      <dgm:prSet presAssocID="{DDA901FD-5C05-41F1-A824-5C833C35698E}" presName="tx1" presStyleLbl="revTx" presStyleIdx="5" presStyleCnt="7"/>
      <dgm:spPr/>
    </dgm:pt>
    <dgm:pt modelId="{AB286E63-B7A7-4244-8719-A27E1E499373}" type="pres">
      <dgm:prSet presAssocID="{DDA901FD-5C05-41F1-A824-5C833C35698E}" presName="vert1" presStyleCnt="0"/>
      <dgm:spPr/>
    </dgm:pt>
    <dgm:pt modelId="{20D72B1E-AD82-9E49-86D8-09A4DD4D6212}" type="pres">
      <dgm:prSet presAssocID="{5F30F6BE-7A6E-4F0D-B3AA-2B05FD8FA60B}" presName="thickLine" presStyleLbl="alignNode1" presStyleIdx="6" presStyleCnt="7"/>
      <dgm:spPr/>
    </dgm:pt>
    <dgm:pt modelId="{FE30EA44-022B-FF41-BE9E-EF735E26A50E}" type="pres">
      <dgm:prSet presAssocID="{5F30F6BE-7A6E-4F0D-B3AA-2B05FD8FA60B}" presName="horz1" presStyleCnt="0"/>
      <dgm:spPr/>
    </dgm:pt>
    <dgm:pt modelId="{08701614-A5A0-9544-95A3-640A46D860BF}" type="pres">
      <dgm:prSet presAssocID="{5F30F6BE-7A6E-4F0D-B3AA-2B05FD8FA60B}" presName="tx1" presStyleLbl="revTx" presStyleIdx="6" presStyleCnt="7"/>
      <dgm:spPr/>
    </dgm:pt>
    <dgm:pt modelId="{5BC0372B-66B7-0640-8199-37B331256C9A}" type="pres">
      <dgm:prSet presAssocID="{5F30F6BE-7A6E-4F0D-B3AA-2B05FD8FA60B}" presName="vert1" presStyleCnt="0"/>
      <dgm:spPr/>
    </dgm:pt>
  </dgm:ptLst>
  <dgm:cxnLst>
    <dgm:cxn modelId="{48E2F92B-7174-CF40-BB56-062756623EA4}" type="presOf" srcId="{288D3E87-5781-4F83-84CB-1610EAD21773}" destId="{6E572D5D-DE9A-BF49-8B86-50D4250D1411}" srcOrd="0" destOrd="0" presId="urn:microsoft.com/office/officeart/2008/layout/LinedList"/>
    <dgm:cxn modelId="{7F381230-3114-44FB-913E-0CD35BF36BA2}" srcId="{56648FB5-C09B-4C87-AEF3-A553C798BCF5}" destId="{0C6B1536-6269-470E-891B-548B1A1741C8}" srcOrd="1" destOrd="0" parTransId="{BA3188B2-0301-4CA0-AC58-59A0732D4CC9}" sibTransId="{E7BF0292-5C5E-44B5-9020-5B605116E8F8}"/>
    <dgm:cxn modelId="{47933137-DA02-BE4A-92B7-574CA30C7525}" srcId="{56648FB5-C09B-4C87-AEF3-A553C798BCF5}" destId="{A5BBF571-5253-6E40-82D7-7DFA55C403EE}" srcOrd="2" destOrd="0" parTransId="{3F510184-3A7A-F04A-AB3A-A6DA046D9501}" sibTransId="{EBB0758C-E85A-AE4B-A658-5E0A4625321C}"/>
    <dgm:cxn modelId="{76557D45-55A9-46E4-80D0-E1396A52CE52}" srcId="{56648FB5-C09B-4C87-AEF3-A553C798BCF5}" destId="{DDA901FD-5C05-41F1-A824-5C833C35698E}" srcOrd="5" destOrd="0" parTransId="{D760294E-1D9B-408E-B689-8391D4CF7D9C}" sibTransId="{EDCB14DE-D3C3-4E5C-A331-71113C0250BD}"/>
    <dgm:cxn modelId="{DC6A2B55-9959-9E41-8C4C-FB8FF415BF70}" type="presOf" srcId="{A5BBF571-5253-6E40-82D7-7DFA55C403EE}" destId="{1B96839A-94C6-3747-AECB-6AFE26E91254}" srcOrd="0" destOrd="0" presId="urn:microsoft.com/office/officeart/2008/layout/LinedList"/>
    <dgm:cxn modelId="{5328FF68-AF12-2640-82DD-4A8558848644}" type="presOf" srcId="{5F8A9840-886B-1549-86FA-DFF28283C6F7}" destId="{D2ABD2C0-EDD7-194E-81CA-D9A5311A1607}" srcOrd="0" destOrd="0" presId="urn:microsoft.com/office/officeart/2008/layout/LinedList"/>
    <dgm:cxn modelId="{B8B43377-1557-2042-BB5A-D55D04913284}" type="presOf" srcId="{0C6B1536-6269-470E-891B-548B1A1741C8}" destId="{8D7BB36B-DCB0-1945-8136-BD40AAFC958C}" srcOrd="0" destOrd="0" presId="urn:microsoft.com/office/officeart/2008/layout/LinedList"/>
    <dgm:cxn modelId="{C625FD7A-ECA1-B44B-8D2B-E9E9504CD922}" type="presOf" srcId="{5F30F6BE-7A6E-4F0D-B3AA-2B05FD8FA60B}" destId="{08701614-A5A0-9544-95A3-640A46D860BF}" srcOrd="0" destOrd="0" presId="urn:microsoft.com/office/officeart/2008/layout/LinedList"/>
    <dgm:cxn modelId="{D9602A80-E4B9-A44F-8F18-41878FC23717}" type="presOf" srcId="{1EA944AD-327D-427D-A5F0-7AE39B4AFACB}" destId="{D28CB533-C51E-334E-9261-65C425A19706}" srcOrd="0" destOrd="0" presId="urn:microsoft.com/office/officeart/2008/layout/LinedList"/>
    <dgm:cxn modelId="{4B05A8AF-8E44-411A-9840-24940C52F31E}" srcId="{56648FB5-C09B-4C87-AEF3-A553C798BCF5}" destId="{288D3E87-5781-4F83-84CB-1610EAD21773}" srcOrd="4" destOrd="0" parTransId="{5D1CA44E-A2B8-416C-AF5D-FE642F689AF8}" sibTransId="{E930F8F9-CD27-4F21-8645-528352089D37}"/>
    <dgm:cxn modelId="{946460B5-6A24-4AD5-9BDB-D5E7AE78994B}" srcId="{56648FB5-C09B-4C87-AEF3-A553C798BCF5}" destId="{1EA944AD-327D-427D-A5F0-7AE39B4AFACB}" srcOrd="0" destOrd="0" parTransId="{C379FD06-505A-41F8-9A66-4E9F695F9C1A}" sibTransId="{AD9B37F6-7A60-4E62-AE70-54601B347097}"/>
    <dgm:cxn modelId="{AA560ECB-5494-694A-8753-2D77B2337369}" type="presOf" srcId="{DDA901FD-5C05-41F1-A824-5C833C35698E}" destId="{B71E94BA-938F-EC4F-AA59-749EE236EA14}" srcOrd="0" destOrd="0" presId="urn:microsoft.com/office/officeart/2008/layout/LinedList"/>
    <dgm:cxn modelId="{336AE3DC-37F1-4955-813F-D94B74C0A559}" srcId="{56648FB5-C09B-4C87-AEF3-A553C798BCF5}" destId="{5F30F6BE-7A6E-4F0D-B3AA-2B05FD8FA60B}" srcOrd="6" destOrd="0" parTransId="{204DD833-1CD5-42F1-B596-8D8B6D369E5E}" sibTransId="{838162BB-5917-468F-85CC-DC0FE427929A}"/>
    <dgm:cxn modelId="{9C4437E1-A996-CF40-B2F7-2FD90BC18B8E}" srcId="{56648FB5-C09B-4C87-AEF3-A553C798BCF5}" destId="{5F8A9840-886B-1549-86FA-DFF28283C6F7}" srcOrd="3" destOrd="0" parTransId="{A0E52CAA-BC0A-2241-8286-5195FC90ACDB}" sibTransId="{1EDED046-CF50-0248-AC64-C3620E7361E1}"/>
    <dgm:cxn modelId="{83FBB8F5-9153-F24C-B359-92AB22A3F5BF}" type="presOf" srcId="{56648FB5-C09B-4C87-AEF3-A553C798BCF5}" destId="{7852B3C2-A44C-F446-9060-CA21A0D28991}" srcOrd="0" destOrd="0" presId="urn:microsoft.com/office/officeart/2008/layout/LinedList"/>
    <dgm:cxn modelId="{F5D2E861-C6DE-FB42-B7C6-B065F1F84377}" type="presParOf" srcId="{7852B3C2-A44C-F446-9060-CA21A0D28991}" destId="{4F1690E2-16BD-2B42-AE98-F2A735104EFA}" srcOrd="0" destOrd="0" presId="urn:microsoft.com/office/officeart/2008/layout/LinedList"/>
    <dgm:cxn modelId="{5FEB1837-8E5A-1842-B761-DF83A11712CF}" type="presParOf" srcId="{7852B3C2-A44C-F446-9060-CA21A0D28991}" destId="{7B746AAE-0D31-DE44-A5F6-86F76B8A3E80}" srcOrd="1" destOrd="0" presId="urn:microsoft.com/office/officeart/2008/layout/LinedList"/>
    <dgm:cxn modelId="{1E7396B7-9F8F-C842-AA84-A2108E4A965E}" type="presParOf" srcId="{7B746AAE-0D31-DE44-A5F6-86F76B8A3E80}" destId="{D28CB533-C51E-334E-9261-65C425A19706}" srcOrd="0" destOrd="0" presId="urn:microsoft.com/office/officeart/2008/layout/LinedList"/>
    <dgm:cxn modelId="{CA0E3B6D-3363-5D4D-B209-9374F0EBED3A}" type="presParOf" srcId="{7B746AAE-0D31-DE44-A5F6-86F76B8A3E80}" destId="{4B5756DB-F77A-B44F-B3F7-F3894F36872A}" srcOrd="1" destOrd="0" presId="urn:microsoft.com/office/officeart/2008/layout/LinedList"/>
    <dgm:cxn modelId="{42B9A5E9-078D-054D-AE14-35198416E7C7}" type="presParOf" srcId="{7852B3C2-A44C-F446-9060-CA21A0D28991}" destId="{A11F9CE2-7889-D042-B67A-3B946F072596}" srcOrd="2" destOrd="0" presId="urn:microsoft.com/office/officeart/2008/layout/LinedList"/>
    <dgm:cxn modelId="{4BADE72C-6502-F84A-A2A5-96C97CB0161C}" type="presParOf" srcId="{7852B3C2-A44C-F446-9060-CA21A0D28991}" destId="{FDBEDC87-8791-4D44-8FD8-85B48AD39373}" srcOrd="3" destOrd="0" presId="urn:microsoft.com/office/officeart/2008/layout/LinedList"/>
    <dgm:cxn modelId="{9F8EDEB8-D0BF-BC4D-99ED-6B9A4F9D4E71}" type="presParOf" srcId="{FDBEDC87-8791-4D44-8FD8-85B48AD39373}" destId="{8D7BB36B-DCB0-1945-8136-BD40AAFC958C}" srcOrd="0" destOrd="0" presId="urn:microsoft.com/office/officeart/2008/layout/LinedList"/>
    <dgm:cxn modelId="{6C4C1680-6204-3647-A71D-185D971F8D06}" type="presParOf" srcId="{FDBEDC87-8791-4D44-8FD8-85B48AD39373}" destId="{DCBD3594-6E80-0B41-BD87-AFAFE90B7B0C}" srcOrd="1" destOrd="0" presId="urn:microsoft.com/office/officeart/2008/layout/LinedList"/>
    <dgm:cxn modelId="{7D8B3A70-16CC-F84A-9F91-D5B131994F10}" type="presParOf" srcId="{7852B3C2-A44C-F446-9060-CA21A0D28991}" destId="{9D950D6B-5C89-8A48-9960-CA8B4C499A1A}" srcOrd="4" destOrd="0" presId="urn:microsoft.com/office/officeart/2008/layout/LinedList"/>
    <dgm:cxn modelId="{D70F27A6-397A-DC46-AAEC-F9F14C2305DE}" type="presParOf" srcId="{7852B3C2-A44C-F446-9060-CA21A0D28991}" destId="{743C7BE5-F107-5047-8108-35976C730BE6}" srcOrd="5" destOrd="0" presId="urn:microsoft.com/office/officeart/2008/layout/LinedList"/>
    <dgm:cxn modelId="{CC4867C0-5011-5F4E-9804-22ED95B3CC58}" type="presParOf" srcId="{743C7BE5-F107-5047-8108-35976C730BE6}" destId="{1B96839A-94C6-3747-AECB-6AFE26E91254}" srcOrd="0" destOrd="0" presId="urn:microsoft.com/office/officeart/2008/layout/LinedList"/>
    <dgm:cxn modelId="{FD8C6B51-C075-9B49-B1E3-2F72B8A0DF12}" type="presParOf" srcId="{743C7BE5-F107-5047-8108-35976C730BE6}" destId="{437624BB-39AA-794C-B0F6-B2CF5CA2B5A0}" srcOrd="1" destOrd="0" presId="urn:microsoft.com/office/officeart/2008/layout/LinedList"/>
    <dgm:cxn modelId="{A0D8D8B1-D102-CD41-9B65-91AB43686584}" type="presParOf" srcId="{7852B3C2-A44C-F446-9060-CA21A0D28991}" destId="{34CF0AAF-5C3E-5349-AD9D-2034F634313C}" srcOrd="6" destOrd="0" presId="urn:microsoft.com/office/officeart/2008/layout/LinedList"/>
    <dgm:cxn modelId="{157023DC-8251-F747-A790-8E9B78B3C8BE}" type="presParOf" srcId="{7852B3C2-A44C-F446-9060-CA21A0D28991}" destId="{2F409A89-4A7E-3D4A-93C7-15493EA49A4E}" srcOrd="7" destOrd="0" presId="urn:microsoft.com/office/officeart/2008/layout/LinedList"/>
    <dgm:cxn modelId="{D1200007-6A5D-FF43-8575-646BBC8E6C4E}" type="presParOf" srcId="{2F409A89-4A7E-3D4A-93C7-15493EA49A4E}" destId="{D2ABD2C0-EDD7-194E-81CA-D9A5311A1607}" srcOrd="0" destOrd="0" presId="urn:microsoft.com/office/officeart/2008/layout/LinedList"/>
    <dgm:cxn modelId="{87263814-0091-8A4A-828B-0F2A3C686C09}" type="presParOf" srcId="{2F409A89-4A7E-3D4A-93C7-15493EA49A4E}" destId="{F666EF11-8510-CD40-BB10-489FF0DA3CFF}" srcOrd="1" destOrd="0" presId="urn:microsoft.com/office/officeart/2008/layout/LinedList"/>
    <dgm:cxn modelId="{40CF11BD-58ED-0E4F-B3B7-F9CAAA40AD73}" type="presParOf" srcId="{7852B3C2-A44C-F446-9060-CA21A0D28991}" destId="{8A505F94-65E4-9D41-AC2C-CCE8BD4C175F}" srcOrd="8" destOrd="0" presId="urn:microsoft.com/office/officeart/2008/layout/LinedList"/>
    <dgm:cxn modelId="{0B980FB1-5585-2342-BD3C-2366897F0984}" type="presParOf" srcId="{7852B3C2-A44C-F446-9060-CA21A0D28991}" destId="{B678B193-63FE-3044-8C53-579A035591F8}" srcOrd="9" destOrd="0" presId="urn:microsoft.com/office/officeart/2008/layout/LinedList"/>
    <dgm:cxn modelId="{240D9A74-D193-CC40-97CA-ADC859B1D81F}" type="presParOf" srcId="{B678B193-63FE-3044-8C53-579A035591F8}" destId="{6E572D5D-DE9A-BF49-8B86-50D4250D1411}" srcOrd="0" destOrd="0" presId="urn:microsoft.com/office/officeart/2008/layout/LinedList"/>
    <dgm:cxn modelId="{3B1F9830-A4D6-E140-AE33-31C05CB5B37E}" type="presParOf" srcId="{B678B193-63FE-3044-8C53-579A035591F8}" destId="{7F071049-5D5A-2445-8B31-652B1063C281}" srcOrd="1" destOrd="0" presId="urn:microsoft.com/office/officeart/2008/layout/LinedList"/>
    <dgm:cxn modelId="{7A9EE529-C307-D440-8910-336F08C35B83}" type="presParOf" srcId="{7852B3C2-A44C-F446-9060-CA21A0D28991}" destId="{3D5DC94A-13EE-9348-AB63-BA6D7AB77EF3}" srcOrd="10" destOrd="0" presId="urn:microsoft.com/office/officeart/2008/layout/LinedList"/>
    <dgm:cxn modelId="{B6134942-BB7E-6A49-B625-7DF71CC12E8A}" type="presParOf" srcId="{7852B3C2-A44C-F446-9060-CA21A0D28991}" destId="{27EB4548-6597-7A48-B8EB-8D5D075E0879}" srcOrd="11" destOrd="0" presId="urn:microsoft.com/office/officeart/2008/layout/LinedList"/>
    <dgm:cxn modelId="{305C651D-0D92-1E46-AC15-0FFBF9C77550}" type="presParOf" srcId="{27EB4548-6597-7A48-B8EB-8D5D075E0879}" destId="{B71E94BA-938F-EC4F-AA59-749EE236EA14}" srcOrd="0" destOrd="0" presId="urn:microsoft.com/office/officeart/2008/layout/LinedList"/>
    <dgm:cxn modelId="{6A8C2A6C-DA48-E74E-9F29-7B72A279E967}" type="presParOf" srcId="{27EB4548-6597-7A48-B8EB-8D5D075E0879}" destId="{AB286E63-B7A7-4244-8719-A27E1E499373}" srcOrd="1" destOrd="0" presId="urn:microsoft.com/office/officeart/2008/layout/LinedList"/>
    <dgm:cxn modelId="{D4FDD938-A0E5-1344-91E8-DB626E229B73}" type="presParOf" srcId="{7852B3C2-A44C-F446-9060-CA21A0D28991}" destId="{20D72B1E-AD82-9E49-86D8-09A4DD4D6212}" srcOrd="12" destOrd="0" presId="urn:microsoft.com/office/officeart/2008/layout/LinedList"/>
    <dgm:cxn modelId="{3CB3EB14-3FB4-7040-B2C6-572E38DFBAF8}" type="presParOf" srcId="{7852B3C2-A44C-F446-9060-CA21A0D28991}" destId="{FE30EA44-022B-FF41-BE9E-EF735E26A50E}" srcOrd="13" destOrd="0" presId="urn:microsoft.com/office/officeart/2008/layout/LinedList"/>
    <dgm:cxn modelId="{0ECA1AF6-D499-C74C-B742-8D288CCF75FA}" type="presParOf" srcId="{FE30EA44-022B-FF41-BE9E-EF735E26A50E}" destId="{08701614-A5A0-9544-95A3-640A46D860BF}" srcOrd="0" destOrd="0" presId="urn:microsoft.com/office/officeart/2008/layout/LinedList"/>
    <dgm:cxn modelId="{AD84564D-97AD-C847-ACA7-6607F1C92514}" type="presParOf" srcId="{FE30EA44-022B-FF41-BE9E-EF735E26A50E}" destId="{5BC0372B-66B7-0640-8199-37B331256C9A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1690E2-16BD-2B42-AE98-F2A735104EFA}">
      <dsp:nvSpPr>
        <dsp:cNvPr id="0" name=""/>
        <dsp:cNvSpPr/>
      </dsp:nvSpPr>
      <dsp:spPr>
        <a:xfrm>
          <a:off x="0" y="531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8CB533-C51E-334E-9261-65C425A19706}">
      <dsp:nvSpPr>
        <dsp:cNvPr id="0" name=""/>
        <dsp:cNvSpPr/>
      </dsp:nvSpPr>
      <dsp:spPr>
        <a:xfrm>
          <a:off x="0" y="531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Deep Learning</a:t>
          </a:r>
          <a:endParaRPr lang="en-US" sz="2800" b="0" kern="1200" dirty="0"/>
        </a:p>
      </dsp:txBody>
      <dsp:txXfrm>
        <a:off x="0" y="531"/>
        <a:ext cx="10515600" cy="621467"/>
      </dsp:txXfrm>
    </dsp:sp>
    <dsp:sp modelId="{A11F9CE2-7889-D042-B67A-3B946F072596}">
      <dsp:nvSpPr>
        <dsp:cNvPr id="0" name=""/>
        <dsp:cNvSpPr/>
      </dsp:nvSpPr>
      <dsp:spPr>
        <a:xfrm>
          <a:off x="0" y="621999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7BB36B-DCB0-1945-8136-BD40AAFC958C}">
      <dsp:nvSpPr>
        <dsp:cNvPr id="0" name=""/>
        <dsp:cNvSpPr/>
      </dsp:nvSpPr>
      <dsp:spPr>
        <a:xfrm>
          <a:off x="0" y="621999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Transformer</a:t>
          </a:r>
          <a:endParaRPr lang="en-US" sz="2800" b="0" kern="1200" dirty="0"/>
        </a:p>
      </dsp:txBody>
      <dsp:txXfrm>
        <a:off x="0" y="621999"/>
        <a:ext cx="10515600" cy="621467"/>
      </dsp:txXfrm>
    </dsp:sp>
    <dsp:sp modelId="{9D950D6B-5C89-8A48-9960-CA8B4C499A1A}">
      <dsp:nvSpPr>
        <dsp:cNvPr id="0" name=""/>
        <dsp:cNvSpPr/>
      </dsp:nvSpPr>
      <dsp:spPr>
        <a:xfrm>
          <a:off x="0" y="1243467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96839A-94C6-3747-AECB-6AFE26E91254}">
      <dsp:nvSpPr>
        <dsp:cNvPr id="0" name=""/>
        <dsp:cNvSpPr/>
      </dsp:nvSpPr>
      <dsp:spPr>
        <a:xfrm>
          <a:off x="0" y="1243467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kern="1200" dirty="0"/>
            <a:t>LLMs</a:t>
          </a:r>
        </a:p>
      </dsp:txBody>
      <dsp:txXfrm>
        <a:off x="0" y="1243467"/>
        <a:ext cx="10515600" cy="621467"/>
      </dsp:txXfrm>
    </dsp:sp>
    <dsp:sp modelId="{34CF0AAF-5C3E-5349-AD9D-2034F634313C}">
      <dsp:nvSpPr>
        <dsp:cNvPr id="0" name=""/>
        <dsp:cNvSpPr/>
      </dsp:nvSpPr>
      <dsp:spPr>
        <a:xfrm>
          <a:off x="0" y="1864935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ABD2C0-EDD7-194E-81CA-D9A5311A1607}">
      <dsp:nvSpPr>
        <dsp:cNvPr id="0" name=""/>
        <dsp:cNvSpPr/>
      </dsp:nvSpPr>
      <dsp:spPr>
        <a:xfrm>
          <a:off x="0" y="1864935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kern="1200" dirty="0"/>
            <a:t>Context Engineering</a:t>
          </a:r>
        </a:p>
      </dsp:txBody>
      <dsp:txXfrm>
        <a:off x="0" y="1864935"/>
        <a:ext cx="10515600" cy="621467"/>
      </dsp:txXfrm>
    </dsp:sp>
    <dsp:sp modelId="{8A505F94-65E4-9D41-AC2C-CCE8BD4C175F}">
      <dsp:nvSpPr>
        <dsp:cNvPr id="0" name=""/>
        <dsp:cNvSpPr/>
      </dsp:nvSpPr>
      <dsp:spPr>
        <a:xfrm>
          <a:off x="0" y="2486402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572D5D-DE9A-BF49-8B86-50D4250D1411}">
      <dsp:nvSpPr>
        <dsp:cNvPr id="0" name=""/>
        <dsp:cNvSpPr/>
      </dsp:nvSpPr>
      <dsp:spPr>
        <a:xfrm>
          <a:off x="0" y="2486402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1" kern="1200"/>
            <a:t>Finetuning</a:t>
          </a:r>
          <a:endParaRPr lang="en-US" sz="2800" b="1" kern="1200" dirty="0"/>
        </a:p>
      </dsp:txBody>
      <dsp:txXfrm>
        <a:off x="0" y="2486402"/>
        <a:ext cx="10515600" cy="621467"/>
      </dsp:txXfrm>
    </dsp:sp>
    <dsp:sp modelId="{3D5DC94A-13EE-9348-AB63-BA6D7AB77EF3}">
      <dsp:nvSpPr>
        <dsp:cNvPr id="0" name=""/>
        <dsp:cNvSpPr/>
      </dsp:nvSpPr>
      <dsp:spPr>
        <a:xfrm>
          <a:off x="0" y="3107870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1E94BA-938F-EC4F-AA59-749EE236EA14}">
      <dsp:nvSpPr>
        <dsp:cNvPr id="0" name=""/>
        <dsp:cNvSpPr/>
      </dsp:nvSpPr>
      <dsp:spPr>
        <a:xfrm>
          <a:off x="0" y="3107870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 dirty="0" err="1"/>
            <a:t>Agents</a:t>
          </a:r>
          <a:endParaRPr lang="en-US" sz="2800" kern="1200" dirty="0"/>
        </a:p>
      </dsp:txBody>
      <dsp:txXfrm>
        <a:off x="0" y="3107870"/>
        <a:ext cx="10515600" cy="621467"/>
      </dsp:txXfrm>
    </dsp:sp>
    <dsp:sp modelId="{20D72B1E-AD82-9E49-86D8-09A4DD4D6212}">
      <dsp:nvSpPr>
        <dsp:cNvPr id="0" name=""/>
        <dsp:cNvSpPr/>
      </dsp:nvSpPr>
      <dsp:spPr>
        <a:xfrm>
          <a:off x="0" y="3729338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701614-A5A0-9544-95A3-640A46D860BF}">
      <dsp:nvSpPr>
        <dsp:cNvPr id="0" name=""/>
        <dsp:cNvSpPr/>
      </dsp:nvSpPr>
      <dsp:spPr>
        <a:xfrm>
          <a:off x="0" y="3729338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The Bigger Picture</a:t>
          </a:r>
          <a:endParaRPr lang="en-US" sz="2800" b="0" kern="1200" dirty="0"/>
        </a:p>
      </dsp:txBody>
      <dsp:txXfrm>
        <a:off x="0" y="3729338"/>
        <a:ext cx="10515600" cy="62146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938448-F949-A340-94CF-EFC7FB146DC3}" type="datetimeFigureOut">
              <a:rPr lang="de-DE" smtClean="0"/>
              <a:t>18.09.25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788973-CD00-DE47-B22A-36778A77FC1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612378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8F3381-758E-0A6B-C899-EE7B45C919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ABE904A-0D34-BF1F-C60B-AB2B79C216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7F2103-A9E7-0F7A-20F0-3D0D22546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7ACC2-601D-4B49-AF12-AE7E0A409668}" type="datetime1">
              <a:rPr lang="de-DE" smtClean="0"/>
              <a:t>18.09.25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DA4E0A6-36C8-1189-39ED-220EA3F96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D3ED9AC-2E2B-7D50-57E1-82DB568B4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72630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F0CFF6-86AD-6ADD-B20D-10768B818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416DF11-A587-5A55-A9C7-00ECEB974A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5515BA-ADCD-3F33-A6C7-EA3050DAA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4D07D-C13F-4E4C-B9AC-279F2B3CA927}" type="datetime1">
              <a:rPr lang="de-DE" smtClean="0"/>
              <a:t>18.09.25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1095CDF-844D-CC6E-6717-53613FEAE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40EC7B-EDAB-00A6-6F74-C70932653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74609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AC1590-182F-2FCF-C924-4F3EE8443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DE60AF3-91B0-8C3D-5523-C00018D8E9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4008590-6CEA-A08F-D3D5-07D3C501D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61780-2A28-3749-A212-7540F54B9465}" type="datetime1">
              <a:rPr lang="de-DE" smtClean="0"/>
              <a:t>18.09.25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9E25F9-B12A-A47E-8A66-43CB636EE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158A3A1-1ED4-2B00-F774-0770579A1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44651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B74FDE-7C6E-8847-DDBD-9E1BB18D1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782620F-4E5D-4917-8505-0C755E8842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2BEAEB3-4A3B-9231-1314-64AB817B0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3E2B1EE-5C88-59AD-4B9E-761AE2475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8D020-F608-DA44-840A-F653D7B34645}" type="datetime1">
              <a:rPr lang="de-DE" smtClean="0"/>
              <a:t>18.09.25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FE95AD-80EB-62FF-C99A-9E3800069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92B332-87AD-48FB-7E02-68E357726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5911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F542A-653F-1437-8B84-07A7E33D1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1DC182E-D365-DE63-5600-920A7C060A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CDFDA3A-9427-025F-5994-3996B4E122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DCAF632-C1ED-1E3C-10F3-CDCE7FCFFC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1A83CEB-0EF1-FFA3-73F4-99558B22D2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AEEAC70-EC21-893E-AC85-B37AD25AC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84096-D809-3C4A-B49B-20A875EFDFE8}" type="datetime1">
              <a:rPr lang="de-DE" smtClean="0"/>
              <a:t>18.09.25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1A1FA19-17AC-5EB2-96AD-6F9D85383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823032A-0F25-C17F-2A05-0CCD6E870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26687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83C254-D066-3A14-91DE-A70EBF110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4A743DC-54A8-CD48-26ED-0D2A07C8C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38CED-7C3B-D243-A7A7-180C1477BFE9}" type="datetime1">
              <a:rPr lang="de-DE" smtClean="0"/>
              <a:t>18.09.25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0D36842-29E9-EF66-8D63-2BCBAE413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7C2C2E3-CAD7-E9F5-63AD-736D4A12B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11453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4908658-FD8E-0CEF-21BC-B8FF7950F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93341-36E1-684C-B37A-E1CF770EFEDF}" type="datetime1">
              <a:rPr lang="de-DE" smtClean="0"/>
              <a:t>18.09.25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4EC9D7A-C677-3F2C-74CE-431B846FD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FA1F798-6679-1AE5-2207-1932FDD31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43281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E89BBD-7D97-E0F7-1065-25AA23667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C46EEB-64CF-7A84-CB75-32E6DA50F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B4EAAF5-AD44-3515-D676-A2172B694F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59EECB0-76E8-CEAF-655D-BFF6669C0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489F-99E0-0B4E-AC85-0F547BC7C4E9}" type="datetime1">
              <a:rPr lang="de-DE" smtClean="0"/>
              <a:t>18.09.25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8A5A91-F424-7E07-D578-0E7CC98DE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0DD5CA1-07D1-05B6-EA2B-31CBAB224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04311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DB213C-7480-D134-315D-EADD8D28A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9467DD8-B9BD-A36F-5B4F-3CE366207E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700F4BA-D8C5-5332-F436-B65FF860B4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777A1C9-E1E6-58BE-52E8-34EC9B8B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068F7F-BE24-2A45-927E-12FDF36DDAB4}" type="datetime1">
              <a:rPr lang="de-DE" smtClean="0"/>
              <a:t>18.09.25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CD30B87-C20C-7EF3-B7A1-61799D636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561909B-4950-379F-8A9A-81A057F25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022977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50051-6EFD-35CE-85D9-C783C6D66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DB0DD0C-3A69-15AB-3CD0-2DBF5BFE66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DC661AC-11CB-9C29-3643-17779ED24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06029-94C2-D041-AE64-8D99E258F8A3}" type="datetime1">
              <a:rPr lang="de-DE" smtClean="0"/>
              <a:t>18.09.25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4074B47-69F2-8E3F-A878-A5B29BA96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059C75-0843-9F52-F09A-45713AED8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06256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3008531-46C2-C27E-E410-4D516F6E39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E82FE20-CC8E-8053-BE5E-79D752050F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2F817AE-96C8-22CB-55CB-28DE3F75C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C3790-B7B2-CE44-8ABE-1653D553799B}" type="datetime1">
              <a:rPr lang="de-DE" smtClean="0"/>
              <a:t>18.09.25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0C57D71-8770-E80A-1931-13A2BF38E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40A003E-85F4-1C42-C7F1-F9E6A0E17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53499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B6AFC4F-27C6-4EAD-2564-2A708281E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1CFAFB6-DFBC-D5F1-F54C-1D25DA0AE1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34B3817-4790-FF66-D7D8-C883317450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62EDA1-0F0F-7343-82D4-3054E662EA0E}" type="datetime1">
              <a:rPr lang="de-DE" smtClean="0"/>
              <a:t>18.09.25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415EF2-7973-74A4-106A-53509B65B0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9F25449-14F8-CDD0-9C9E-976594BAF3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26063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1810.04805v2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910.01108" TargetMode="External"/><Relationship Id="rId2" Type="http://schemas.openxmlformats.org/officeDocument/2006/relationships/hyperlink" Target="https://arxiv.org/abs/1907.11692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mccormickml.com/2019/07/22/BERT-fine-tuning/" TargetMode="External"/><Relationship Id="rId2" Type="http://schemas.openxmlformats.org/officeDocument/2006/relationships/hyperlink" Target="https://www.kaggle.com/competitions/nlp-getting-started/overview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109.01652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hyperlink" Target="https://huggingface.co/docs/trl/main/en/sft_trainer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arxiv.org/abs/2106.09685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203.02155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rxiv.org/abs/2403.07691v1" TargetMode="External"/><Relationship Id="rId4" Type="http://schemas.openxmlformats.org/officeDocument/2006/relationships/hyperlink" Target="https://arxiv.org/abs/2305.18290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cameronrwolfe.substack.com/p/understanding-and-using-supervised" TargetMode="External"/><Relationship Id="rId2" Type="http://schemas.openxmlformats.org/officeDocument/2006/relationships/hyperlink" Target="https://arxiv.org/abs/2203.02155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3FF727-F4B3-3376-8344-F8D9ED80834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Finetuning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7BD8156-C5C8-1852-17C9-3396BF98F4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Language Models</a:t>
            </a:r>
          </a:p>
        </p:txBody>
      </p:sp>
    </p:spTree>
    <p:extLst>
      <p:ext uri="{BB962C8B-B14F-4D97-AF65-F5344CB8AC3E}">
        <p14:creationId xmlns:p14="http://schemas.microsoft.com/office/powerpoint/2010/main" val="36722365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1DC26F-F544-96F9-A23C-5F55F871F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Course Contents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94E61397-BED1-A35E-59D6-1913902B18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7878794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AA6BD21-F227-F385-D9F5-42230CC45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6028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8D9AF-2ADC-CA80-8AD9-E05797B87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This Part: Finetuning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003915B-1207-B8C7-B3C1-7DCBD8CC55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transfer</a:t>
            </a:r>
            <a:r>
              <a:rPr lang="de-DE" dirty="0"/>
              <a:t> </a:t>
            </a:r>
            <a:r>
              <a:rPr lang="de-DE" dirty="0" err="1"/>
              <a:t>learning</a:t>
            </a:r>
            <a:endParaRPr lang="de-DE" dirty="0"/>
          </a:p>
          <a:p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classification</a:t>
            </a:r>
            <a:endParaRPr lang="de-DE" dirty="0"/>
          </a:p>
          <a:p>
            <a:r>
              <a:rPr lang="de-DE" dirty="0" err="1"/>
              <a:t>instruction</a:t>
            </a:r>
            <a:r>
              <a:rPr lang="de-DE" dirty="0"/>
              <a:t> </a:t>
            </a:r>
            <a:r>
              <a:rPr lang="de-DE" dirty="0" err="1"/>
              <a:t>tuning</a:t>
            </a:r>
            <a:endParaRPr lang="de-DE" dirty="0"/>
          </a:p>
          <a:p>
            <a:r>
              <a:rPr lang="de-DE" dirty="0"/>
              <a:t>parameter-</a:t>
            </a:r>
            <a:r>
              <a:rPr lang="de-DE" dirty="0" err="1"/>
              <a:t>efficient</a:t>
            </a:r>
            <a:r>
              <a:rPr lang="de-DE" dirty="0"/>
              <a:t> </a:t>
            </a:r>
            <a:r>
              <a:rPr lang="de-DE" dirty="0" err="1"/>
              <a:t>finetuning</a:t>
            </a:r>
            <a:endParaRPr lang="de-DE" dirty="0"/>
          </a:p>
          <a:p>
            <a:r>
              <a:rPr lang="de-DE" dirty="0" err="1"/>
              <a:t>preference</a:t>
            </a:r>
            <a:r>
              <a:rPr lang="de-DE" dirty="0"/>
              <a:t> </a:t>
            </a:r>
            <a:r>
              <a:rPr lang="de-DE" dirty="0" err="1"/>
              <a:t>alignment</a:t>
            </a:r>
            <a:endParaRPr lang="de-DE" dirty="0"/>
          </a:p>
          <a:p>
            <a:r>
              <a:rPr lang="de-DE" dirty="0" err="1"/>
              <a:t>chatbots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8C123F-DC22-2183-82AC-AC846FE1A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5351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Abgerundetes Rechteck 15">
            <a:extLst>
              <a:ext uri="{FF2B5EF4-FFF2-40B4-BE49-F238E27FC236}">
                <a16:creationId xmlns:a16="http://schemas.microsoft.com/office/drawing/2014/main" id="{C2CF71D3-F9F6-B398-513E-188910BE90BC}"/>
              </a:ext>
            </a:extLst>
          </p:cNvPr>
          <p:cNvSpPr/>
          <p:nvPr/>
        </p:nvSpPr>
        <p:spPr>
          <a:xfrm>
            <a:off x="838198" y="1742480"/>
            <a:ext cx="10210802" cy="682236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Abgerundetes Rechteck 14">
            <a:extLst>
              <a:ext uri="{FF2B5EF4-FFF2-40B4-BE49-F238E27FC236}">
                <a16:creationId xmlns:a16="http://schemas.microsoft.com/office/drawing/2014/main" id="{D1D2C1B1-5072-3473-0849-846900EBB4BA}"/>
              </a:ext>
            </a:extLst>
          </p:cNvPr>
          <p:cNvSpPr/>
          <p:nvPr/>
        </p:nvSpPr>
        <p:spPr>
          <a:xfrm>
            <a:off x="838198" y="2853230"/>
            <a:ext cx="10210802" cy="160556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Abgerundetes Rechteck 7">
            <a:extLst>
              <a:ext uri="{FF2B5EF4-FFF2-40B4-BE49-F238E27FC236}">
                <a16:creationId xmlns:a16="http://schemas.microsoft.com/office/drawing/2014/main" id="{64A12374-ACEF-7777-B3C5-6F49491F5D56}"/>
              </a:ext>
            </a:extLst>
          </p:cNvPr>
          <p:cNvSpPr/>
          <p:nvPr/>
        </p:nvSpPr>
        <p:spPr>
          <a:xfrm>
            <a:off x="838198" y="4887309"/>
            <a:ext cx="10210802" cy="160556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6D4E78A-896B-C79A-E2FE-5D9193754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Modern Language Models in a Nutshell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908D6CC-B86F-1636-6F85-AB0B7A2A31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tokenization</a:t>
            </a:r>
            <a:r>
              <a:rPr lang="en-GB" dirty="0"/>
              <a:t>: split text into chunks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/>
              <a:t>pretraining</a:t>
            </a:r>
            <a:r>
              <a:rPr lang="en-GB" dirty="0"/>
              <a:t>: self-supervised, next- or masked-token prediction</a:t>
            </a:r>
          </a:p>
          <a:p>
            <a:r>
              <a:rPr lang="en-GB" sz="1800" dirty="0"/>
              <a:t>vector embeddings from tokens (semantic meaning)</a:t>
            </a:r>
            <a:endParaRPr lang="en-GB" sz="1800" dirty="0">
              <a:sym typeface="Wingdings" pitchFamily="2" charset="2"/>
            </a:endParaRPr>
          </a:p>
          <a:p>
            <a:r>
              <a:rPr lang="en-GB" sz="1800" dirty="0"/>
              <a:t>add positional encoding (attention permutation-invariant)</a:t>
            </a:r>
          </a:p>
          <a:p>
            <a:r>
              <a:rPr lang="en-GB" sz="1800" dirty="0"/>
              <a:t>attention mechanism (transformer) </a:t>
            </a:r>
            <a:r>
              <a:rPr lang="en-GB" sz="1800" dirty="0">
                <a:sym typeface="Wingdings" pitchFamily="2" charset="2"/>
              </a:rPr>
              <a:t></a:t>
            </a:r>
            <a:r>
              <a:rPr lang="en-GB" sz="1800" dirty="0"/>
              <a:t> contextual embeddings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/>
              <a:t>finetuning</a:t>
            </a:r>
            <a:r>
              <a:rPr lang="en-GB" dirty="0"/>
              <a:t>: specialization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568FCF-2CF1-B3CF-F33E-FD3F880A8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4</a:t>
            </a:fld>
            <a:endParaRPr lang="en-DE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62D4140-AC0F-1879-1992-0E7A9644CA76}"/>
              </a:ext>
            </a:extLst>
          </p:cNvPr>
          <p:cNvSpPr txBox="1"/>
          <p:nvPr/>
        </p:nvSpPr>
        <p:spPr>
          <a:xfrm>
            <a:off x="6096000" y="5486399"/>
            <a:ext cx="46699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assistant</a:t>
            </a:r>
            <a:r>
              <a:rPr lang="de-DE" dirty="0"/>
              <a:t>/</a:t>
            </a:r>
            <a:r>
              <a:rPr lang="de-DE" dirty="0" err="1"/>
              <a:t>chatbot</a:t>
            </a:r>
            <a:r>
              <a:rPr lang="de-DE" dirty="0"/>
              <a:t> (</a:t>
            </a:r>
            <a:r>
              <a:rPr lang="de-DE" dirty="0" err="1"/>
              <a:t>multipurpose</a:t>
            </a:r>
            <a:r>
              <a:rPr lang="de-DE" dirty="0"/>
              <a:t>):</a:t>
            </a:r>
          </a:p>
          <a:p>
            <a:r>
              <a:rPr lang="de-DE" dirty="0" err="1"/>
              <a:t>instruction</a:t>
            </a:r>
            <a:r>
              <a:rPr lang="de-DE" dirty="0"/>
              <a:t> </a:t>
            </a:r>
            <a:r>
              <a:rPr lang="de-DE" dirty="0" err="1"/>
              <a:t>tuning</a:t>
            </a:r>
            <a:r>
              <a:rPr lang="de-DE" dirty="0"/>
              <a:t> (</a:t>
            </a:r>
            <a:r>
              <a:rPr lang="de-DE" dirty="0" err="1"/>
              <a:t>decoder-only</a:t>
            </a:r>
            <a:r>
              <a:rPr lang="de-DE" dirty="0"/>
              <a:t> </a:t>
            </a:r>
            <a:r>
              <a:rPr lang="de-DE" dirty="0" err="1"/>
              <a:t>transformer</a:t>
            </a:r>
            <a:r>
              <a:rPr lang="de-DE" dirty="0"/>
              <a:t>), </a:t>
            </a:r>
            <a:r>
              <a:rPr lang="de-DE" dirty="0" err="1"/>
              <a:t>potentially</a:t>
            </a:r>
            <a:r>
              <a:rPr lang="de-DE" dirty="0"/>
              <a:t> </a:t>
            </a:r>
            <a:r>
              <a:rPr lang="de-DE" dirty="0" err="1"/>
              <a:t>followed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alignment</a:t>
            </a:r>
            <a:endParaRPr lang="de-DE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0ABA88E0-558D-4BEA-50DB-887EA4201B2E}"/>
              </a:ext>
            </a:extLst>
          </p:cNvPr>
          <p:cNvSpPr txBox="1"/>
          <p:nvPr/>
        </p:nvSpPr>
        <p:spPr>
          <a:xfrm>
            <a:off x="903515" y="5486399"/>
            <a:ext cx="42998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classification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(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task</a:t>
            </a:r>
            <a:r>
              <a:rPr lang="de-DE" dirty="0"/>
              <a:t>):</a:t>
            </a:r>
          </a:p>
          <a:p>
            <a:r>
              <a:rPr lang="de-DE" dirty="0" err="1"/>
              <a:t>finetuning</a:t>
            </a:r>
            <a:r>
              <a:rPr lang="de-DE" dirty="0"/>
              <a:t> on </a:t>
            </a:r>
            <a:r>
              <a:rPr lang="de-DE" dirty="0" err="1"/>
              <a:t>labeled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set</a:t>
            </a:r>
            <a:r>
              <a:rPr lang="de-DE" dirty="0"/>
              <a:t> (</a:t>
            </a: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encoder-only</a:t>
            </a:r>
            <a:r>
              <a:rPr lang="de-DE" dirty="0"/>
              <a:t> </a:t>
            </a:r>
            <a:r>
              <a:rPr lang="de-DE" dirty="0" err="1"/>
              <a:t>transformer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67620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EF7C251-E411-67C1-497C-2BFFEBC05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Learning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Foundation</a:t>
            </a:r>
            <a:r>
              <a:rPr lang="de-DE" dirty="0"/>
              <a:t> Models</a:t>
            </a:r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94FF263-6A7E-63B8-37B4-8152AC6DF7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idea:</a:t>
            </a:r>
          </a:p>
          <a:p>
            <a:pPr marL="0" indent="0">
              <a:buNone/>
            </a:pPr>
            <a:r>
              <a:rPr lang="en-GB" dirty="0"/>
              <a:t>pretrain a big model (called foundation model) on a broad data set, and then use these learnings for subsequent trainings on specific (typically narrow) data by means of feature extraction or finetuning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 here: self-supervised, internet-scale pretraining of models like BERT or GPT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0B5BE9-331D-0505-FC7E-005F6B05B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5</a:t>
            </a:fld>
            <a:endParaRPr lang="en-GB"/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F66358C6-7FB2-EACB-408F-55037CA86FF9}"/>
              </a:ext>
            </a:extLst>
          </p:cNvPr>
          <p:cNvSpPr txBox="1"/>
          <p:nvPr/>
        </p:nvSpPr>
        <p:spPr>
          <a:xfrm>
            <a:off x="2799205" y="5988734"/>
            <a:ext cx="659358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works well for homogenous, unstructured data (e.g., text, images)</a:t>
            </a:r>
          </a:p>
          <a:p>
            <a:r>
              <a:rPr lang="en-GB" dirty="0"/>
              <a:t>but very difficult for heterogenous, structured/tabular data</a:t>
            </a:r>
          </a:p>
        </p:txBody>
      </p:sp>
    </p:spTree>
    <p:extLst>
      <p:ext uri="{BB962C8B-B14F-4D97-AF65-F5344CB8AC3E}">
        <p14:creationId xmlns:p14="http://schemas.microsoft.com/office/powerpoint/2010/main" val="27331417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90F2110-EAEB-93EB-3329-38BAB3C8EA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BERT </a:t>
            </a:r>
            <a:r>
              <a:rPr lang="de-DE" dirty="0" err="1"/>
              <a:t>Pretraining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5356DE2-9733-60C6-A144-49F8D76B8A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/>
              <a:t>MLM: </a:t>
            </a:r>
            <a:r>
              <a:rPr lang="de-DE" dirty="0" err="1"/>
              <a:t>loss</a:t>
            </a:r>
            <a:r>
              <a:rPr lang="de-DE" dirty="0"/>
              <a:t> </a:t>
            </a:r>
            <a:r>
              <a:rPr lang="de-DE" dirty="0" err="1"/>
              <a:t>computed</a:t>
            </a:r>
            <a:r>
              <a:rPr lang="de-DE" dirty="0"/>
              <a:t> </a:t>
            </a:r>
            <a:r>
              <a:rPr lang="de-DE" dirty="0" err="1"/>
              <a:t>against</a:t>
            </a:r>
            <a:r>
              <a:rPr lang="de-DE" dirty="0"/>
              <a:t> </a:t>
            </a:r>
            <a:r>
              <a:rPr lang="de-DE" dirty="0" err="1"/>
              <a:t>masked</a:t>
            </a:r>
            <a:r>
              <a:rPr lang="de-DE" dirty="0"/>
              <a:t> </a:t>
            </a:r>
            <a:r>
              <a:rPr lang="de-DE" dirty="0" err="1"/>
              <a:t>token</a:t>
            </a:r>
            <a:r>
              <a:rPr lang="de-DE" dirty="0"/>
              <a:t> (</a:t>
            </a:r>
            <a:r>
              <a:rPr lang="en-GB" dirty="0"/>
              <a:t>projection from last hidden state of [MASK] to vector of logits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BERT </a:t>
            </a:r>
            <a:r>
              <a:rPr lang="de-DE" dirty="0" err="1"/>
              <a:t>uses</a:t>
            </a:r>
            <a:r>
              <a:rPr lang="de-DE" dirty="0"/>
              <a:t> </a:t>
            </a:r>
            <a:r>
              <a:rPr lang="en-GB" dirty="0"/>
              <a:t>next-sentence prediction as additional pretraining objective:</a:t>
            </a:r>
            <a:endParaRPr lang="de-DE" dirty="0"/>
          </a:p>
          <a:p>
            <a:pPr marL="0" indent="0">
              <a:buNone/>
            </a:pPr>
            <a:r>
              <a:rPr lang="en-GB" dirty="0"/>
              <a:t>[CLS] token serves as combination of the hidden states of all tokens for projection to vector of logits (average pooling would be an alternative)</a:t>
            </a:r>
            <a:endParaRPr lang="de-DE" dirty="0">
              <a:hlinkClick r:id="rId2"/>
            </a:endParaRP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C7697DD-7613-20E9-BA54-5360DBB9D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608820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377014-5C9A-61F9-AEB0-5422FFC74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BERT </a:t>
            </a:r>
            <a:r>
              <a:rPr lang="de-DE" dirty="0" err="1"/>
              <a:t>Variants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32E57AC-9AEC-A942-0A0F-644BB5F978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65870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>
                <a:hlinkClick r:id="rId2"/>
              </a:rPr>
              <a:t>RoBERTa</a:t>
            </a:r>
            <a:r>
              <a:rPr lang="de-DE" sz="2600" b="1" dirty="0"/>
              <a:t>: </a:t>
            </a:r>
            <a:r>
              <a:rPr lang="de-DE" sz="2600" dirty="0" err="1"/>
              <a:t>improved</a:t>
            </a:r>
            <a:r>
              <a:rPr lang="de-DE" sz="2600" dirty="0"/>
              <a:t> </a:t>
            </a:r>
            <a:r>
              <a:rPr lang="de-DE" sz="2600" dirty="0" err="1"/>
              <a:t>performance</a:t>
            </a:r>
            <a:endParaRPr lang="de-DE" sz="2600" dirty="0"/>
          </a:p>
          <a:p>
            <a:r>
              <a:rPr lang="de-DE" sz="2200" dirty="0" err="1"/>
              <a:t>removed</a:t>
            </a:r>
            <a:r>
              <a:rPr lang="de-DE" sz="2200" dirty="0"/>
              <a:t> </a:t>
            </a:r>
            <a:r>
              <a:rPr lang="de-DE" sz="2200" dirty="0" err="1"/>
              <a:t>next</a:t>
            </a:r>
            <a:r>
              <a:rPr lang="de-DE" sz="2200" dirty="0"/>
              <a:t> </a:t>
            </a:r>
            <a:r>
              <a:rPr lang="de-DE" sz="2200" dirty="0" err="1"/>
              <a:t>sentence</a:t>
            </a:r>
            <a:r>
              <a:rPr lang="de-DE" sz="2200" dirty="0"/>
              <a:t> </a:t>
            </a:r>
            <a:r>
              <a:rPr lang="de-DE" sz="2200" dirty="0" err="1"/>
              <a:t>prediction</a:t>
            </a:r>
            <a:r>
              <a:rPr lang="de-DE" sz="2200" dirty="0"/>
              <a:t> </a:t>
            </a:r>
            <a:r>
              <a:rPr lang="de-DE" sz="2200" dirty="0" err="1"/>
              <a:t>as</a:t>
            </a:r>
            <a:r>
              <a:rPr lang="de-DE" sz="2200" dirty="0"/>
              <a:t> </a:t>
            </a:r>
            <a:r>
              <a:rPr lang="de-DE" sz="2200" dirty="0" err="1"/>
              <a:t>pretraining</a:t>
            </a:r>
            <a:r>
              <a:rPr lang="de-DE" sz="2200" dirty="0"/>
              <a:t> </a:t>
            </a:r>
            <a:r>
              <a:rPr lang="de-DE" sz="2200" dirty="0" err="1"/>
              <a:t>objective</a:t>
            </a:r>
            <a:r>
              <a:rPr lang="de-DE" sz="2200" dirty="0"/>
              <a:t> and …</a:t>
            </a:r>
          </a:p>
          <a:p>
            <a:r>
              <a:rPr lang="de-DE" sz="2200" dirty="0"/>
              <a:t>~</a:t>
            </a:r>
            <a:r>
              <a:rPr lang="de-DE" sz="2200" dirty="0" err="1"/>
              <a:t>ten</a:t>
            </a:r>
            <a:r>
              <a:rPr lang="de-DE" sz="2200" dirty="0"/>
              <a:t> </a:t>
            </a:r>
            <a:r>
              <a:rPr lang="de-DE" sz="2200" dirty="0" err="1"/>
              <a:t>times</a:t>
            </a:r>
            <a:r>
              <a:rPr lang="de-DE" sz="2200" dirty="0"/>
              <a:t> </a:t>
            </a:r>
            <a:r>
              <a:rPr lang="de-DE" sz="2200" dirty="0" err="1"/>
              <a:t>more</a:t>
            </a:r>
            <a:r>
              <a:rPr lang="de-DE" sz="2200" dirty="0"/>
              <a:t> </a:t>
            </a:r>
            <a:r>
              <a:rPr lang="de-DE" sz="2200" dirty="0" err="1"/>
              <a:t>training</a:t>
            </a:r>
            <a:r>
              <a:rPr lang="de-DE" sz="2200" dirty="0"/>
              <a:t> </a:t>
            </a:r>
            <a:r>
              <a:rPr lang="de-DE" sz="2200" dirty="0" err="1"/>
              <a:t>data</a:t>
            </a:r>
            <a:r>
              <a:rPr lang="de-DE" sz="2200" dirty="0"/>
              <a:t>, </a:t>
            </a:r>
            <a:r>
              <a:rPr lang="de-DE" sz="2200" dirty="0" err="1"/>
              <a:t>longer</a:t>
            </a:r>
            <a:r>
              <a:rPr lang="de-DE" sz="2200" dirty="0"/>
              <a:t> </a:t>
            </a:r>
            <a:r>
              <a:rPr lang="de-DE" sz="2200" dirty="0" err="1"/>
              <a:t>training</a:t>
            </a:r>
            <a:r>
              <a:rPr lang="de-DE" sz="2200" dirty="0"/>
              <a:t>, larger </a:t>
            </a:r>
            <a:r>
              <a:rPr lang="de-DE" sz="2200" dirty="0" err="1"/>
              <a:t>batches</a:t>
            </a:r>
            <a:r>
              <a:rPr lang="de-DE" sz="2200" dirty="0"/>
              <a:t>, </a:t>
            </a:r>
            <a:r>
              <a:rPr lang="de-DE" sz="2200" dirty="0" err="1"/>
              <a:t>longer</a:t>
            </a:r>
            <a:r>
              <a:rPr lang="de-DE" sz="2200" dirty="0"/>
              <a:t> </a:t>
            </a:r>
            <a:r>
              <a:rPr lang="de-DE" sz="2200" dirty="0" err="1"/>
              <a:t>sequences</a:t>
            </a:r>
            <a:endParaRPr lang="de-DE" sz="2200" dirty="0"/>
          </a:p>
          <a:p>
            <a:r>
              <a:rPr lang="de-DE" sz="2200" dirty="0" err="1"/>
              <a:t>dynamic</a:t>
            </a:r>
            <a:r>
              <a:rPr lang="de-DE" sz="2200" dirty="0"/>
              <a:t> </a:t>
            </a:r>
            <a:r>
              <a:rPr lang="de-DE" sz="2200" dirty="0" err="1"/>
              <a:t>masking</a:t>
            </a:r>
            <a:r>
              <a:rPr lang="de-DE" sz="2200" dirty="0"/>
              <a:t>: </a:t>
            </a:r>
            <a:r>
              <a:rPr lang="de-DE" sz="2200" dirty="0" err="1"/>
              <a:t>instead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</a:t>
            </a:r>
            <a:r>
              <a:rPr lang="de-DE" sz="2200" dirty="0" err="1"/>
              <a:t>fixed</a:t>
            </a:r>
            <a:r>
              <a:rPr lang="de-DE" sz="2200" dirty="0"/>
              <a:t> </a:t>
            </a:r>
            <a:r>
              <a:rPr lang="de-DE" sz="2200" dirty="0" err="1"/>
              <a:t>masked</a:t>
            </a:r>
            <a:r>
              <a:rPr lang="de-DE" sz="2200" dirty="0"/>
              <a:t> </a:t>
            </a:r>
            <a:r>
              <a:rPr lang="de-DE" sz="2200" dirty="0" err="1"/>
              <a:t>tokens</a:t>
            </a:r>
            <a:r>
              <a:rPr lang="de-DE" sz="2200" dirty="0"/>
              <a:t> </a:t>
            </a:r>
            <a:r>
              <a:rPr lang="de-DE" sz="2200" dirty="0" err="1"/>
              <a:t>for</a:t>
            </a:r>
            <a:r>
              <a:rPr lang="de-DE" sz="2200" dirty="0"/>
              <a:t> </a:t>
            </a:r>
            <a:r>
              <a:rPr lang="de-DE" sz="2200" dirty="0" err="1"/>
              <a:t>each</a:t>
            </a:r>
            <a:r>
              <a:rPr lang="de-DE" sz="2200" dirty="0"/>
              <a:t> </a:t>
            </a:r>
            <a:r>
              <a:rPr lang="de-DE" sz="2200" dirty="0" err="1"/>
              <a:t>sequence</a:t>
            </a:r>
            <a:r>
              <a:rPr lang="de-DE" sz="2200" dirty="0"/>
              <a:t>, </a:t>
            </a:r>
            <a:r>
              <a:rPr lang="de-DE" sz="2200" dirty="0" err="1"/>
              <a:t>masks</a:t>
            </a:r>
            <a:r>
              <a:rPr lang="de-DE" sz="2200" dirty="0"/>
              <a:t> </a:t>
            </a:r>
            <a:r>
              <a:rPr lang="de-DE" sz="2200" dirty="0" err="1"/>
              <a:t>change</a:t>
            </a:r>
            <a:r>
              <a:rPr lang="de-DE" sz="2200" dirty="0"/>
              <a:t> </a:t>
            </a:r>
            <a:r>
              <a:rPr lang="de-DE" sz="2200" dirty="0" err="1"/>
              <a:t>each</a:t>
            </a:r>
            <a:r>
              <a:rPr lang="de-DE" sz="2200" dirty="0"/>
              <a:t> </a:t>
            </a:r>
            <a:r>
              <a:rPr lang="de-DE" sz="2200" dirty="0" err="1"/>
              <a:t>epoch</a:t>
            </a:r>
            <a:endParaRPr lang="de-DE" sz="22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600" dirty="0" err="1">
                <a:hlinkClick r:id="rId3"/>
              </a:rPr>
              <a:t>DistilBERT</a:t>
            </a:r>
            <a:r>
              <a:rPr lang="de-DE" sz="2600" dirty="0"/>
              <a:t>: </a:t>
            </a:r>
            <a:r>
              <a:rPr lang="de-DE" sz="2600" dirty="0" err="1"/>
              <a:t>much</a:t>
            </a:r>
            <a:r>
              <a:rPr lang="de-DE" sz="2600" dirty="0"/>
              <a:t> </a:t>
            </a:r>
            <a:r>
              <a:rPr lang="de-DE" sz="2600" dirty="0" err="1"/>
              <a:t>lighter</a:t>
            </a:r>
            <a:r>
              <a:rPr lang="de-DE" sz="2600" dirty="0"/>
              <a:t> and </a:t>
            </a:r>
            <a:r>
              <a:rPr lang="de-DE" sz="2600" dirty="0" err="1"/>
              <a:t>faster</a:t>
            </a:r>
            <a:r>
              <a:rPr lang="de-DE" sz="2600" dirty="0"/>
              <a:t>, </a:t>
            </a:r>
            <a:r>
              <a:rPr lang="de-DE" sz="2600" dirty="0" err="1"/>
              <a:t>retaining</a:t>
            </a:r>
            <a:r>
              <a:rPr lang="de-DE" sz="2600" dirty="0"/>
              <a:t> ~95%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BERT’s</a:t>
            </a:r>
            <a:r>
              <a:rPr lang="de-DE" sz="2600" dirty="0"/>
              <a:t> </a:t>
            </a:r>
            <a:r>
              <a:rPr lang="de-DE" sz="2600" dirty="0" err="1"/>
              <a:t>performance</a:t>
            </a:r>
            <a:endParaRPr lang="de-DE" sz="2600" dirty="0"/>
          </a:p>
          <a:p>
            <a:r>
              <a:rPr lang="de-DE" sz="2200" dirty="0"/>
              <a:t>a </a:t>
            </a:r>
            <a:r>
              <a:rPr lang="de-DE" sz="2200" dirty="0" err="1"/>
              <a:t>smaller</a:t>
            </a:r>
            <a:r>
              <a:rPr lang="de-DE" sz="2200" dirty="0"/>
              <a:t> “</a:t>
            </a:r>
            <a:r>
              <a:rPr lang="de-DE" sz="2200" dirty="0" err="1"/>
              <a:t>student</a:t>
            </a:r>
            <a:r>
              <a:rPr lang="de-DE" sz="2200" dirty="0"/>
              <a:t>” </a:t>
            </a:r>
            <a:r>
              <a:rPr lang="de-DE" sz="2200" dirty="0" err="1"/>
              <a:t>model</a:t>
            </a:r>
            <a:r>
              <a:rPr lang="de-DE" sz="2200" dirty="0"/>
              <a:t> </a:t>
            </a:r>
            <a:r>
              <a:rPr lang="de-DE" sz="2200" dirty="0" err="1"/>
              <a:t>is</a:t>
            </a:r>
            <a:r>
              <a:rPr lang="de-DE" sz="2200" dirty="0"/>
              <a:t> </a:t>
            </a:r>
            <a:r>
              <a:rPr lang="de-DE" sz="2200" dirty="0" err="1"/>
              <a:t>trained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mimic</a:t>
            </a:r>
            <a:r>
              <a:rPr lang="de-DE" sz="2200" dirty="0"/>
              <a:t> </a:t>
            </a:r>
            <a:r>
              <a:rPr lang="de-DE" sz="2200" dirty="0" err="1"/>
              <a:t>BERT’s</a:t>
            </a:r>
            <a:r>
              <a:rPr lang="de-DE" sz="2200" dirty="0"/>
              <a:t> </a:t>
            </a:r>
            <a:r>
              <a:rPr lang="de-DE" sz="2200" dirty="0" err="1"/>
              <a:t>predictions</a:t>
            </a:r>
            <a:endParaRPr lang="de-DE" sz="2200" dirty="0"/>
          </a:p>
          <a:p>
            <a:r>
              <a:rPr lang="de-DE" sz="2200" dirty="0"/>
              <a:t>40% </a:t>
            </a:r>
            <a:r>
              <a:rPr lang="de-DE" sz="2200" dirty="0" err="1"/>
              <a:t>fewer</a:t>
            </a:r>
            <a:r>
              <a:rPr lang="de-DE" sz="2200" dirty="0"/>
              <a:t> </a:t>
            </a:r>
            <a:r>
              <a:rPr lang="de-DE" sz="2200" dirty="0" err="1"/>
              <a:t>parameters</a:t>
            </a:r>
            <a:r>
              <a:rPr lang="de-DE" sz="2200" dirty="0"/>
              <a:t> </a:t>
            </a:r>
            <a:r>
              <a:rPr lang="de-DE" sz="2200" dirty="0" err="1"/>
              <a:t>than</a:t>
            </a:r>
            <a:r>
              <a:rPr lang="de-DE" sz="2200" dirty="0"/>
              <a:t> BERT, 60% </a:t>
            </a:r>
            <a:r>
              <a:rPr lang="de-DE" sz="2200" dirty="0" err="1"/>
              <a:t>faster</a:t>
            </a:r>
            <a:r>
              <a:rPr lang="de-DE" sz="2200" dirty="0"/>
              <a:t> </a:t>
            </a:r>
            <a:r>
              <a:rPr lang="de-DE" sz="2200" dirty="0" err="1"/>
              <a:t>inference</a:t>
            </a:r>
            <a:r>
              <a:rPr lang="de-DE" sz="2200" dirty="0"/>
              <a:t>, </a:t>
            </a:r>
            <a:r>
              <a:rPr lang="de-DE" sz="2200" dirty="0" err="1"/>
              <a:t>using</a:t>
            </a:r>
            <a:r>
              <a:rPr lang="de-DE" sz="2200" dirty="0"/>
              <a:t> half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memory</a:t>
            </a:r>
            <a:endParaRPr lang="de-DE" sz="22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C9E7DDC-F9E4-F124-BF7B-7A2E77B7C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50466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DF84C9-7C51-3B5E-CEAC-B8DAC520A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 </a:t>
            </a:r>
            <a:r>
              <a:rPr lang="de-DE" dirty="0" err="1"/>
              <a:t>Extraction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0397F5D-3B96-44CC-0D86-A08B51D4C4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get</a:t>
            </a:r>
            <a:r>
              <a:rPr lang="de-DE" dirty="0"/>
              <a:t> </a:t>
            </a:r>
            <a:r>
              <a:rPr lang="de-DE" dirty="0" err="1"/>
              <a:t>pretrained</a:t>
            </a:r>
            <a:r>
              <a:rPr lang="de-DE" dirty="0"/>
              <a:t> </a:t>
            </a:r>
            <a:r>
              <a:rPr lang="de-DE" dirty="0" err="1"/>
              <a:t>encoder</a:t>
            </a:r>
            <a:r>
              <a:rPr lang="de-DE" dirty="0"/>
              <a:t> LLM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foundation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remove</a:t>
            </a:r>
            <a:r>
              <a:rPr lang="de-DE" dirty="0"/>
              <a:t> </a:t>
            </a:r>
            <a:r>
              <a:rPr lang="de-DE" dirty="0" err="1"/>
              <a:t>classifier</a:t>
            </a:r>
            <a:r>
              <a:rPr lang="de-DE" dirty="0"/>
              <a:t> </a:t>
            </a:r>
            <a:r>
              <a:rPr lang="de-DE" dirty="0" err="1"/>
              <a:t>head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pretraining</a:t>
            </a:r>
            <a:r>
              <a:rPr lang="de-DE" dirty="0"/>
              <a:t> (after final </a:t>
            </a:r>
            <a:r>
              <a:rPr lang="de-DE" dirty="0" err="1"/>
              <a:t>contextual</a:t>
            </a:r>
            <a:r>
              <a:rPr lang="de-DE" dirty="0"/>
              <a:t> </a:t>
            </a:r>
            <a:r>
              <a:rPr lang="de-DE" dirty="0" err="1"/>
              <a:t>embeddings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pass </a:t>
            </a:r>
            <a:r>
              <a:rPr lang="de-DE" dirty="0" err="1"/>
              <a:t>training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(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task</a:t>
            </a:r>
            <a:r>
              <a:rPr lang="de-DE" dirty="0"/>
              <a:t> at </a:t>
            </a:r>
            <a:r>
              <a:rPr lang="de-DE" dirty="0" err="1"/>
              <a:t>hand</a:t>
            </a:r>
            <a:r>
              <a:rPr lang="de-DE" dirty="0"/>
              <a:t>) </a:t>
            </a:r>
            <a:r>
              <a:rPr lang="de-DE" dirty="0" err="1"/>
              <a:t>through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and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result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mean</a:t>
            </a:r>
            <a:r>
              <a:rPr lang="de-DE" dirty="0"/>
              <a:t>/</a:t>
            </a:r>
            <a:r>
              <a:rPr lang="de-DE" dirty="0" err="1"/>
              <a:t>max</a:t>
            </a:r>
            <a:r>
              <a:rPr lang="de-DE" dirty="0"/>
              <a:t> </a:t>
            </a:r>
            <a:r>
              <a:rPr lang="de-DE" dirty="0" err="1"/>
              <a:t>pooling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final </a:t>
            </a:r>
            <a:r>
              <a:rPr lang="de-DE" dirty="0" err="1"/>
              <a:t>token</a:t>
            </a:r>
            <a:r>
              <a:rPr lang="de-DE" dirty="0"/>
              <a:t> </a:t>
            </a:r>
            <a:r>
              <a:rPr lang="de-DE" dirty="0" err="1"/>
              <a:t>embeddings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features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a </a:t>
            </a:r>
            <a:r>
              <a:rPr lang="de-DE" dirty="0" err="1"/>
              <a:t>small</a:t>
            </a:r>
            <a:r>
              <a:rPr lang="de-DE" dirty="0"/>
              <a:t>, task-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BF87474-2FE1-1D25-ABD2-967B5E868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83693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8E18EF-EC53-ACA5-61E8-A95521813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Finetuning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7F4B16-9855-AFD2-D174-7FE3153304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get</a:t>
            </a:r>
            <a:r>
              <a:rPr lang="de-DE" dirty="0"/>
              <a:t> </a:t>
            </a:r>
            <a:r>
              <a:rPr lang="de-DE" dirty="0" err="1"/>
              <a:t>pretrained</a:t>
            </a:r>
            <a:r>
              <a:rPr lang="de-DE" dirty="0"/>
              <a:t> </a:t>
            </a:r>
            <a:r>
              <a:rPr lang="de-DE" dirty="0" err="1"/>
              <a:t>encoder</a:t>
            </a:r>
            <a:r>
              <a:rPr lang="de-DE" dirty="0"/>
              <a:t> LLM as </a:t>
            </a:r>
            <a:r>
              <a:rPr lang="de-DE" dirty="0" err="1"/>
              <a:t>foundation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classifier</a:t>
            </a:r>
            <a:r>
              <a:rPr lang="de-DE" dirty="0"/>
              <a:t> </a:t>
            </a:r>
            <a:r>
              <a:rPr lang="de-DE" dirty="0" err="1"/>
              <a:t>head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pretraining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task-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head</a:t>
            </a:r>
            <a:endParaRPr lang="de-DE" dirty="0"/>
          </a:p>
          <a:p>
            <a:pPr marL="0" indent="0">
              <a:buNone/>
            </a:pPr>
            <a:endParaRPr lang="en-GB" dirty="0"/>
          </a:p>
          <a:p>
            <a:r>
              <a:rPr lang="de-DE" dirty="0"/>
              <a:t>continue (starting with weights after pretraining) training with data for task at </a:t>
            </a:r>
            <a:r>
              <a:rPr lang="de-DE" dirty="0" err="1"/>
              <a:t>hand</a:t>
            </a:r>
            <a:r>
              <a:rPr lang="de-DE" dirty="0"/>
              <a:t> (</a:t>
            </a:r>
            <a:r>
              <a:rPr lang="de-DE" dirty="0" err="1"/>
              <a:t>options</a:t>
            </a:r>
            <a:r>
              <a:rPr lang="de-DE" dirty="0"/>
              <a:t>: </a:t>
            </a:r>
            <a:r>
              <a:rPr lang="de-DE" dirty="0" err="1"/>
              <a:t>finetune</a:t>
            </a:r>
            <a:r>
              <a:rPr lang="de-DE" dirty="0"/>
              <a:t> all </a:t>
            </a:r>
            <a:r>
              <a:rPr lang="de-DE" dirty="0" err="1"/>
              <a:t>weights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just </a:t>
            </a:r>
            <a:r>
              <a:rPr lang="de-DE" dirty="0" err="1"/>
              <a:t>some</a:t>
            </a:r>
            <a:r>
              <a:rPr lang="de-DE" dirty="0"/>
              <a:t>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55EA56-7CB1-7041-F3BA-0AEA9E42E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09036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C70418-8F83-3C9E-7A93-DF61EC41A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Finetuning Scenarios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AFF65F-2B24-83B6-1383-8EC4F94548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2400" dirty="0"/>
              <a:t>finetuning gives better adjustment to new task than feature extraction (important if new task differs a lot from pretraining task)</a:t>
            </a:r>
          </a:p>
          <a:p>
            <a:pPr marL="0" indent="0">
              <a:buNone/>
            </a:pPr>
            <a:r>
              <a:rPr lang="en-GB" sz="2400" dirty="0">
                <a:sym typeface="Wingdings" panose="05000000000000000000" pitchFamily="2" charset="2"/>
              </a:rPr>
              <a:t> coming along with </a:t>
            </a:r>
            <a:r>
              <a:rPr lang="en-GB" sz="2400" dirty="0"/>
              <a:t>danger of overfitting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features more generic in early layers (</a:t>
            </a:r>
            <a:r>
              <a:rPr lang="de-DE" sz="2400" dirty="0"/>
              <a:t>e.g., </a:t>
            </a:r>
            <a:r>
              <a:rPr lang="de-DE" sz="2400" dirty="0" err="1"/>
              <a:t>token</a:t>
            </a:r>
            <a:r>
              <a:rPr lang="de-DE" sz="2400" dirty="0"/>
              <a:t> </a:t>
            </a:r>
            <a:r>
              <a:rPr lang="de-DE" sz="2400" dirty="0" err="1"/>
              <a:t>structure</a:t>
            </a:r>
            <a:r>
              <a:rPr lang="de-DE" sz="2400" dirty="0"/>
              <a:t>, </a:t>
            </a:r>
            <a:r>
              <a:rPr lang="de-DE" sz="2400" dirty="0" err="1"/>
              <a:t>syntax</a:t>
            </a:r>
            <a:r>
              <a:rPr lang="de-DE" sz="2400" dirty="0"/>
              <a:t>, </a:t>
            </a:r>
            <a:r>
              <a:rPr lang="de-DE" sz="2400" dirty="0" err="1"/>
              <a:t>part-of-speech</a:t>
            </a:r>
            <a:r>
              <a:rPr lang="en-GB" sz="2400" dirty="0"/>
              <a:t>) and more specific to the pretraining data in later layers (</a:t>
            </a:r>
            <a:r>
              <a:rPr lang="de-DE" sz="2400" dirty="0"/>
              <a:t>e.g., </a:t>
            </a:r>
            <a:r>
              <a:rPr lang="de-DE" sz="2400" dirty="0" err="1"/>
              <a:t>word</a:t>
            </a:r>
            <a:r>
              <a:rPr lang="de-DE" sz="2400" dirty="0"/>
              <a:t> sense, </a:t>
            </a:r>
            <a:r>
              <a:rPr lang="de-DE" sz="2400" dirty="0" err="1"/>
              <a:t>entity</a:t>
            </a:r>
            <a:r>
              <a:rPr lang="de-DE" sz="2400" dirty="0"/>
              <a:t> </a:t>
            </a:r>
            <a:r>
              <a:rPr lang="de-DE" sz="2400" dirty="0" err="1"/>
              <a:t>linking</a:t>
            </a:r>
            <a:r>
              <a:rPr lang="en-GB" sz="2400" dirty="0"/>
              <a:t>)</a:t>
            </a:r>
          </a:p>
          <a:p>
            <a:pPr marL="0" indent="0">
              <a:buNone/>
            </a:pPr>
            <a:r>
              <a:rPr lang="en-GB" sz="2400" dirty="0">
                <a:sym typeface="Wingdings" panose="05000000000000000000" pitchFamily="2" charset="2"/>
              </a:rPr>
              <a:t> for small finetuning data sets, typically keep weights of early layers fixed to avoid overfitting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for large finetuning data sets (less danger of overfitting), finetuning all layers can be beneficial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A47A66-9C27-B5A5-879C-001B25065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73204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FF0D77-63F1-825D-6560-C80B0DE3E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Sequence</a:t>
            </a:r>
            <a:r>
              <a:rPr lang="de-DE" dirty="0"/>
              <a:t> Classification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B55EF91-9EAF-B878-3441-F9D7A7F93F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506141" cy="4351338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DE" b="1" dirty="0" err="1"/>
              <a:t>Sequence</a:t>
            </a:r>
            <a:r>
              <a:rPr lang="de-DE" b="1" dirty="0"/>
              <a:t> </a:t>
            </a:r>
            <a:r>
              <a:rPr lang="de-DE" b="1" dirty="0" err="1"/>
              <a:t>classification</a:t>
            </a:r>
            <a:r>
              <a:rPr lang="de-DE" b="1" dirty="0"/>
              <a:t> (</a:t>
            </a:r>
            <a:r>
              <a:rPr lang="de-DE" b="1" dirty="0" err="1"/>
              <a:t>sentiment</a:t>
            </a:r>
            <a:r>
              <a:rPr lang="de-DE" b="1" dirty="0"/>
              <a:t>, </a:t>
            </a:r>
            <a:r>
              <a:rPr lang="de-DE" b="1" dirty="0" err="1"/>
              <a:t>topic</a:t>
            </a:r>
            <a:r>
              <a:rPr lang="de-DE" b="1" dirty="0"/>
              <a:t>, NLI, etc.)</a:t>
            </a:r>
          </a:p>
          <a:p>
            <a:pPr marL="0" indent="0">
              <a:buNone/>
            </a:pPr>
            <a:r>
              <a:rPr lang="de-DE" dirty="0"/>
              <a:t>A </a:t>
            </a:r>
            <a:r>
              <a:rPr lang="de-DE" dirty="0" err="1"/>
              <a:t>special</a:t>
            </a:r>
            <a:r>
              <a:rPr lang="de-DE" dirty="0"/>
              <a:t> </a:t>
            </a:r>
            <a:r>
              <a:rPr lang="de-DE" dirty="0" err="1"/>
              <a:t>token</a:t>
            </a:r>
            <a:r>
              <a:rPr lang="de-DE" dirty="0"/>
              <a:t> </a:t>
            </a:r>
            <a:r>
              <a:rPr lang="de-DE" b="1" dirty="0"/>
              <a:t>[CLS]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prepended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.</a:t>
            </a:r>
          </a:p>
          <a:p>
            <a:pPr marL="0" indent="0">
              <a:buNone/>
            </a:pPr>
            <a:r>
              <a:rPr lang="de-DE" dirty="0" err="1"/>
              <a:t>Its</a:t>
            </a:r>
            <a:r>
              <a:rPr lang="de-DE" dirty="0"/>
              <a:t> final </a:t>
            </a:r>
            <a:r>
              <a:rPr lang="de-DE" dirty="0" err="1"/>
              <a:t>hidden</a:t>
            </a:r>
            <a:r>
              <a:rPr lang="de-DE" dirty="0"/>
              <a:t> </a:t>
            </a:r>
            <a:r>
              <a:rPr lang="de-DE" dirty="0" err="1"/>
              <a:t>state</a:t>
            </a:r>
            <a:r>
              <a:rPr lang="de-DE" dirty="0"/>
              <a:t> h_[CLS]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treated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a </a:t>
            </a:r>
            <a:r>
              <a:rPr lang="de-DE" dirty="0" err="1"/>
              <a:t>summary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whole</a:t>
            </a:r>
            <a:r>
              <a:rPr lang="de-DE" dirty="0"/>
              <a:t> </a:t>
            </a:r>
            <a:r>
              <a:rPr lang="de-DE" dirty="0" err="1"/>
              <a:t>sequence</a:t>
            </a:r>
            <a:r>
              <a:rPr lang="de-DE" dirty="0"/>
              <a:t>.</a:t>
            </a:r>
          </a:p>
          <a:p>
            <a:pPr marL="0" indent="0">
              <a:buNone/>
            </a:pP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vector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passed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a linear </a:t>
            </a:r>
            <a:r>
              <a:rPr lang="de-DE" dirty="0" err="1"/>
              <a:t>classification</a:t>
            </a:r>
            <a:r>
              <a:rPr lang="de-DE" dirty="0"/>
              <a:t> </a:t>
            </a:r>
            <a:r>
              <a:rPr lang="de-DE" dirty="0" err="1"/>
              <a:t>head</a:t>
            </a:r>
            <a:r>
              <a:rPr lang="de-DE" dirty="0"/>
              <a:t> → </a:t>
            </a:r>
            <a:r>
              <a:rPr lang="de-DE" dirty="0" err="1"/>
              <a:t>logits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</a:t>
            </a:r>
            <a:r>
              <a:rPr lang="de-DE" dirty="0" err="1"/>
              <a:t>classes</a:t>
            </a:r>
            <a:r>
              <a:rPr lang="de-DE" dirty="0"/>
              <a:t>.</a:t>
            </a:r>
          </a:p>
          <a:p>
            <a:pPr marL="0" indent="0">
              <a:buNone/>
            </a:pPr>
            <a:r>
              <a:rPr lang="de-DE" b="1" dirty="0" err="1"/>
              <a:t>default</a:t>
            </a:r>
            <a:r>
              <a:rPr lang="de-DE" b="1" dirty="0"/>
              <a:t> in BERT-style </a:t>
            </a:r>
            <a:r>
              <a:rPr lang="de-DE" b="1" dirty="0" err="1"/>
              <a:t>models</a:t>
            </a:r>
            <a:endParaRPr lang="de-DE" b="1" dirty="0"/>
          </a:p>
          <a:p>
            <a:pPr marL="0" indent="0">
              <a:buNone/>
            </a:pPr>
            <a:br>
              <a:rPr lang="de-DE" dirty="0"/>
            </a:br>
            <a:r>
              <a:rPr lang="de-DE" dirty="0"/>
              <a:t>(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variants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b="1" dirty="0" err="1"/>
              <a:t>average</a:t>
            </a:r>
            <a:r>
              <a:rPr lang="de-DE" b="1" dirty="0"/>
              <a:t> </a:t>
            </a:r>
            <a:r>
              <a:rPr lang="de-DE" b="1" dirty="0" err="1"/>
              <a:t>pooling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all </a:t>
            </a:r>
            <a:r>
              <a:rPr lang="de-DE" dirty="0" err="1"/>
              <a:t>token</a:t>
            </a:r>
            <a:r>
              <a:rPr lang="de-DE" dirty="0"/>
              <a:t> </a:t>
            </a:r>
            <a:r>
              <a:rPr lang="de-DE" dirty="0" err="1"/>
              <a:t>states</a:t>
            </a:r>
            <a:r>
              <a:rPr lang="de-DE" dirty="0"/>
              <a:t> </a:t>
            </a:r>
            <a:r>
              <a:rPr lang="de-DE" dirty="0" err="1"/>
              <a:t>instead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[CLS], but [CLS]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original/</a:t>
            </a:r>
            <a:r>
              <a:rPr lang="de-DE" dirty="0" err="1"/>
              <a:t>standard</a:t>
            </a:r>
            <a:r>
              <a:rPr lang="de-DE" dirty="0"/>
              <a:t> </a:t>
            </a:r>
            <a:r>
              <a:rPr lang="de-DE" dirty="0" err="1"/>
              <a:t>choice</a:t>
            </a:r>
            <a:r>
              <a:rPr lang="de-DE" dirty="0"/>
              <a:t>.)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…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example</a:t>
            </a:r>
            <a:endParaRPr lang="de-DE" dirty="0"/>
          </a:p>
          <a:p>
            <a:pPr marL="0" indent="0">
              <a:buNone/>
            </a:pPr>
            <a:r>
              <a:rPr lang="en-GB" dirty="0"/>
              <a:t>exercise: </a:t>
            </a:r>
            <a:r>
              <a:rPr lang="en-GB" dirty="0">
                <a:hlinkClick r:id="rId2"/>
              </a:rPr>
              <a:t>Kaggle Disaster Tweets</a:t>
            </a:r>
            <a:endParaRPr lang="en-GB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4A72D0-DDFF-CBDD-9B6B-E819F5AD2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11</a:t>
            </a:fld>
            <a:endParaRPr lang="de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0DE6CC-D989-681F-3F1B-9A6B1C1668C9}"/>
              </a:ext>
            </a:extLst>
          </p:cNvPr>
          <p:cNvSpPr txBox="1"/>
          <p:nvPr/>
        </p:nvSpPr>
        <p:spPr>
          <a:xfrm>
            <a:off x="11529848" y="5325559"/>
            <a:ext cx="57281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6" name="Picture 7" descr="A screen shot of a computer&#10;&#10;Description automatically generated">
            <a:extLst>
              <a:ext uri="{FF2B5EF4-FFF2-40B4-BE49-F238E27FC236}">
                <a16:creationId xmlns:a16="http://schemas.microsoft.com/office/drawing/2014/main" id="{F9E0B6DB-3C84-35A6-82B8-D9AB3046CB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0600" y="2458788"/>
            <a:ext cx="3581400" cy="2866770"/>
          </a:xfrm>
          <a:prstGeom prst="rect">
            <a:avLst/>
          </a:prstGeom>
        </p:spPr>
      </p:pic>
      <p:sp>
        <p:nvSpPr>
          <p:cNvPr id="7" name="TextBox 8">
            <a:extLst>
              <a:ext uri="{FF2B5EF4-FFF2-40B4-BE49-F238E27FC236}">
                <a16:creationId xmlns:a16="http://schemas.microsoft.com/office/drawing/2014/main" id="{7F12BE46-DEB8-2E09-3F84-A0DF6D73CD8A}"/>
              </a:ext>
            </a:extLst>
          </p:cNvPr>
          <p:cNvSpPr txBox="1"/>
          <p:nvPr/>
        </p:nvSpPr>
        <p:spPr>
          <a:xfrm>
            <a:off x="8958029" y="5568144"/>
            <a:ext cx="28783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sentence classification via [CLS] token</a:t>
            </a:r>
          </a:p>
        </p:txBody>
      </p:sp>
      <p:cxnSp>
        <p:nvCxnSpPr>
          <p:cNvPr id="8" name="Straight Arrow Connector 10">
            <a:extLst>
              <a:ext uri="{FF2B5EF4-FFF2-40B4-BE49-F238E27FC236}">
                <a16:creationId xmlns:a16="http://schemas.microsoft.com/office/drawing/2014/main" id="{47B0D5AB-CE09-9013-5B61-A91FD6481FC5}"/>
              </a:ext>
            </a:extLst>
          </p:cNvPr>
          <p:cNvCxnSpPr>
            <a:cxnSpLocks/>
          </p:cNvCxnSpPr>
          <p:nvPr/>
        </p:nvCxnSpPr>
        <p:spPr>
          <a:xfrm flipH="1" flipV="1">
            <a:off x="8958029" y="5004381"/>
            <a:ext cx="228304" cy="6519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42374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8D2A51-B38D-9C57-1ABF-8D603A1E55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Token Classification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FC6E1E0-93F3-C0C8-C345-1BD1F5C25C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b="1" dirty="0"/>
              <a:t>Token-level </a:t>
            </a:r>
            <a:r>
              <a:rPr lang="de-DE" b="1" dirty="0" err="1"/>
              <a:t>tasks</a:t>
            </a:r>
            <a:r>
              <a:rPr lang="de-DE" dirty="0"/>
              <a:t> → </a:t>
            </a:r>
            <a:r>
              <a:rPr lang="de-DE" dirty="0" err="1"/>
              <a:t>hidden</a:t>
            </a:r>
            <a:r>
              <a:rPr lang="de-DE" dirty="0"/>
              <a:t> </a:t>
            </a:r>
            <a:r>
              <a:rPr lang="de-DE" dirty="0" err="1"/>
              <a:t>states</a:t>
            </a:r>
            <a:r>
              <a:rPr lang="de-DE" dirty="0"/>
              <a:t> </a:t>
            </a:r>
            <a:r>
              <a:rPr lang="de-DE" dirty="0" err="1"/>
              <a:t>directly</a:t>
            </a:r>
            <a:r>
              <a:rPr lang="de-DE" dirty="0"/>
              <a:t>.</a:t>
            </a:r>
          </a:p>
          <a:p>
            <a:pPr marL="0" indent="0">
              <a:buNone/>
            </a:pPr>
            <a:endParaRPr lang="de-DE" b="1" dirty="0"/>
          </a:p>
          <a:p>
            <a:pPr marL="0" indent="0">
              <a:buNone/>
            </a:pPr>
            <a:r>
              <a:rPr lang="de-DE" b="1" dirty="0"/>
              <a:t>Token </a:t>
            </a:r>
            <a:r>
              <a:rPr lang="de-DE" b="1" dirty="0" err="1"/>
              <a:t>classification</a:t>
            </a:r>
            <a:r>
              <a:rPr lang="de-DE" b="1" dirty="0"/>
              <a:t> (NER, POS </a:t>
            </a:r>
            <a:r>
              <a:rPr lang="de-DE" b="1" dirty="0" err="1"/>
              <a:t>tagging</a:t>
            </a:r>
            <a:r>
              <a:rPr lang="de-DE" b="1" dirty="0"/>
              <a:t>, etc.)</a:t>
            </a:r>
          </a:p>
          <a:p>
            <a:pPr marL="0" indent="0">
              <a:buNone/>
            </a:pP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token’s</a:t>
            </a:r>
            <a:r>
              <a:rPr lang="de-DE" dirty="0"/>
              <a:t> </a:t>
            </a:r>
            <a:r>
              <a:rPr lang="de-DE" dirty="0" err="1"/>
              <a:t>hidden</a:t>
            </a:r>
            <a:r>
              <a:rPr lang="de-DE" dirty="0"/>
              <a:t> </a:t>
            </a:r>
            <a:r>
              <a:rPr lang="de-DE" dirty="0" err="1"/>
              <a:t>state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projected</a:t>
            </a:r>
            <a:r>
              <a:rPr lang="de-DE" dirty="0"/>
              <a:t> </a:t>
            </a:r>
            <a:r>
              <a:rPr lang="de-DE" b="1" dirty="0" err="1"/>
              <a:t>independently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logits</a:t>
            </a:r>
            <a:r>
              <a:rPr lang="de-DE" dirty="0"/>
              <a:t> (</a:t>
            </a:r>
            <a:r>
              <a:rPr lang="de-DE" dirty="0" err="1"/>
              <a:t>usually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</a:t>
            </a:r>
            <a:r>
              <a:rPr lang="de-DE" dirty="0" err="1"/>
              <a:t>entity</a:t>
            </a:r>
            <a:r>
              <a:rPr lang="de-DE" dirty="0"/>
              <a:t> </a:t>
            </a:r>
            <a:r>
              <a:rPr lang="de-DE" dirty="0" err="1"/>
              <a:t>labels</a:t>
            </a:r>
            <a:r>
              <a:rPr lang="de-DE" dirty="0"/>
              <a:t>).</a:t>
            </a:r>
          </a:p>
          <a:p>
            <a:pPr marL="0" indent="0">
              <a:buNone/>
            </a:pP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pooling</a:t>
            </a:r>
            <a:r>
              <a:rPr lang="de-DE" dirty="0"/>
              <a:t>, </a:t>
            </a:r>
            <a:r>
              <a:rPr lang="de-DE" dirty="0" err="1"/>
              <a:t>because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need</a:t>
            </a:r>
            <a:r>
              <a:rPr lang="de-DE" dirty="0"/>
              <a:t> per-token </a:t>
            </a:r>
            <a:r>
              <a:rPr lang="de-DE" dirty="0" err="1"/>
              <a:t>predictions</a:t>
            </a:r>
            <a:r>
              <a:rPr lang="de-DE" dirty="0"/>
              <a:t>.</a:t>
            </a:r>
          </a:p>
          <a:p>
            <a:pPr marL="0" indent="0">
              <a:buNone/>
            </a:pPr>
            <a:r>
              <a:rPr lang="de-DE" dirty="0" err="1"/>
              <a:t>logits_i</a:t>
            </a:r>
            <a:r>
              <a:rPr lang="de-DE" dirty="0"/>
              <a:t> = </a:t>
            </a:r>
            <a:r>
              <a:rPr lang="de-DE" dirty="0" err="1"/>
              <a:t>h_i</a:t>
            </a:r>
            <a:r>
              <a:rPr lang="de-DE" dirty="0"/>
              <a:t> W + b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F870D76-8BA8-B35C-291C-27A5AEB55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816253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7F9850-863B-4A7C-99A5-A8ED55900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Sentence</a:t>
            </a:r>
            <a:r>
              <a:rPr lang="de-DE" dirty="0"/>
              <a:t> </a:t>
            </a:r>
            <a:r>
              <a:rPr lang="de-DE" dirty="0" err="1"/>
              <a:t>Similarity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7E124F-2FF1-163C-3201-2FF90B52D7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b="1" dirty="0" err="1"/>
              <a:t>Sentence</a:t>
            </a:r>
            <a:r>
              <a:rPr lang="de-DE" b="1" dirty="0"/>
              <a:t> </a:t>
            </a:r>
            <a:r>
              <a:rPr lang="de-DE" b="1" dirty="0" err="1"/>
              <a:t>similarity</a:t>
            </a:r>
            <a:r>
              <a:rPr lang="de-DE" b="1" dirty="0"/>
              <a:t> / </a:t>
            </a:r>
            <a:r>
              <a:rPr lang="de-DE" b="1" dirty="0" err="1"/>
              <a:t>retrieval</a:t>
            </a:r>
            <a:endParaRPr lang="de-DE" b="1" dirty="0"/>
          </a:p>
          <a:p>
            <a:pPr marL="0" indent="0">
              <a:buNone/>
            </a:pPr>
            <a:r>
              <a:rPr lang="de-DE" dirty="0" err="1"/>
              <a:t>Sometimes</a:t>
            </a:r>
            <a:r>
              <a:rPr lang="de-DE" dirty="0"/>
              <a:t> </a:t>
            </a:r>
            <a:r>
              <a:rPr lang="de-DE" dirty="0" err="1"/>
              <a:t>average</a:t>
            </a:r>
            <a:r>
              <a:rPr lang="de-DE" dirty="0"/>
              <a:t> </a:t>
            </a:r>
            <a:r>
              <a:rPr lang="de-DE" dirty="0" err="1"/>
              <a:t>pooling</a:t>
            </a:r>
            <a:r>
              <a:rPr lang="de-DE" dirty="0"/>
              <a:t> (</a:t>
            </a:r>
            <a:r>
              <a:rPr lang="de-DE" dirty="0" err="1"/>
              <a:t>mean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all </a:t>
            </a:r>
            <a:r>
              <a:rPr lang="de-DE" dirty="0" err="1"/>
              <a:t>hidden</a:t>
            </a:r>
            <a:r>
              <a:rPr lang="de-DE" dirty="0"/>
              <a:t> </a:t>
            </a:r>
            <a:r>
              <a:rPr lang="de-DE" dirty="0" err="1"/>
              <a:t>states</a:t>
            </a:r>
            <a:r>
              <a:rPr lang="de-DE" dirty="0"/>
              <a:t>)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instead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[CLS], </a:t>
            </a:r>
            <a:r>
              <a:rPr lang="de-DE" dirty="0" err="1"/>
              <a:t>because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gives</a:t>
            </a:r>
            <a:r>
              <a:rPr lang="de-DE" dirty="0"/>
              <a:t> a smoother </a:t>
            </a:r>
            <a:r>
              <a:rPr lang="de-DE" dirty="0" err="1"/>
              <a:t>representation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embeddings</a:t>
            </a:r>
            <a:r>
              <a:rPr lang="de-DE" dirty="0"/>
              <a:t>.</a:t>
            </a:r>
          </a:p>
          <a:p>
            <a:pPr marL="0" indent="0">
              <a:buNone/>
            </a:pPr>
            <a:r>
              <a:rPr lang="de-DE" dirty="0" err="1"/>
              <a:t>That’s</a:t>
            </a:r>
            <a:r>
              <a:rPr lang="de-DE" dirty="0"/>
              <a:t> </a:t>
            </a: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b="1" dirty="0" err="1"/>
              <a:t>Sentence</a:t>
            </a:r>
            <a:r>
              <a:rPr lang="de-DE" b="1" dirty="0"/>
              <a:t>-BERT (SBERT)</a:t>
            </a:r>
            <a:r>
              <a:rPr lang="de-DE" dirty="0"/>
              <a:t> </a:t>
            </a:r>
            <a:r>
              <a:rPr lang="de-DE" dirty="0" err="1"/>
              <a:t>does</a:t>
            </a:r>
            <a:r>
              <a:rPr lang="de-DE" dirty="0"/>
              <a:t>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3FA2F52-7FFF-92B0-F7A7-623ED745F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762227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CEFB21-2CCA-564A-D312-3A4B41E5A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Finetuning? 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B15F20-2568-EEBA-AF76-03A86D63D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14</a:t>
            </a:fld>
            <a:endParaRPr lang="en-D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8758AB1-B3B0-0616-5CEB-865CA618E6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3454" y="4100715"/>
            <a:ext cx="6965091" cy="226162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CBF6A85-5F13-3267-7016-A5B242B7FF98}"/>
              </a:ext>
            </a:extLst>
          </p:cNvPr>
          <p:cNvSpPr txBox="1"/>
          <p:nvPr/>
        </p:nvSpPr>
        <p:spPr>
          <a:xfrm>
            <a:off x="6302826" y="6356350"/>
            <a:ext cx="6445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26BAE1A0-1615-EE5C-7E82-5B0C212C8B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make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own </a:t>
            </a:r>
            <a:r>
              <a:rPr lang="de-DE" dirty="0" err="1"/>
              <a:t>data</a:t>
            </a:r>
            <a:r>
              <a:rPr lang="de-DE" dirty="0"/>
              <a:t> (domain-</a:t>
            </a:r>
            <a:r>
              <a:rPr lang="de-DE" dirty="0" err="1"/>
              <a:t>specific</a:t>
            </a:r>
            <a:r>
              <a:rPr lang="de-DE" dirty="0"/>
              <a:t>, high-quality)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instruction</a:t>
            </a:r>
            <a:r>
              <a:rPr lang="de-DE" dirty="0"/>
              <a:t> </a:t>
            </a:r>
            <a:r>
              <a:rPr lang="de-DE" dirty="0" err="1"/>
              <a:t>tuning</a:t>
            </a:r>
            <a:r>
              <a:rPr lang="de-DE" dirty="0"/>
              <a:t> </a:t>
            </a:r>
            <a:r>
              <a:rPr lang="de-DE" dirty="0" err="1"/>
              <a:t>typically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generic</a:t>
            </a:r>
            <a:r>
              <a:rPr lang="de-DE" dirty="0"/>
              <a:t> expert, like </a:t>
            </a:r>
            <a:r>
              <a:rPr lang="de-DE" dirty="0" err="1"/>
              <a:t>coding</a:t>
            </a:r>
            <a:r>
              <a:rPr lang="de-DE" dirty="0"/>
              <a:t> (but </a:t>
            </a:r>
            <a:r>
              <a:rPr lang="de-DE" dirty="0" err="1"/>
              <a:t>can</a:t>
            </a:r>
            <a:r>
              <a:rPr lang="de-DE" dirty="0"/>
              <a:t> also </a:t>
            </a:r>
            <a:r>
              <a:rPr lang="de-DE" dirty="0" err="1"/>
              <a:t>be</a:t>
            </a:r>
            <a:r>
              <a:rPr lang="de-DE" dirty="0"/>
              <a:t> a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thing</a:t>
            </a:r>
            <a:r>
              <a:rPr lang="de-DE" dirty="0"/>
              <a:t> on private </a:t>
            </a:r>
            <a:r>
              <a:rPr lang="de-DE" dirty="0" err="1"/>
              <a:t>data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332147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DCEE70-38C0-6533-2AC9-319D23948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Instruction</a:t>
            </a:r>
            <a:r>
              <a:rPr lang="de-DE" dirty="0"/>
              <a:t> Tuning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058E5BD-E8C1-3A42-10A3-CBE78B1726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581400" cy="4351338"/>
          </a:xfrm>
        </p:spPr>
        <p:txBody>
          <a:bodyPr/>
          <a:lstStyle/>
          <a:p>
            <a:r>
              <a:rPr lang="de-DE" dirty="0"/>
              <a:t>…</a:t>
            </a:r>
          </a:p>
          <a:p>
            <a:r>
              <a:rPr lang="en-GB" dirty="0"/>
              <a:t>supervised fine-tuning (</a:t>
            </a:r>
            <a:r>
              <a:rPr lang="en-GB" dirty="0">
                <a:hlinkClick r:id="rId2"/>
              </a:rPr>
              <a:t>SFT</a:t>
            </a:r>
            <a:r>
              <a:rPr lang="en-GB" dirty="0"/>
              <a:t>)</a:t>
            </a:r>
          </a:p>
          <a:p>
            <a:r>
              <a:rPr lang="en-GB" dirty="0"/>
              <a:t>(e.g., formatting)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7D7E70E-8F09-7DCF-2E5A-5879BF103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15</a:t>
            </a:fld>
            <a:endParaRPr lang="de-DE"/>
          </a:p>
        </p:txBody>
      </p:sp>
      <p:pic>
        <p:nvPicPr>
          <p:cNvPr id="5" name="Grafik 4" descr="Ein Bild, das Text, Diagramm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6CAC150C-CE39-340D-E546-14050BB505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9600" y="1825625"/>
            <a:ext cx="7772400" cy="4184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5323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694547-5151-D7D3-A925-23192933D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Use Case: Question </a:t>
            </a:r>
            <a:r>
              <a:rPr lang="de-DE" dirty="0" err="1"/>
              <a:t>Answering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CF3B4-00CD-08EC-E43D-808D6F92E4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…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F4B0235-81C4-B185-7A07-065F0D447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70813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AD07C-8362-D471-3F09-B2FC34755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Parameter-Efficient Finetuning (PEFT)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876C3D-25E9-6468-66D7-A1D0E870E3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8009239" cy="44312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… </a:t>
            </a:r>
            <a:r>
              <a:rPr lang="en-GB" dirty="0">
                <a:hlinkClick r:id="rId2"/>
              </a:rPr>
              <a:t>LoRA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E4E765-465F-5DF8-7C82-EFF8EB0E6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17</a:t>
            </a:fld>
            <a:endParaRPr lang="en-DE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3E85E75-380C-048D-109E-337786578A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9485" y="2282775"/>
            <a:ext cx="3983086" cy="3517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7466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96747100-59AE-6262-89EF-8C7470AFFD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334977"/>
            <a:ext cx="10515600" cy="329852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A2D747F7-B5C9-14F0-BC67-84479A07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Alignment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DF9E407-E7CD-CEC9-08A9-C9287C7FD4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…</a:t>
            </a:r>
          </a:p>
          <a:p>
            <a:r>
              <a:rPr lang="en-GB" dirty="0"/>
              <a:t>reinforcement learning from human feedback (</a:t>
            </a:r>
            <a:r>
              <a:rPr lang="en-GB" dirty="0">
                <a:hlinkClick r:id="rId3"/>
              </a:rPr>
              <a:t>RLHF</a:t>
            </a:r>
            <a:r>
              <a:rPr lang="en-GB" dirty="0"/>
              <a:t>)</a:t>
            </a:r>
          </a:p>
          <a:p>
            <a:r>
              <a:rPr lang="en-GB" dirty="0"/>
              <a:t>alternatives: </a:t>
            </a:r>
            <a:r>
              <a:rPr lang="en-GB" dirty="0">
                <a:hlinkClick r:id="rId4"/>
              </a:rPr>
              <a:t>DPO</a:t>
            </a:r>
            <a:r>
              <a:rPr lang="en-GB" dirty="0"/>
              <a:t>, </a:t>
            </a:r>
            <a:r>
              <a:rPr lang="en-GB" dirty="0">
                <a:hlinkClick r:id="rId5"/>
              </a:rPr>
              <a:t>ORPO</a:t>
            </a:r>
            <a:endParaRPr lang="en-GB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AE107DF-A4FD-7351-4A7D-0434F1EAC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268741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D99FF-C910-A0E8-3381-C448E5F16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>
                <a:hlinkClick r:id="rId2"/>
              </a:rPr>
              <a:t>InstructGPT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FF788B-7FE4-0E3B-1C93-49275F5E6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19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F48B22-F5A5-3996-02A4-5527B567641F}"/>
              </a:ext>
            </a:extLst>
          </p:cNvPr>
          <p:cNvSpPr txBox="1"/>
          <p:nvPr/>
        </p:nvSpPr>
        <p:spPr>
          <a:xfrm>
            <a:off x="11277600" y="5178391"/>
            <a:ext cx="608718" cy="246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7" name="Grafik 6" descr="Ein Bild, das Text, Screenshot enthält.&#10;&#10;KI-generierte Inhalte können fehlerhaft sein.">
            <a:extLst>
              <a:ext uri="{FF2B5EF4-FFF2-40B4-BE49-F238E27FC236}">
                <a16:creationId xmlns:a16="http://schemas.microsoft.com/office/drawing/2014/main" id="{51ABF00D-E8BF-27E7-1A48-C092AAB646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605" y="1690688"/>
            <a:ext cx="11449713" cy="3258162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DFB0CE71-E065-7443-636C-0D3D508B9E73}"/>
              </a:ext>
            </a:extLst>
          </p:cNvPr>
          <p:cNvSpPr txBox="1"/>
          <p:nvPr/>
        </p:nvSpPr>
        <p:spPr>
          <a:xfrm>
            <a:off x="2984938" y="5424610"/>
            <a:ext cx="6222124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2600" dirty="0"/>
              <a:t>aligning LLM output with human intention</a:t>
            </a:r>
          </a:p>
        </p:txBody>
      </p:sp>
    </p:spTree>
    <p:extLst>
      <p:ext uri="{BB962C8B-B14F-4D97-AF65-F5344CB8AC3E}">
        <p14:creationId xmlns:p14="http://schemas.microsoft.com/office/powerpoint/2010/main" val="28598189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493DE1-8681-E946-F35C-2A338BAFE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C5182F-76D3-02B3-807F-78D531F2C3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from</a:t>
            </a:r>
            <a:r>
              <a:rPr lang="de-DE" dirty="0"/>
              <a:t> GPT-3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InstructGPT</a:t>
            </a:r>
            <a:r>
              <a:rPr lang="de-DE" dirty="0"/>
              <a:t> and ChatGPT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25A7FC5-9ED3-4885-ECCE-73FBD8CB7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47628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1B08B0-5FAB-8E36-9583-086C5FE7F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Multi-Turn </a:t>
            </a:r>
            <a:r>
              <a:rPr lang="de-DE" dirty="0" err="1"/>
              <a:t>Dialogue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FDAE060-03E4-7410-C0A6-AE36D46743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Handled</a:t>
            </a:r>
            <a:r>
              <a:rPr lang="de-DE" dirty="0"/>
              <a:t> </a:t>
            </a:r>
            <a:r>
              <a:rPr lang="de-DE" dirty="0" err="1"/>
              <a:t>entirely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passing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conversation</a:t>
            </a:r>
            <a:r>
              <a:rPr lang="de-DE" dirty="0"/>
              <a:t> </a:t>
            </a:r>
            <a:r>
              <a:rPr lang="de-DE" dirty="0" err="1"/>
              <a:t>history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part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at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341BFF8-BEC1-70D4-324B-8FD51E0DA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57809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EB045E-1272-3E62-6E68-080CE472E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Dialog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16BFCD0-FDF6-89AF-2AC1-D92E4EB104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…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instruction-tuned</a:t>
            </a:r>
            <a:r>
              <a:rPr lang="de-DE" dirty="0"/>
              <a:t> and </a:t>
            </a:r>
            <a:r>
              <a:rPr lang="de-DE" dirty="0" err="1"/>
              <a:t>aligned</a:t>
            </a:r>
            <a:r>
              <a:rPr lang="de-DE" dirty="0"/>
              <a:t> LLMs: </a:t>
            </a:r>
            <a:r>
              <a:rPr lang="de-DE" dirty="0" err="1"/>
              <a:t>assistant</a:t>
            </a:r>
            <a:r>
              <a:rPr lang="de-DE" dirty="0"/>
              <a:t>-style </a:t>
            </a:r>
            <a:r>
              <a:rPr lang="de-DE" dirty="0" err="1"/>
              <a:t>models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6D7745C-33A3-5E08-9676-31B82A7FE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829402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8399663-9922-19FF-0C11-ACBEFDAAA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23</a:t>
            </a:fld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567973F-4CA1-AD37-154D-E291AE0C5F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214" y="68262"/>
            <a:ext cx="8517571" cy="6721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1948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EF1E6E-F30A-7F8D-50CD-E883ED225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Next: </a:t>
            </a:r>
            <a:r>
              <a:rPr lang="de-DE" dirty="0" err="1"/>
              <a:t>Agents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1F7B0-46FA-7E09-1BEB-4B91C37A02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latest</a:t>
            </a:r>
            <a:r>
              <a:rPr lang="de-DE" dirty="0"/>
              <a:t> AI </a:t>
            </a:r>
            <a:r>
              <a:rPr lang="de-DE" dirty="0" err="1"/>
              <a:t>evolutionary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: </a:t>
            </a:r>
            <a:r>
              <a:rPr lang="de-DE" b="1" dirty="0"/>
              <a:t>LLMs </a:t>
            </a:r>
            <a:r>
              <a:rPr lang="de-DE" b="1" dirty="0" err="1"/>
              <a:t>as</a:t>
            </a:r>
            <a:r>
              <a:rPr lang="de-DE" b="1" dirty="0"/>
              <a:t> </a:t>
            </a:r>
            <a:r>
              <a:rPr lang="de-DE" b="1" dirty="0" err="1"/>
              <a:t>assistants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b="1" dirty="0"/>
              <a:t>LLMs </a:t>
            </a:r>
            <a:r>
              <a:rPr lang="de-DE" b="1" dirty="0" err="1"/>
              <a:t>as</a:t>
            </a:r>
            <a:r>
              <a:rPr lang="de-DE" b="1" dirty="0"/>
              <a:t> </a:t>
            </a:r>
            <a:r>
              <a:rPr lang="de-DE" b="1" dirty="0" err="1"/>
              <a:t>agents</a:t>
            </a:r>
            <a:endParaRPr lang="de-DE" b="1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CED79EF-B4D0-08EC-3556-26AD11F21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24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F9B6036-572A-3224-B445-73009FB1AF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6985" y="2540226"/>
            <a:ext cx="5998029" cy="3998686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16569F2A-99DD-137E-168F-1D632F00FA33}"/>
              </a:ext>
            </a:extLst>
          </p:cNvPr>
          <p:cNvSpPr txBox="1"/>
          <p:nvPr/>
        </p:nvSpPr>
        <p:spPr>
          <a:xfrm>
            <a:off x="9095014" y="3339574"/>
            <a:ext cx="291192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000" dirty="0" err="1"/>
              <a:t>active</a:t>
            </a:r>
            <a:r>
              <a:rPr lang="de-DE" sz="2000" dirty="0"/>
              <a:t>, </a:t>
            </a:r>
            <a:r>
              <a:rPr lang="de-DE" sz="2000" dirty="0" err="1"/>
              <a:t>autonomous</a:t>
            </a:r>
            <a:r>
              <a:rPr lang="de-DE" sz="2000" dirty="0"/>
              <a:t>, </a:t>
            </a:r>
            <a:r>
              <a:rPr lang="de-DE" sz="2000" dirty="0" err="1"/>
              <a:t>decision-making</a:t>
            </a:r>
            <a:r>
              <a:rPr lang="de-DE" sz="2000" dirty="0"/>
              <a:t> </a:t>
            </a:r>
            <a:r>
              <a:rPr lang="de-DE" sz="2000" dirty="0" err="1"/>
              <a:t>entities</a:t>
            </a:r>
            <a:endParaRPr lang="de-DE" sz="2000" dirty="0"/>
          </a:p>
          <a:p>
            <a:endParaRPr lang="de-DE" sz="2000" dirty="0"/>
          </a:p>
          <a:p>
            <a:r>
              <a:rPr lang="de-DE" sz="2000" dirty="0" err="1"/>
              <a:t>acting</a:t>
            </a:r>
            <a:r>
              <a:rPr lang="de-DE" sz="2000" dirty="0"/>
              <a:t> on </a:t>
            </a:r>
            <a:r>
              <a:rPr lang="de-DE" sz="2000" dirty="0" err="1"/>
              <a:t>goals</a:t>
            </a:r>
            <a:r>
              <a:rPr lang="de-DE" sz="2000" dirty="0"/>
              <a:t> </a:t>
            </a:r>
            <a:r>
              <a:rPr lang="de-DE" sz="2000" dirty="0" err="1"/>
              <a:t>or</a:t>
            </a:r>
            <a:r>
              <a:rPr lang="de-DE" sz="2000" dirty="0"/>
              <a:t> </a:t>
            </a:r>
            <a:r>
              <a:rPr lang="de-DE" sz="2000" dirty="0" err="1"/>
              <a:t>tasks</a:t>
            </a:r>
            <a:endParaRPr lang="de-DE" sz="20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70A239DC-E007-4DEE-0753-ACE01E85E9D0}"/>
              </a:ext>
            </a:extLst>
          </p:cNvPr>
          <p:cNvSpPr txBox="1"/>
          <p:nvPr/>
        </p:nvSpPr>
        <p:spPr>
          <a:xfrm>
            <a:off x="1055914" y="3339574"/>
            <a:ext cx="204107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000" dirty="0"/>
              <a:t>passive, </a:t>
            </a:r>
            <a:r>
              <a:rPr lang="de-DE" sz="2000" dirty="0" err="1"/>
              <a:t>reactive</a:t>
            </a:r>
            <a:endParaRPr lang="de-DE" sz="2000" dirty="0"/>
          </a:p>
          <a:p>
            <a:endParaRPr lang="de-DE" sz="2000" dirty="0"/>
          </a:p>
          <a:p>
            <a:r>
              <a:rPr lang="de-DE" sz="2000" dirty="0" err="1"/>
              <a:t>responding</a:t>
            </a:r>
            <a:r>
              <a:rPr lang="de-DE" sz="2000" dirty="0"/>
              <a:t> </a:t>
            </a:r>
            <a:r>
              <a:rPr lang="de-DE" sz="2000" dirty="0" err="1"/>
              <a:t>to</a:t>
            </a:r>
            <a:r>
              <a:rPr lang="de-DE" sz="2000" dirty="0"/>
              <a:t> </a:t>
            </a:r>
            <a:r>
              <a:rPr lang="de-DE" sz="2000" dirty="0" err="1"/>
              <a:t>user</a:t>
            </a:r>
            <a:r>
              <a:rPr lang="de-DE" sz="2000" dirty="0"/>
              <a:t> </a:t>
            </a:r>
            <a:r>
              <a:rPr lang="de-DE" sz="2000" dirty="0" err="1"/>
              <a:t>prompts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23503349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921</Words>
  <Application>Microsoft Macintosh PowerPoint</Application>
  <PresentationFormat>Breitbild</PresentationFormat>
  <Paragraphs>152</Paragraphs>
  <Slides>24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24</vt:i4>
      </vt:variant>
    </vt:vector>
  </HeadingPairs>
  <TitlesOfParts>
    <vt:vector size="29" baseType="lpstr">
      <vt:lpstr>Aptos</vt:lpstr>
      <vt:lpstr>Aptos Display</vt:lpstr>
      <vt:lpstr>Arial</vt:lpstr>
      <vt:lpstr>Wingdings</vt:lpstr>
      <vt:lpstr>Office</vt:lpstr>
      <vt:lpstr>Finetuning</vt:lpstr>
      <vt:lpstr>Course Contents</vt:lpstr>
      <vt:lpstr>This Part: Finetuning</vt:lpstr>
      <vt:lpstr>Modern Language Models in a Nutshell</vt:lpstr>
      <vt:lpstr>Transfer Learning from Foundation Models</vt:lpstr>
      <vt:lpstr>BERT Pretraining</vt:lpstr>
      <vt:lpstr>BERT Variants</vt:lpstr>
      <vt:lpstr>Feature Extraction</vt:lpstr>
      <vt:lpstr>Finetuning</vt:lpstr>
      <vt:lpstr>Finetuning Scenarios</vt:lpstr>
      <vt:lpstr>Sequence Classification</vt:lpstr>
      <vt:lpstr>Token Classification</vt:lpstr>
      <vt:lpstr>Sentence Similarity</vt:lpstr>
      <vt:lpstr>Why Finetuning? </vt:lpstr>
      <vt:lpstr>Instruction Tuning</vt:lpstr>
      <vt:lpstr>Use Case: Question Answering</vt:lpstr>
      <vt:lpstr>Parameter-Efficient Finetuning (PEFT)</vt:lpstr>
      <vt:lpstr>Alignment</vt:lpstr>
      <vt:lpstr>InstructGPT</vt:lpstr>
      <vt:lpstr>PowerPoint-Präsentation</vt:lpstr>
      <vt:lpstr>Multi-Turn Dialogue</vt:lpstr>
      <vt:lpstr>Dialog Systems</vt:lpstr>
      <vt:lpstr>PowerPoint-Präsentation</vt:lpstr>
      <vt:lpstr>Next: Agents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Felix Wick</dc:creator>
  <cp:lastModifiedBy>Felix Wick</cp:lastModifiedBy>
  <cp:revision>91</cp:revision>
  <dcterms:created xsi:type="dcterms:W3CDTF">2025-07-07T13:23:51Z</dcterms:created>
  <dcterms:modified xsi:type="dcterms:W3CDTF">2025-09-18T19:59:42Z</dcterms:modified>
</cp:coreProperties>
</file>