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792" r:id="rId3"/>
    <p:sldId id="790" r:id="rId4"/>
    <p:sldId id="835" r:id="rId5"/>
    <p:sldId id="754" r:id="rId6"/>
    <p:sldId id="812" r:id="rId7"/>
    <p:sldId id="816" r:id="rId8"/>
    <p:sldId id="841" r:id="rId9"/>
    <p:sldId id="814" r:id="rId10"/>
    <p:sldId id="833" r:id="rId11"/>
    <p:sldId id="842" r:id="rId12"/>
    <p:sldId id="834" r:id="rId13"/>
    <p:sldId id="766" r:id="rId14"/>
    <p:sldId id="280" r:id="rId15"/>
    <p:sldId id="829" r:id="rId16"/>
    <p:sldId id="844" r:id="rId17"/>
    <p:sldId id="843" r:id="rId18"/>
    <p:sldId id="847" r:id="rId19"/>
    <p:sldId id="333" r:id="rId20"/>
    <p:sldId id="800" r:id="rId21"/>
    <p:sldId id="846" r:id="rId22"/>
    <p:sldId id="819" r:id="rId23"/>
    <p:sldId id="830" r:id="rId24"/>
    <p:sldId id="840" r:id="rId25"/>
    <p:sldId id="839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21"/>
    <p:restoredTop sz="94570"/>
  </p:normalViewPr>
  <p:slideViewPr>
    <p:cSldViewPr snapToGrid="0">
      <p:cViewPr varScale="1">
        <p:scale>
          <a:sx n="163" d="100"/>
          <a:sy n="163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15.10.25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15.10.25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15.10.25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15.10.25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15.10.25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15.10.25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15.10.25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15.10.25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cameronrwolfe.substack.com/p/understanding-and-using-supervise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203.02155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arpathy/nanochat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5.18290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403.07691v1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6000" y="5486399"/>
            <a:ext cx="4669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):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903515" y="5486399"/>
            <a:ext cx="42998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):</a:t>
            </a:r>
          </a:p>
          <a:p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r>
              <a:rPr lang="en-GB" dirty="0"/>
              <a:t>pretrain a big model (called foundation model) on a broad data set</a:t>
            </a:r>
          </a:p>
          <a:p>
            <a:r>
              <a:rPr lang="en-GB" dirty="0"/>
              <a:t>then use these learnings for subsequent trainings on specific (typically narrow) data by means of finetuning or feature extraction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of BERT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de-DE" sz="2400" dirty="0" err="1"/>
              <a:t>get</a:t>
            </a:r>
            <a:r>
              <a:rPr lang="de-DE" sz="2400" dirty="0"/>
              <a:t> </a:t>
            </a:r>
            <a:r>
              <a:rPr lang="de-DE" sz="2400" dirty="0" err="1"/>
              <a:t>pretrained</a:t>
            </a:r>
            <a:r>
              <a:rPr lang="de-DE" sz="2400" dirty="0"/>
              <a:t> BERT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foundation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(MLM </a:t>
            </a:r>
            <a:r>
              <a:rPr lang="de-DE" sz="2400" dirty="0" err="1"/>
              <a:t>pretraining</a:t>
            </a:r>
            <a:r>
              <a:rPr lang="de-DE" sz="2400" dirty="0"/>
              <a:t>: </a:t>
            </a:r>
            <a:r>
              <a:rPr lang="de-DE" sz="2400" dirty="0" err="1"/>
              <a:t>loss</a:t>
            </a:r>
            <a:r>
              <a:rPr lang="de-DE" sz="2400" dirty="0"/>
              <a:t> </a:t>
            </a:r>
            <a:r>
              <a:rPr lang="de-DE" sz="2400" dirty="0" err="1"/>
              <a:t>computed</a:t>
            </a:r>
            <a:r>
              <a:rPr lang="de-DE" sz="2400" dirty="0"/>
              <a:t> </a:t>
            </a:r>
            <a:r>
              <a:rPr lang="de-DE" sz="2400" dirty="0" err="1"/>
              <a:t>against</a:t>
            </a:r>
            <a:r>
              <a:rPr lang="de-DE" sz="2400" dirty="0"/>
              <a:t> </a:t>
            </a:r>
            <a:r>
              <a:rPr lang="en-GB" sz="2400" dirty="0"/>
              <a:t>projection from last hidden state of [MASK] token to vector of logits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r>
              <a:rPr lang="de-DE" sz="2400" dirty="0" err="1"/>
              <a:t>remove</a:t>
            </a:r>
            <a:r>
              <a:rPr lang="de-DE" sz="2400" dirty="0"/>
              <a:t> </a:t>
            </a:r>
            <a:r>
              <a:rPr lang="de-DE" sz="2400" dirty="0" err="1"/>
              <a:t>pretraining</a:t>
            </a:r>
            <a:r>
              <a:rPr lang="de-DE" sz="2400" dirty="0"/>
              <a:t> </a:t>
            </a:r>
            <a:r>
              <a:rPr lang="de-DE" sz="2400" dirty="0" err="1"/>
              <a:t>classification</a:t>
            </a:r>
            <a:r>
              <a:rPr lang="de-DE" sz="2400" dirty="0"/>
              <a:t> </a:t>
            </a:r>
            <a:r>
              <a:rPr lang="de-DE" sz="2400" dirty="0" err="1"/>
              <a:t>head</a:t>
            </a:r>
            <a:r>
              <a:rPr lang="de-DE" sz="2400" dirty="0"/>
              <a:t> (</a:t>
            </a:r>
            <a:r>
              <a:rPr lang="de-DE" sz="2400" dirty="0">
                <a:sym typeface="Wingdings" pitchFamily="2" charset="2"/>
              </a:rPr>
              <a:t></a:t>
            </a:r>
            <a:r>
              <a:rPr lang="de-DE" sz="2400" dirty="0"/>
              <a:t> </a:t>
            </a:r>
            <a:r>
              <a:rPr lang="de-DE" sz="2400" dirty="0" err="1"/>
              <a:t>get</a:t>
            </a:r>
            <a:r>
              <a:rPr lang="de-DE" sz="2400" dirty="0"/>
              <a:t> </a:t>
            </a:r>
            <a:r>
              <a:rPr lang="de-DE" sz="2400" dirty="0" err="1"/>
              <a:t>contextual</a:t>
            </a:r>
            <a:r>
              <a:rPr lang="de-DE" sz="2400" dirty="0"/>
              <a:t>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embeddings</a:t>
            </a:r>
            <a:r>
              <a:rPr lang="de-DE" sz="2400" dirty="0"/>
              <a:t>)</a:t>
            </a:r>
          </a:p>
          <a:p>
            <a:r>
              <a:rPr lang="en-GB" sz="2400" dirty="0"/>
              <a:t>add another, task-specific classification head (see a few examples on the following slides)</a:t>
            </a:r>
          </a:p>
          <a:p>
            <a:pPr marL="0" indent="0">
              <a:buNone/>
            </a:pPr>
            <a:endParaRPr lang="de-DE" sz="2400" dirty="0"/>
          </a:p>
          <a:p>
            <a:r>
              <a:rPr lang="de-DE" sz="2400" dirty="0" err="1"/>
              <a:t>train</a:t>
            </a:r>
            <a:r>
              <a:rPr lang="de-DE" sz="2400" dirty="0"/>
              <a:t> (</a:t>
            </a:r>
            <a:r>
              <a:rPr lang="de-DE" sz="2400" dirty="0" err="1"/>
              <a:t>finetune</a:t>
            </a:r>
            <a:r>
              <a:rPr lang="de-DE" sz="2400" dirty="0"/>
              <a:t>)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actual</a:t>
            </a:r>
            <a:r>
              <a:rPr lang="de-DE" sz="2400" dirty="0"/>
              <a:t> </a:t>
            </a:r>
            <a:r>
              <a:rPr lang="de-DE" sz="2400" dirty="0" err="1"/>
              <a:t>task</a:t>
            </a:r>
            <a:r>
              <a:rPr lang="de-DE" sz="2400" dirty="0"/>
              <a:t> at </a:t>
            </a:r>
            <a:r>
              <a:rPr lang="de-DE" sz="2400" dirty="0" err="1"/>
              <a:t>hand</a:t>
            </a:r>
            <a:r>
              <a:rPr lang="de-DE" sz="2400" dirty="0"/>
              <a:t> (</a:t>
            </a:r>
            <a:r>
              <a:rPr lang="de-DE" sz="2400" dirty="0" err="1"/>
              <a:t>starting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random</a:t>
            </a:r>
            <a:r>
              <a:rPr lang="de-DE" sz="2400" dirty="0"/>
              <a:t> </a:t>
            </a:r>
            <a:r>
              <a:rPr lang="de-DE" sz="2400" dirty="0" err="1"/>
              <a:t>weights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classification</a:t>
            </a:r>
            <a:r>
              <a:rPr lang="de-DE" sz="2400" dirty="0"/>
              <a:t> </a:t>
            </a:r>
            <a:r>
              <a:rPr lang="de-DE" sz="2400" dirty="0" err="1"/>
              <a:t>head</a:t>
            </a:r>
            <a:r>
              <a:rPr lang="de-DE" sz="2400" dirty="0"/>
              <a:t> and </a:t>
            </a:r>
            <a:r>
              <a:rPr lang="de-DE" sz="2400" dirty="0" err="1"/>
              <a:t>pretrained</a:t>
            </a:r>
            <a:r>
              <a:rPr lang="de-DE" sz="2400" dirty="0"/>
              <a:t> </a:t>
            </a:r>
            <a:r>
              <a:rPr lang="de-DE" sz="2400" dirty="0" err="1"/>
              <a:t>weights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rest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options</a:t>
            </a:r>
            <a:r>
              <a:rPr lang="de-DE" sz="2400" dirty="0"/>
              <a:t>: </a:t>
            </a:r>
            <a:r>
              <a:rPr lang="de-DE" sz="2400" dirty="0" err="1"/>
              <a:t>finetune</a:t>
            </a:r>
            <a:r>
              <a:rPr lang="de-DE" sz="2400" dirty="0"/>
              <a:t> all </a:t>
            </a:r>
            <a:r>
              <a:rPr lang="de-DE" sz="2400" dirty="0" err="1"/>
              <a:t>pretrained</a:t>
            </a:r>
            <a:r>
              <a:rPr lang="de-DE" sz="2400" dirty="0"/>
              <a:t> </a:t>
            </a:r>
            <a:r>
              <a:rPr lang="de-DE" sz="2400" dirty="0" err="1"/>
              <a:t>weights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a </a:t>
            </a:r>
            <a:r>
              <a:rPr lang="de-DE" sz="2400" dirty="0" err="1"/>
              <a:t>part</a:t>
            </a:r>
            <a:r>
              <a:rPr lang="de-DE" sz="2400" dirty="0"/>
              <a:t> (</a:t>
            </a:r>
            <a:r>
              <a:rPr lang="de-DE" sz="2400" dirty="0" err="1"/>
              <a:t>freezing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others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Sequence</a:t>
            </a:r>
            <a:r>
              <a:rPr lang="de-DE" dirty="0"/>
              <a:t>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0614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e.g., </a:t>
            </a:r>
            <a:r>
              <a:rPr lang="de-DE" dirty="0" err="1"/>
              <a:t>classify</a:t>
            </a:r>
            <a:r>
              <a:rPr lang="de-DE" dirty="0"/>
              <a:t> </a:t>
            </a:r>
            <a:r>
              <a:rPr lang="de-DE" dirty="0" err="1"/>
              <a:t>sentiment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topic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(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pretraining</a:t>
            </a:r>
            <a:r>
              <a:rPr lang="de-DE" dirty="0"/>
              <a:t>)</a:t>
            </a:r>
          </a:p>
          <a:p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(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(</a:t>
            </a:r>
            <a:r>
              <a:rPr lang="de-DE" dirty="0" err="1"/>
              <a:t>resulting</a:t>
            </a:r>
            <a:r>
              <a:rPr lang="de-DE" dirty="0"/>
              <a:t> in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different </a:t>
            </a:r>
            <a:r>
              <a:rPr lang="de-DE" dirty="0" err="1"/>
              <a:t>categories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[CLS]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summarize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(alternative </a:t>
            </a:r>
            <a:r>
              <a:rPr lang="de-DE" dirty="0" err="1"/>
              <a:t>without</a:t>
            </a:r>
            <a:r>
              <a:rPr lang="de-DE" dirty="0"/>
              <a:t> [CLS]: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DE6CC-D989-681F-3F1B-9A6B1C1668C9}"/>
              </a:ext>
            </a:extLst>
          </p:cNvPr>
          <p:cNvSpPr txBox="1"/>
          <p:nvPr/>
        </p:nvSpPr>
        <p:spPr>
          <a:xfrm>
            <a:off x="11529848" y="4801454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F9E0B6DB-3C84-35A6-82B8-D9AB3046C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4341" y="1721553"/>
            <a:ext cx="3847659" cy="307990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7F12BE46-DEB8-2E09-3F84-A0DF6D73CD8A}"/>
              </a:ext>
            </a:extLst>
          </p:cNvPr>
          <p:cNvSpPr txBox="1"/>
          <p:nvPr/>
        </p:nvSpPr>
        <p:spPr>
          <a:xfrm>
            <a:off x="8679250" y="5044039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sequence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47B0D5AB-CE09-9013-5B61-A91FD6481FC5}"/>
              </a:ext>
            </a:extLst>
          </p:cNvPr>
          <p:cNvCxnSpPr>
            <a:cxnSpLocks/>
          </p:cNvCxnSpPr>
          <p:nvPr/>
        </p:nvCxnSpPr>
        <p:spPr>
          <a:xfrm flipH="1" flipV="1">
            <a:off x="8679250" y="4480276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C6546-4641-EC83-4137-DEC098C59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Next-Sentence Prediction (NSP) in BERT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FCE0E8-4914-B4D2-347A-5E50BA5A3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/>
              <a:t>BERT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NSP as pretraining objective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(in </a:t>
            </a:r>
            <a:r>
              <a:rPr lang="de-DE" dirty="0" err="1"/>
              <a:t>addition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MLM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 total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MLM and NSP </a:t>
            </a:r>
            <a:r>
              <a:rPr lang="de-DE" dirty="0" err="1"/>
              <a:t>losses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help</a:t>
            </a:r>
            <a:r>
              <a:rPr lang="de-DE" dirty="0"/>
              <a:t> BERT </a:t>
            </a:r>
            <a:r>
              <a:rPr lang="de-DE" dirty="0" err="1"/>
              <a:t>learn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sentences</a:t>
            </a:r>
            <a:r>
              <a:rPr lang="de-DE" dirty="0"/>
              <a:t> (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dropped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: [CLS] </a:t>
            </a:r>
            <a:r>
              <a:rPr lang="de-DE" dirty="0" err="1"/>
              <a:t>Sentence</a:t>
            </a:r>
            <a:r>
              <a:rPr lang="de-DE" dirty="0"/>
              <a:t> A [SEP] </a:t>
            </a:r>
            <a:r>
              <a:rPr lang="de-DE" dirty="0" err="1"/>
              <a:t>Sentence</a:t>
            </a:r>
            <a:r>
              <a:rPr lang="de-DE" dirty="0"/>
              <a:t> B [SEP]</a:t>
            </a:r>
          </a:p>
          <a:p>
            <a:r>
              <a:rPr lang="de-DE" dirty="0"/>
              <a:t>[CLS]: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endParaRPr lang="de-DE" dirty="0"/>
          </a:p>
          <a:p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 </a:t>
            </a:r>
            <a:r>
              <a:rPr lang="de-DE" dirty="0" err="1"/>
              <a:t>fed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B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5A0DBA-23CF-678D-CCED-48B1CA8BF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8097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587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RoBERTa</a:t>
            </a:r>
            <a:r>
              <a:rPr lang="de-DE" sz="2600" b="1" dirty="0"/>
              <a:t>: </a:t>
            </a:r>
            <a:r>
              <a:rPr lang="de-DE" sz="2600" dirty="0" err="1"/>
              <a:t>improved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endParaRPr lang="de-DE" sz="2600" dirty="0"/>
          </a:p>
          <a:p>
            <a:r>
              <a:rPr lang="de-DE" sz="2200" dirty="0" err="1"/>
              <a:t>removed</a:t>
            </a:r>
            <a:r>
              <a:rPr lang="de-DE" sz="2200" dirty="0"/>
              <a:t> </a:t>
            </a:r>
            <a:r>
              <a:rPr lang="de-DE" sz="2200" dirty="0" err="1"/>
              <a:t>next</a:t>
            </a:r>
            <a:r>
              <a:rPr lang="de-DE" sz="2200" dirty="0"/>
              <a:t> </a:t>
            </a:r>
            <a:r>
              <a:rPr lang="de-DE" sz="2200" dirty="0" err="1"/>
              <a:t>sentence</a:t>
            </a:r>
            <a:r>
              <a:rPr lang="de-DE" sz="2200" dirty="0"/>
              <a:t> </a:t>
            </a:r>
            <a:r>
              <a:rPr lang="de-DE" sz="2200" dirty="0" err="1"/>
              <a:t>prediction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pretraining</a:t>
            </a:r>
            <a:r>
              <a:rPr lang="de-DE" sz="2200" dirty="0"/>
              <a:t> </a:t>
            </a:r>
            <a:r>
              <a:rPr lang="de-DE" sz="2200" dirty="0" err="1"/>
              <a:t>objective</a:t>
            </a:r>
            <a:endParaRPr lang="de-DE" sz="2200" dirty="0"/>
          </a:p>
          <a:p>
            <a:r>
              <a:rPr lang="de-DE" sz="2200" dirty="0"/>
              <a:t>~</a:t>
            </a:r>
            <a:r>
              <a:rPr lang="de-DE" sz="2200" dirty="0" err="1"/>
              <a:t>ten</a:t>
            </a:r>
            <a:r>
              <a:rPr lang="de-DE" sz="2200" dirty="0"/>
              <a:t> </a:t>
            </a:r>
            <a:r>
              <a:rPr lang="de-DE" sz="2200" dirty="0" err="1"/>
              <a:t>times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, </a:t>
            </a:r>
            <a:r>
              <a:rPr lang="de-DE" sz="2200" dirty="0" err="1"/>
              <a:t>longer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, larger </a:t>
            </a:r>
            <a:r>
              <a:rPr lang="de-DE" sz="2200" dirty="0" err="1"/>
              <a:t>batches</a:t>
            </a:r>
            <a:r>
              <a:rPr lang="de-DE" sz="2200" dirty="0"/>
              <a:t>, </a:t>
            </a:r>
            <a:r>
              <a:rPr lang="de-DE" sz="2200" dirty="0" err="1"/>
              <a:t>longer</a:t>
            </a:r>
            <a:r>
              <a:rPr lang="de-DE" sz="2200" dirty="0"/>
              <a:t> </a:t>
            </a:r>
            <a:r>
              <a:rPr lang="de-DE" sz="2200" dirty="0" err="1"/>
              <a:t>sequences</a:t>
            </a:r>
            <a:endParaRPr lang="de-DE" sz="2200" dirty="0"/>
          </a:p>
          <a:p>
            <a:r>
              <a:rPr lang="de-DE" sz="2200" dirty="0" err="1"/>
              <a:t>dynamic</a:t>
            </a:r>
            <a:r>
              <a:rPr lang="de-DE" sz="2200" dirty="0"/>
              <a:t> </a:t>
            </a:r>
            <a:r>
              <a:rPr lang="de-DE" sz="2200" dirty="0" err="1"/>
              <a:t>masking</a:t>
            </a:r>
            <a:r>
              <a:rPr lang="de-DE" sz="2200" dirty="0"/>
              <a:t>: </a:t>
            </a:r>
            <a:r>
              <a:rPr lang="de-DE" sz="2200" dirty="0" err="1"/>
              <a:t>instead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fixed</a:t>
            </a:r>
            <a:r>
              <a:rPr lang="de-DE" sz="2200" dirty="0"/>
              <a:t> </a:t>
            </a:r>
            <a:r>
              <a:rPr lang="de-DE" sz="2200" dirty="0" err="1"/>
              <a:t>masked</a:t>
            </a:r>
            <a:r>
              <a:rPr lang="de-DE" sz="2200" dirty="0"/>
              <a:t> </a:t>
            </a:r>
            <a:r>
              <a:rPr lang="de-DE" sz="2200" dirty="0" err="1"/>
              <a:t>tokens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sequence</a:t>
            </a:r>
            <a:r>
              <a:rPr lang="de-DE" sz="2200" dirty="0"/>
              <a:t>, </a:t>
            </a:r>
            <a:r>
              <a:rPr lang="de-DE" sz="2200" dirty="0" err="1"/>
              <a:t>masks</a:t>
            </a:r>
            <a:r>
              <a:rPr lang="de-DE" sz="2200" dirty="0"/>
              <a:t> </a:t>
            </a:r>
            <a:r>
              <a:rPr lang="de-DE" sz="2200" dirty="0" err="1"/>
              <a:t>change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epoch</a:t>
            </a:r>
            <a:endParaRPr lang="de-DE" sz="22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600" dirty="0" err="1">
                <a:hlinkClick r:id="rId3"/>
              </a:rPr>
              <a:t>DistilBERT</a:t>
            </a:r>
            <a:r>
              <a:rPr lang="de-DE" sz="2600" dirty="0"/>
              <a:t>: </a:t>
            </a:r>
            <a:r>
              <a:rPr lang="de-DE" sz="2600" dirty="0" err="1"/>
              <a:t>much</a:t>
            </a:r>
            <a:r>
              <a:rPr lang="de-DE" sz="2600" dirty="0"/>
              <a:t> </a:t>
            </a:r>
            <a:r>
              <a:rPr lang="de-DE" sz="2600" dirty="0" err="1"/>
              <a:t>lighter</a:t>
            </a:r>
            <a:r>
              <a:rPr lang="de-DE" sz="2600" dirty="0"/>
              <a:t> and </a:t>
            </a:r>
            <a:r>
              <a:rPr lang="de-DE" sz="2600" dirty="0" err="1"/>
              <a:t>faster</a:t>
            </a:r>
            <a:r>
              <a:rPr lang="de-DE" sz="2600" dirty="0"/>
              <a:t>, </a:t>
            </a:r>
            <a:r>
              <a:rPr lang="de-DE" sz="2600" dirty="0" err="1"/>
              <a:t>retaining</a:t>
            </a:r>
            <a:r>
              <a:rPr lang="de-DE" sz="2600" dirty="0"/>
              <a:t> ~95%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BERT’s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endParaRPr lang="de-DE" sz="2600" dirty="0"/>
          </a:p>
          <a:p>
            <a:r>
              <a:rPr lang="de-DE" sz="2200" dirty="0"/>
              <a:t>a </a:t>
            </a:r>
            <a:r>
              <a:rPr lang="de-DE" sz="2200" dirty="0" err="1"/>
              <a:t>smaller</a:t>
            </a:r>
            <a:r>
              <a:rPr lang="de-DE" sz="2200" dirty="0"/>
              <a:t> “</a:t>
            </a:r>
            <a:r>
              <a:rPr lang="de-DE" sz="2200" dirty="0" err="1"/>
              <a:t>student</a:t>
            </a:r>
            <a:r>
              <a:rPr lang="de-DE" sz="2200" dirty="0"/>
              <a:t>”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trained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mimic</a:t>
            </a:r>
            <a:r>
              <a:rPr lang="de-DE" sz="2200" dirty="0"/>
              <a:t> </a:t>
            </a:r>
            <a:r>
              <a:rPr lang="de-DE" sz="2200" dirty="0" err="1"/>
              <a:t>BERT’s</a:t>
            </a:r>
            <a:r>
              <a:rPr lang="de-DE" sz="2200" dirty="0"/>
              <a:t> </a:t>
            </a:r>
            <a:r>
              <a:rPr lang="de-DE" sz="2200" dirty="0" err="1"/>
              <a:t>predictions</a:t>
            </a:r>
            <a:endParaRPr lang="de-DE" sz="2200" dirty="0"/>
          </a:p>
          <a:p>
            <a:r>
              <a:rPr lang="de-DE" sz="2200" dirty="0"/>
              <a:t>40% </a:t>
            </a:r>
            <a:r>
              <a:rPr lang="de-DE" sz="2200" dirty="0" err="1"/>
              <a:t>fewer</a:t>
            </a:r>
            <a:r>
              <a:rPr lang="de-DE" sz="2200" dirty="0"/>
              <a:t> </a:t>
            </a:r>
            <a:r>
              <a:rPr lang="de-DE" sz="2200" dirty="0" err="1"/>
              <a:t>parameters</a:t>
            </a:r>
            <a:r>
              <a:rPr lang="de-DE" sz="2200" dirty="0"/>
              <a:t> </a:t>
            </a:r>
            <a:r>
              <a:rPr lang="de-DE" sz="2200" dirty="0" err="1"/>
              <a:t>than</a:t>
            </a:r>
            <a:r>
              <a:rPr lang="de-DE" sz="2200" dirty="0"/>
              <a:t> BERT, 60%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inference</a:t>
            </a:r>
            <a:r>
              <a:rPr lang="de-DE" sz="2200" dirty="0"/>
              <a:t>, </a:t>
            </a:r>
            <a:r>
              <a:rPr lang="de-DE" sz="2200" dirty="0" err="1"/>
              <a:t>using</a:t>
            </a:r>
            <a:r>
              <a:rPr lang="de-DE" sz="2200" dirty="0"/>
              <a:t> half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memory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u</a:t>
            </a:r>
            <a:r>
              <a:rPr lang="de-DE" dirty="0" err="1"/>
              <a:t>se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: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/ </a:t>
            </a:r>
            <a:r>
              <a:rPr lang="de-DE" dirty="0" err="1"/>
              <a:t>retrieval</a:t>
            </a:r>
            <a:r>
              <a:rPr lang="de-DE" dirty="0"/>
              <a:t> (</a:t>
            </a:r>
            <a:r>
              <a:rPr lang="de-DE" dirty="0" err="1"/>
              <a:t>see</a:t>
            </a:r>
            <a:r>
              <a:rPr lang="de-DE" dirty="0"/>
              <a:t> RAG)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BERT </a:t>
            </a:r>
            <a:r>
              <a:rPr lang="de-DE" dirty="0" err="1"/>
              <a:t>optimized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NSP, not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mapping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</a:t>
            </a:r>
            <a:r>
              <a:rPr lang="de-DE" dirty="0" err="1"/>
              <a:t>sentences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comparable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/>
              <a:t>finetune</a:t>
            </a:r>
            <a:r>
              <a:rPr lang="de-DE" dirty="0"/>
              <a:t> on </a:t>
            </a:r>
            <a:r>
              <a:rPr lang="de-DE" dirty="0" err="1"/>
              <a:t>considered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label</a:t>
            </a:r>
            <a:endParaRPr lang="de-DE" dirty="0"/>
          </a:p>
          <a:p>
            <a:r>
              <a:rPr lang="de-DE" dirty="0" err="1"/>
              <a:t>paraphrase</a:t>
            </a:r>
            <a:r>
              <a:rPr lang="de-DE" dirty="0"/>
              <a:t> (</a:t>
            </a:r>
            <a:r>
              <a:rPr lang="de-DE" dirty="0" err="1"/>
              <a:t>yes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)</a:t>
            </a:r>
          </a:p>
          <a:p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inference</a:t>
            </a:r>
            <a:r>
              <a:rPr lang="de-DE" dirty="0"/>
              <a:t> (</a:t>
            </a:r>
            <a:r>
              <a:rPr lang="de-DE" dirty="0" err="1"/>
              <a:t>entailment</a:t>
            </a:r>
            <a:r>
              <a:rPr lang="de-DE" dirty="0"/>
              <a:t>/</a:t>
            </a:r>
            <a:r>
              <a:rPr lang="de-DE" dirty="0" err="1"/>
              <a:t>contradiction</a:t>
            </a:r>
            <a:r>
              <a:rPr lang="de-DE" dirty="0"/>
              <a:t>/neutral)</a:t>
            </a:r>
          </a:p>
          <a:p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(human-</a:t>
            </a:r>
            <a:r>
              <a:rPr lang="de-DE" dirty="0" err="1"/>
              <a:t>judged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score)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regression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loss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approach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vanilla</a:t>
            </a:r>
            <a:r>
              <a:rPr lang="de-DE" dirty="0"/>
              <a:t> BERT:</a:t>
            </a:r>
          </a:p>
          <a:p>
            <a:r>
              <a:rPr lang="de-DE" dirty="0" err="1"/>
              <a:t>input</a:t>
            </a:r>
            <a:r>
              <a:rPr lang="de-DE" dirty="0"/>
              <a:t>: [CLS] </a:t>
            </a:r>
            <a:r>
              <a:rPr lang="de-DE" dirty="0" err="1"/>
              <a:t>Sentence</a:t>
            </a:r>
            <a:r>
              <a:rPr lang="de-DE" dirty="0"/>
              <a:t> A [SEP] </a:t>
            </a:r>
            <a:r>
              <a:rPr lang="de-DE" dirty="0" err="1"/>
              <a:t>Sentence</a:t>
            </a:r>
            <a:r>
              <a:rPr lang="de-DE" dirty="0"/>
              <a:t> B [SEP]</a:t>
            </a:r>
          </a:p>
          <a:p>
            <a:r>
              <a:rPr lang="de-DE" dirty="0"/>
              <a:t>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aggregate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pair</a:t>
            </a:r>
          </a:p>
          <a:p>
            <a:r>
              <a:rPr lang="de-DE" dirty="0" err="1"/>
              <a:t>classifier</a:t>
            </a:r>
            <a:r>
              <a:rPr lang="de-DE" dirty="0"/>
              <a:t>/</a:t>
            </a:r>
            <a:r>
              <a:rPr lang="de-DE" dirty="0" err="1"/>
              <a:t>regressor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on </a:t>
            </a:r>
            <a:r>
              <a:rPr lang="de-DE" dirty="0" err="1"/>
              <a:t>considered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label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ABA8C-04E5-57D1-83E1-21B89115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SBERT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F9E7CE-33BA-42A3-94C8-622BCC7C7F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</a:t>
                </a:r>
                <a:r>
                  <a:rPr lang="de-DE" dirty="0" err="1"/>
                  <a:t>ssue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vanilla</a:t>
                </a:r>
                <a:r>
                  <a:rPr lang="de-DE" dirty="0"/>
                  <a:t> BERT:</a:t>
                </a:r>
              </a:p>
              <a:p>
                <a:pPr marL="0" indent="0">
                  <a:buNone/>
                </a:pP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 score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pair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sentences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processed</a:t>
                </a:r>
                <a:r>
                  <a:rPr lang="de-DE" dirty="0"/>
                  <a:t> </a:t>
                </a:r>
                <a:r>
                  <a:rPr lang="de-DE" dirty="0" err="1"/>
                  <a:t>together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sentence</a:t>
                </a:r>
                <a:r>
                  <a:rPr lang="de-DE" dirty="0"/>
                  <a:t> </a:t>
                </a:r>
                <a:r>
                  <a:rPr lang="de-DE" dirty="0" err="1"/>
                  <a:t>embeddings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𝑂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de-DE" dirty="0"/>
                  <a:t> for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de-DE" dirty="0"/>
                  <a:t> sentences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SBERT: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finetuning</a:t>
                </a:r>
                <a:r>
                  <a:rPr lang="de-DE" dirty="0"/>
                  <a:t> </a:t>
                </a:r>
                <a:r>
                  <a:rPr lang="de-DE" dirty="0" err="1"/>
                  <a:t>vanilla</a:t>
                </a:r>
                <a:r>
                  <a:rPr lang="de-DE" dirty="0"/>
                  <a:t> BERT,</a:t>
                </a:r>
              </a:p>
              <a:p>
                <a:r>
                  <a:rPr lang="de-DE" dirty="0" err="1"/>
                  <a:t>uses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) </a:t>
                </a:r>
                <a:r>
                  <a:rPr lang="de-DE" dirty="0" err="1"/>
                  <a:t>copies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same BERT </a:t>
                </a:r>
                <a:r>
                  <a:rPr lang="de-DE" dirty="0" err="1"/>
                  <a:t>model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shared</a:t>
                </a:r>
                <a:r>
                  <a:rPr lang="de-DE" dirty="0"/>
                  <a:t> </a:t>
                </a:r>
                <a:r>
                  <a:rPr lang="de-DE" dirty="0" err="1"/>
                  <a:t>weights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passes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sentence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copies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produce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embedding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last </a:t>
                </a:r>
                <a:r>
                  <a:rPr lang="de-DE" dirty="0" err="1"/>
                  <a:t>hidden</a:t>
                </a:r>
                <a:r>
                  <a:rPr lang="de-DE" dirty="0"/>
                  <a:t> </a:t>
                </a:r>
                <a:r>
                  <a:rPr lang="de-DE" dirty="0" err="1"/>
                  <a:t>states</a:t>
                </a:r>
                <a:r>
                  <a:rPr lang="de-DE" dirty="0"/>
                  <a:t> (</a:t>
                </a:r>
                <a:r>
                  <a:rPr lang="de-DE" dirty="0" err="1"/>
                  <a:t>use</a:t>
                </a:r>
                <a:r>
                  <a:rPr lang="de-DE" dirty="0"/>
                  <a:t> [CLS] </a:t>
                </a:r>
                <a:r>
                  <a:rPr lang="de-DE" dirty="0" err="1"/>
                  <a:t>token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pooling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puts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head</a:t>
                </a:r>
                <a:r>
                  <a:rPr lang="de-DE" dirty="0"/>
                  <a:t> on top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copies</a:t>
                </a:r>
                <a:r>
                  <a:rPr lang="de-DE" dirty="0"/>
                  <a:t>, </a:t>
                </a:r>
                <a:r>
                  <a:rPr lang="de-DE" dirty="0" err="1"/>
                  <a:t>optimizing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similarity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label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dirty="0"/>
                  <a:t> of sentence </a:t>
                </a:r>
                <a:r>
                  <a:rPr lang="de-DE" dirty="0" err="1"/>
                  <a:t>embeddings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different SBERT </a:t>
                </a:r>
                <a:r>
                  <a:rPr lang="de-DE" dirty="0" err="1">
                    <a:sym typeface="Wingdings" pitchFamily="2" charset="2"/>
                  </a:rPr>
                  <a:t>versions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different </a:t>
                </a:r>
                <a:r>
                  <a:rPr lang="de-DE" dirty="0" err="1">
                    <a:sym typeface="Wingdings" pitchFamily="2" charset="2"/>
                  </a:rPr>
                  <a:t>similarity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tasks</a:t>
                </a:r>
                <a:r>
                  <a:rPr lang="de-DE" dirty="0">
                    <a:sym typeface="Wingdings" pitchFamily="2" charset="2"/>
                  </a:rPr>
                  <a:t>/</a:t>
                </a:r>
                <a:r>
                  <a:rPr lang="de-DE" dirty="0" err="1">
                    <a:sym typeface="Wingdings" pitchFamily="2" charset="2"/>
                  </a:rPr>
                  <a:t>labels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dot</a:t>
                </a:r>
                <a:r>
                  <a:rPr lang="de-DE" dirty="0"/>
                  <a:t> </a:t>
                </a:r>
                <a:r>
                  <a:rPr lang="de-DE" dirty="0" err="1"/>
                  <a:t>product</a:t>
                </a:r>
                <a:r>
                  <a:rPr lang="de-DE" dirty="0"/>
                  <a:t>)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then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compare</a:t>
                </a:r>
                <a:r>
                  <a:rPr lang="de-DE" dirty="0"/>
                  <a:t> 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sentence</a:t>
                </a:r>
                <a:r>
                  <a:rPr lang="de-DE" dirty="0"/>
                  <a:t> </a:t>
                </a:r>
                <a:r>
                  <a:rPr lang="de-DE" dirty="0" err="1"/>
                  <a:t>embeddings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F9E7CE-33BA-42A3-94C8-622BCC7C7F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A0054E-C2AA-B7B3-E1F3-6DCD15CE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77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Token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cases</a:t>
            </a:r>
            <a:r>
              <a:rPr lang="de-DE" dirty="0"/>
              <a:t>:</a:t>
            </a:r>
          </a:p>
          <a:p>
            <a:r>
              <a:rPr lang="de-DE" dirty="0" err="1"/>
              <a:t>part-of-speech</a:t>
            </a:r>
            <a:r>
              <a:rPr lang="de-DE" dirty="0"/>
              <a:t> </a:t>
            </a:r>
            <a:r>
              <a:rPr lang="de-DE" dirty="0" err="1"/>
              <a:t>tagging</a:t>
            </a:r>
            <a:r>
              <a:rPr lang="de-DE" dirty="0"/>
              <a:t>: </a:t>
            </a:r>
            <a:r>
              <a:rPr lang="de-DE" dirty="0" err="1"/>
              <a:t>assigning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word</a:t>
            </a:r>
            <a:r>
              <a:rPr lang="de-DE" dirty="0"/>
              <a:t> in a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grammatical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speech</a:t>
            </a:r>
            <a:r>
              <a:rPr lang="de-DE" dirty="0"/>
              <a:t>)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noun</a:t>
            </a:r>
            <a:r>
              <a:rPr lang="de-DE" dirty="0"/>
              <a:t>, </a:t>
            </a:r>
            <a:r>
              <a:rPr lang="de-DE" dirty="0" err="1"/>
              <a:t>verb</a:t>
            </a:r>
            <a:r>
              <a:rPr lang="de-DE" dirty="0"/>
              <a:t>, etc.</a:t>
            </a:r>
          </a:p>
          <a:p>
            <a:r>
              <a:rPr lang="de-DE" dirty="0" err="1"/>
              <a:t>named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identifying</a:t>
            </a:r>
            <a:r>
              <a:rPr lang="de-DE" dirty="0"/>
              <a:t> and </a:t>
            </a:r>
            <a:r>
              <a:rPr lang="de-DE" dirty="0" err="1"/>
              <a:t>classifying</a:t>
            </a:r>
            <a:r>
              <a:rPr lang="de-DE" dirty="0"/>
              <a:t> </a:t>
            </a:r>
            <a:r>
              <a:rPr lang="de-DE" dirty="0" err="1"/>
              <a:t>named</a:t>
            </a:r>
            <a:r>
              <a:rPr lang="de-DE" dirty="0"/>
              <a:t> </a:t>
            </a:r>
            <a:r>
              <a:rPr lang="de-DE" dirty="0" err="1"/>
              <a:t>entities</a:t>
            </a:r>
            <a:r>
              <a:rPr lang="de-DE" dirty="0"/>
              <a:t> (proper </a:t>
            </a:r>
            <a:r>
              <a:rPr lang="de-DE" dirty="0" err="1"/>
              <a:t>nouns</a:t>
            </a:r>
            <a:r>
              <a:rPr lang="de-DE" dirty="0"/>
              <a:t>) in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categories</a:t>
            </a:r>
            <a:r>
              <a:rPr lang="de-DE" dirty="0"/>
              <a:t> like Person, </a:t>
            </a:r>
            <a:r>
              <a:rPr lang="de-DE" dirty="0" err="1"/>
              <a:t>Organization</a:t>
            </a:r>
            <a:r>
              <a:rPr lang="de-DE" dirty="0"/>
              <a:t>, Location, Date, etc.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per-token </a:t>
            </a:r>
            <a:r>
              <a:rPr lang="de-DE" dirty="0" err="1"/>
              <a:t>predictions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[CLS] </a:t>
            </a:r>
            <a:r>
              <a:rPr lang="de-DE" dirty="0" err="1"/>
              <a:t>usage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, just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and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per-token </a:t>
            </a:r>
            <a:r>
              <a:rPr lang="de-DE" dirty="0" err="1"/>
              <a:t>losses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sequence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dirty="0"/>
              <a:t>features more generic in early layers (</a:t>
            </a:r>
            <a:r>
              <a:rPr lang="de-DE" dirty="0"/>
              <a:t>e.g.,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, </a:t>
            </a:r>
            <a:r>
              <a:rPr lang="de-DE" dirty="0" err="1"/>
              <a:t>syntax</a:t>
            </a:r>
            <a:r>
              <a:rPr lang="de-DE" dirty="0"/>
              <a:t>, </a:t>
            </a:r>
            <a:r>
              <a:rPr lang="de-DE" dirty="0" err="1"/>
              <a:t>part-of-speech</a:t>
            </a:r>
            <a:r>
              <a:rPr lang="en-GB" dirty="0"/>
              <a:t>) and more specific to the pretraining data in later layers (</a:t>
            </a:r>
            <a:r>
              <a:rPr lang="de-DE" dirty="0"/>
              <a:t>e.g., </a:t>
            </a:r>
            <a:r>
              <a:rPr lang="de-DE" dirty="0" err="1"/>
              <a:t>word</a:t>
            </a:r>
            <a:r>
              <a:rPr lang="de-DE" dirty="0"/>
              <a:t> sense,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linking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for small finetuning data sets, typically keep weights of early layers fixed to avoid overfitting</a:t>
            </a:r>
          </a:p>
          <a:p>
            <a:pPr>
              <a:buFont typeface="Wingdings" pitchFamily="2" charset="2"/>
              <a:buChar char="à"/>
            </a:pPr>
            <a:r>
              <a:rPr lang="en-GB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645EC58E-1019-4821-59B4-37EB5C8B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88" y="2249598"/>
            <a:ext cx="10926223" cy="3547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10914599" y="5261459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E13C122-BD7A-796A-CE89-56685E0CFC56}"/>
              </a:ext>
            </a:extLst>
          </p:cNvPr>
          <p:cNvCxnSpPr>
            <a:cxnSpLocks/>
          </p:cNvCxnSpPr>
          <p:nvPr/>
        </p:nvCxnSpPr>
        <p:spPr>
          <a:xfrm>
            <a:off x="4895385" y="2451197"/>
            <a:ext cx="4471639" cy="45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906DD6F5-A455-9647-E441-DA5050856D71}"/>
              </a:ext>
            </a:extLst>
          </p:cNvPr>
          <p:cNvSpPr txBox="1"/>
          <p:nvPr/>
        </p:nvSpPr>
        <p:spPr>
          <a:xfrm>
            <a:off x="6368218" y="297862"/>
            <a:ext cx="553013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tuning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a form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supervised</a:t>
            </a:r>
            <a:r>
              <a:rPr lang="de-DE" sz="2400" dirty="0"/>
              <a:t> </a:t>
            </a:r>
            <a:r>
              <a:rPr lang="de-DE" sz="2400" dirty="0" err="1"/>
              <a:t>finetuning</a:t>
            </a:r>
            <a:r>
              <a:rPr lang="de-DE" sz="2400" dirty="0"/>
              <a:t> (SFT)</a:t>
            </a:r>
          </a:p>
          <a:p>
            <a:endParaRPr lang="de-DE" sz="2400" dirty="0"/>
          </a:p>
          <a:p>
            <a:r>
              <a:rPr lang="de-DE" sz="2400" dirty="0"/>
              <a:t>so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finetuning</a:t>
            </a:r>
            <a:r>
              <a:rPr lang="de-DE" sz="2400" dirty="0"/>
              <a:t> </a:t>
            </a:r>
            <a:r>
              <a:rPr lang="de-DE" sz="2400" dirty="0" err="1"/>
              <a:t>discussed</a:t>
            </a:r>
            <a:r>
              <a:rPr lang="de-DE" sz="2400" dirty="0"/>
              <a:t> </a:t>
            </a:r>
            <a:r>
              <a:rPr lang="de-DE" sz="2400" dirty="0" err="1"/>
              <a:t>before</a:t>
            </a:r>
            <a:r>
              <a:rPr lang="de-DE" sz="2400" dirty="0"/>
              <a:t> (</a:t>
            </a:r>
            <a:r>
              <a:rPr lang="de-DE" sz="2400" dirty="0" err="1"/>
              <a:t>although</a:t>
            </a:r>
            <a:r>
              <a:rPr lang="de-DE" sz="2400" dirty="0"/>
              <a:t> </a:t>
            </a:r>
            <a:r>
              <a:rPr lang="de-DE" sz="2400" dirty="0" err="1"/>
              <a:t>usually</a:t>
            </a:r>
            <a:r>
              <a:rPr lang="de-DE" sz="2400" dirty="0"/>
              <a:t> just </a:t>
            </a:r>
            <a:r>
              <a:rPr lang="de-DE" sz="2400" dirty="0" err="1"/>
              <a:t>called</a:t>
            </a:r>
            <a:r>
              <a:rPr lang="de-DE" sz="2400" dirty="0"/>
              <a:t> </a:t>
            </a:r>
            <a:r>
              <a:rPr lang="de-DE" sz="2400" dirty="0" err="1"/>
              <a:t>finetuning</a:t>
            </a:r>
            <a:r>
              <a:rPr lang="de-DE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783D56EB-7778-E959-F5B7-6EC18316DEB5}"/>
              </a:ext>
            </a:extLst>
          </p:cNvPr>
          <p:cNvSpPr/>
          <p:nvPr/>
        </p:nvSpPr>
        <p:spPr>
          <a:xfrm>
            <a:off x="827049" y="2497322"/>
            <a:ext cx="11026698" cy="88707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473"/>
            <a:ext cx="11026698" cy="47728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tuning</a:t>
            </a:r>
            <a:r>
              <a:rPr lang="de-DE" sz="2400" dirty="0"/>
              <a:t> = </a:t>
            </a:r>
            <a:r>
              <a:rPr lang="en-GB" sz="2400" dirty="0">
                <a:hlinkClick r:id="rId2"/>
              </a:rPr>
              <a:t>SFT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–</a:t>
            </a:r>
            <a:r>
              <a:rPr lang="de-DE" sz="2400" dirty="0" err="1"/>
              <a:t>response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Instruction</a:t>
            </a:r>
            <a:r>
              <a:rPr lang="de-DE" sz="2400" dirty="0"/>
              <a:t>: "</a:t>
            </a:r>
            <a:r>
              <a:rPr lang="de-DE" sz="2400" dirty="0" err="1"/>
              <a:t>Summarize</a:t>
            </a:r>
            <a:r>
              <a:rPr lang="de-DE" sz="2400" dirty="0"/>
              <a:t> </a:t>
            </a:r>
            <a:r>
              <a:rPr lang="de-DE" sz="2400" dirty="0" err="1"/>
              <a:t>this</a:t>
            </a:r>
            <a:r>
              <a:rPr lang="de-DE" sz="2400" dirty="0"/>
              <a:t> </a:t>
            </a:r>
            <a:r>
              <a:rPr lang="de-DE" sz="2400" dirty="0" err="1"/>
              <a:t>article</a:t>
            </a:r>
            <a:r>
              <a:rPr lang="de-DE" sz="2400" dirty="0"/>
              <a:t> in </a:t>
            </a:r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sentence</a:t>
            </a:r>
            <a:r>
              <a:rPr lang="de-DE" sz="2400" dirty="0"/>
              <a:t>."</a:t>
            </a:r>
          </a:p>
          <a:p>
            <a:pPr marL="0" indent="0">
              <a:buNone/>
            </a:pPr>
            <a:r>
              <a:rPr lang="de-DE" sz="2400" dirty="0"/>
              <a:t>Output: "The </a:t>
            </a:r>
            <a:r>
              <a:rPr lang="de-DE" sz="2400" dirty="0" err="1"/>
              <a:t>article</a:t>
            </a:r>
            <a:r>
              <a:rPr lang="de-DE" sz="2400" dirty="0"/>
              <a:t> </a:t>
            </a:r>
            <a:r>
              <a:rPr lang="de-DE" sz="2400" dirty="0" err="1"/>
              <a:t>discusses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effects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climate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on polar </a:t>
            </a:r>
            <a:r>
              <a:rPr lang="de-DE" sz="2400" dirty="0" err="1"/>
              <a:t>bears</a:t>
            </a:r>
            <a:r>
              <a:rPr lang="de-DE" sz="2400" dirty="0"/>
              <a:t>."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tuning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fed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r>
              <a:rPr lang="de-DE" sz="2400" dirty="0"/>
              <a:t>, just like in </a:t>
            </a:r>
            <a:r>
              <a:rPr lang="de-DE" sz="2400" dirty="0" err="1"/>
              <a:t>pretraining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objective</a:t>
            </a:r>
            <a:r>
              <a:rPr lang="de-DE" sz="2400" dirty="0"/>
              <a:t> still </a:t>
            </a:r>
            <a:r>
              <a:rPr lang="de-DE" sz="2400" dirty="0" err="1"/>
              <a:t>next</a:t>
            </a:r>
            <a:r>
              <a:rPr lang="de-DE" sz="2400" dirty="0"/>
              <a:t>-token </a:t>
            </a:r>
            <a:r>
              <a:rPr lang="de-DE" sz="2400" dirty="0" err="1"/>
              <a:t>prediction</a:t>
            </a:r>
            <a:r>
              <a:rPr lang="de-DE" sz="2400" dirty="0"/>
              <a:t> (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modeling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 err="1"/>
              <a:t>structure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thing</a:t>
            </a:r>
            <a:r>
              <a:rPr lang="de-DE" sz="2400" dirty="0"/>
              <a:t> </a:t>
            </a:r>
            <a:r>
              <a:rPr lang="de-DE" sz="2400" dirty="0" err="1"/>
              <a:t>telling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where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ends</a:t>
            </a:r>
            <a:r>
              <a:rPr lang="de-DE" sz="2400" dirty="0"/>
              <a:t> and </a:t>
            </a:r>
            <a:r>
              <a:rPr lang="de-DE" sz="2400" dirty="0" err="1"/>
              <a:t>response</a:t>
            </a:r>
            <a:r>
              <a:rPr lang="de-DE" sz="2400" dirty="0"/>
              <a:t> </a:t>
            </a:r>
            <a:r>
              <a:rPr lang="de-DE" sz="2400" dirty="0" err="1"/>
              <a:t>begins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also </a:t>
            </a:r>
            <a:r>
              <a:rPr lang="de-DE" sz="2400" dirty="0" err="1"/>
              <a:t>learns</a:t>
            </a:r>
            <a:r>
              <a:rPr lang="de-DE" sz="2400" dirty="0"/>
              <a:t> </a:t>
            </a:r>
            <a:r>
              <a:rPr lang="de-DE" sz="2400" dirty="0" err="1"/>
              <a:t>formatting</a:t>
            </a:r>
            <a:r>
              <a:rPr lang="de-DE" sz="2400" dirty="0"/>
              <a:t>: </a:t>
            </a:r>
            <a:r>
              <a:rPr lang="de-DE" sz="2400" dirty="0" err="1"/>
              <a:t>desired</a:t>
            </a:r>
            <a:r>
              <a:rPr lang="de-DE" sz="2400" dirty="0"/>
              <a:t> </a:t>
            </a:r>
            <a:r>
              <a:rPr lang="de-DE" sz="2400" dirty="0" err="1"/>
              <a:t>patterns</a:t>
            </a:r>
            <a:r>
              <a:rPr lang="de-DE" sz="2400" dirty="0"/>
              <a:t> </a:t>
            </a:r>
            <a:r>
              <a:rPr lang="de-DE" sz="2400" dirty="0" err="1"/>
              <a:t>embedded</a:t>
            </a:r>
            <a:r>
              <a:rPr lang="de-DE" sz="2400" dirty="0"/>
              <a:t> in </a:t>
            </a:r>
            <a:r>
              <a:rPr lang="de-DE" sz="2400" dirty="0" err="1"/>
              <a:t>instruction</a:t>
            </a:r>
            <a:r>
              <a:rPr lang="de-DE" sz="2400" dirty="0"/>
              <a:t>–</a:t>
            </a:r>
            <a:r>
              <a:rPr lang="de-DE" sz="2400" dirty="0" err="1"/>
              <a:t>response</a:t>
            </a:r>
            <a:r>
              <a:rPr lang="de-DE" sz="2400" dirty="0"/>
              <a:t> </a:t>
            </a:r>
            <a:r>
              <a:rPr lang="de-DE" sz="2400" dirty="0" err="1"/>
              <a:t>pairs</a:t>
            </a:r>
            <a:endParaRPr lang="de-DE" sz="24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 Data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364B65AF-59AC-3321-A194-3967916022E2}"/>
              </a:ext>
            </a:extLst>
          </p:cNvPr>
          <p:cNvSpPr/>
          <p:nvPr/>
        </p:nvSpPr>
        <p:spPr>
          <a:xfrm>
            <a:off x="1222916" y="1872853"/>
            <a:ext cx="9746166" cy="4616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93EB7987-5C07-AA5B-0E35-4187A7C3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LLM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3FFF4-FE88-859D-E0D9-7EB4001AD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C7DF800-35F2-5E5E-5B7B-3C734160D2ED}"/>
              </a:ext>
            </a:extLst>
          </p:cNvPr>
          <p:cNvSpPr txBox="1"/>
          <p:nvPr/>
        </p:nvSpPr>
        <p:spPr>
          <a:xfrm>
            <a:off x="1222917" y="1872854"/>
            <a:ext cx="97461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Explain</a:t>
            </a:r>
            <a:r>
              <a:rPr lang="de-DE" sz="2400" dirty="0"/>
              <a:t> </a:t>
            </a:r>
            <a:r>
              <a:rPr lang="de-DE" sz="2400" dirty="0" err="1"/>
              <a:t>why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sky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blue</a:t>
            </a:r>
            <a:r>
              <a:rPr lang="de-DE" sz="2400" dirty="0"/>
              <a:t>,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talking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a </a:t>
            </a:r>
            <a:r>
              <a:rPr lang="de-DE" sz="2400" dirty="0" err="1"/>
              <a:t>curious</a:t>
            </a:r>
            <a:r>
              <a:rPr lang="de-DE" sz="2400" dirty="0"/>
              <a:t> 10-year-old.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0BC82B-A30D-F328-0DB8-F2E2DD546967}"/>
              </a:ext>
            </a:extLst>
          </p:cNvPr>
          <p:cNvSpPr txBox="1"/>
          <p:nvPr/>
        </p:nvSpPr>
        <p:spPr>
          <a:xfrm>
            <a:off x="514814" y="3784296"/>
            <a:ext cx="487308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“The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sky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is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blue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because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of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light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interacts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with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atmosphere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.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Sunlight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contains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many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colors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and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when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it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passes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through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air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molecules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blue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light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scatters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more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than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other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colors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.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That’s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why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sky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blue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during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day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.”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70EA5BB-468A-F5DB-65F1-BE1FD58383DB}"/>
              </a:ext>
            </a:extLst>
          </p:cNvPr>
          <p:cNvSpPr txBox="1"/>
          <p:nvPr/>
        </p:nvSpPr>
        <p:spPr>
          <a:xfrm>
            <a:off x="6034670" y="3784296"/>
            <a:ext cx="56425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E0E0E"/>
                </a:solidFill>
                <a:latin typeface=".AppleSystemUIFont"/>
              </a:rPr>
              <a:t>“Imagine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sky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is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like a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giant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ocean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of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tiny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invisible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balls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called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air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molecules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.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When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sunlight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shines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through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blue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light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bounces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around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more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than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other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colors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kind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of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like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how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tiny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balls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make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waves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in a pool.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That’s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why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when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you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look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up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sky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looks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blue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! And at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sunset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light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has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travel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through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more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air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, so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reds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and oranges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shine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through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instead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.”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2BA1C2B-CF78-8988-CC55-7642F7727642}"/>
              </a:ext>
            </a:extLst>
          </p:cNvPr>
          <p:cNvSpPr txBox="1"/>
          <p:nvPr/>
        </p:nvSpPr>
        <p:spPr>
          <a:xfrm>
            <a:off x="1643465" y="3140465"/>
            <a:ext cx="26157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base</a:t>
            </a:r>
            <a:r>
              <a:rPr lang="de-DE" sz="2200" dirty="0"/>
              <a:t> LLM </a:t>
            </a:r>
            <a:r>
              <a:rPr lang="de-DE" sz="2200" dirty="0" err="1"/>
              <a:t>response</a:t>
            </a:r>
            <a:r>
              <a:rPr lang="de-DE" sz="2200" dirty="0"/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406AF60-4565-7017-913F-AA16FA85DE8B}"/>
              </a:ext>
            </a:extLst>
          </p:cNvPr>
          <p:cNvSpPr txBox="1"/>
          <p:nvPr/>
        </p:nvSpPr>
        <p:spPr>
          <a:xfrm>
            <a:off x="6779430" y="3140465"/>
            <a:ext cx="41529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instruction-tuned</a:t>
            </a:r>
            <a:r>
              <a:rPr lang="de-DE" sz="2200" dirty="0"/>
              <a:t> LLM </a:t>
            </a:r>
            <a:r>
              <a:rPr lang="de-DE" sz="2200" dirty="0" err="1"/>
              <a:t>response</a:t>
            </a:r>
            <a:r>
              <a:rPr lang="de-DE" sz="22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05508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B4357A-6690-1EC4-E385-2D2D1A2E9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  <p:pic>
        <p:nvPicPr>
          <p:cNvPr id="5" name="Grafik 4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95F6B3E-9F0D-6029-F292-E21547A6F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987" y="1342177"/>
            <a:ext cx="7772400" cy="418461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4C00779-93FF-F002-7ED7-64FA527F031E}"/>
              </a:ext>
            </a:extLst>
          </p:cNvPr>
          <p:cNvSpPr txBox="1"/>
          <p:nvPr/>
        </p:nvSpPr>
        <p:spPr>
          <a:xfrm>
            <a:off x="844650" y="5047998"/>
            <a:ext cx="463565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base</a:t>
            </a:r>
            <a:r>
              <a:rPr lang="de-DE" sz="2200" dirty="0"/>
              <a:t> LLM: </a:t>
            </a:r>
            <a:r>
              <a:rPr lang="de-DE" sz="2200" dirty="0" err="1"/>
              <a:t>poor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proper multi-turn </a:t>
            </a:r>
            <a:r>
              <a:rPr lang="de-DE" sz="2200" dirty="0" err="1"/>
              <a:t>converstations</a:t>
            </a:r>
            <a:endParaRPr lang="de-DE" sz="2200" dirty="0"/>
          </a:p>
          <a:p>
            <a:r>
              <a:rPr lang="de-DE" sz="2200" dirty="0"/>
              <a:t>(e.g., Llama-2-7b, Mistral-7B)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E59138B-4BCD-0E29-3B22-6F17680478F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3162479" y="4497378"/>
            <a:ext cx="3242708" cy="550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00659DCC-22C8-B02E-15A1-0FCBA181798E}"/>
              </a:ext>
            </a:extLst>
          </p:cNvPr>
          <p:cNvSpPr txBox="1"/>
          <p:nvPr/>
        </p:nvSpPr>
        <p:spPr>
          <a:xfrm>
            <a:off x="5995152" y="5635969"/>
            <a:ext cx="7165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RAG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D80B2E3-4F1B-089C-B0A1-C2749A5D1595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6353424" y="4382429"/>
            <a:ext cx="1586244" cy="1253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DE393BC-5AEB-9813-ABCF-F70A1F18CCEC}"/>
              </a:ext>
            </a:extLst>
          </p:cNvPr>
          <p:cNvSpPr txBox="1"/>
          <p:nvPr/>
        </p:nvSpPr>
        <p:spPr>
          <a:xfrm>
            <a:off x="9824738" y="5291662"/>
            <a:ext cx="22202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ready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become</a:t>
            </a:r>
            <a:r>
              <a:rPr lang="de-DE" sz="2200" dirty="0"/>
              <a:t> an LLM </a:t>
            </a:r>
            <a:r>
              <a:rPr lang="de-DE" sz="2200" dirty="0" err="1"/>
              <a:t>chatbot</a:t>
            </a:r>
            <a:endParaRPr lang="de-DE" sz="22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279F7633-BF0C-138D-E1AD-4FE75AA9F153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9596132" y="4382429"/>
            <a:ext cx="1338747" cy="909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EDC1CA0-20A2-1CE6-AB7D-CC02505E5657}"/>
              </a:ext>
            </a:extLst>
          </p:cNvPr>
          <p:cNvSpPr txBox="1"/>
          <p:nvPr/>
        </p:nvSpPr>
        <p:spPr>
          <a:xfrm>
            <a:off x="9982200" y="810535"/>
            <a:ext cx="164872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expert LLMs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A86ABC3-1280-06A1-B766-FFC5B6D3F67E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8062332" y="1241422"/>
            <a:ext cx="2744229" cy="114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D9B724AE-0553-1E70-4354-2B39E53827CB}"/>
              </a:ext>
            </a:extLst>
          </p:cNvPr>
          <p:cNvSpPr txBox="1"/>
          <p:nvPr/>
        </p:nvSpPr>
        <p:spPr>
          <a:xfrm>
            <a:off x="2824086" y="94264"/>
            <a:ext cx="523824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generic</a:t>
            </a:r>
            <a:r>
              <a:rPr lang="de-DE" sz="2200" dirty="0"/>
              <a:t> “</a:t>
            </a:r>
            <a:r>
              <a:rPr lang="de-DE" sz="2200" dirty="0" err="1"/>
              <a:t>instruct</a:t>
            </a:r>
            <a:r>
              <a:rPr lang="de-DE" sz="2200" dirty="0"/>
              <a:t>“ </a:t>
            </a:r>
            <a:r>
              <a:rPr lang="de-DE" sz="2200" dirty="0" err="1"/>
              <a:t>versions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LLMs (</a:t>
            </a:r>
            <a:r>
              <a:rPr lang="de-DE" sz="2200" dirty="0" err="1"/>
              <a:t>potentially</a:t>
            </a:r>
            <a:r>
              <a:rPr lang="de-DE" sz="2200" dirty="0"/>
              <a:t> also </a:t>
            </a:r>
            <a:r>
              <a:rPr lang="de-DE" sz="2200" dirty="0" err="1"/>
              <a:t>aligned</a:t>
            </a:r>
            <a:r>
              <a:rPr lang="de-DE" sz="2200" dirty="0"/>
              <a:t>)</a:t>
            </a:r>
          </a:p>
          <a:p>
            <a:r>
              <a:rPr lang="de-DE" sz="2200" dirty="0"/>
              <a:t>e.g., Llama-2-7b-chat, Mistral-7B-Instruct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2D0ECEC-FB50-025C-6520-232422F8510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5443209" y="1202260"/>
            <a:ext cx="1268486" cy="550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107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1B0760-5DC6-8803-F2DB-A4388C6FA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62BED9-4139-4C14-9D40-9EEF79385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specialization</a:t>
            </a:r>
            <a:r>
              <a:rPr lang="de-DE" dirty="0"/>
              <a:t> (e.g., code </a:t>
            </a:r>
            <a:r>
              <a:rPr lang="de-DE" dirty="0" err="1"/>
              <a:t>generation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instructions</a:t>
            </a:r>
            <a:r>
              <a:rPr lang="de-DE" dirty="0"/>
              <a:t> (e.g., </a:t>
            </a:r>
            <a:r>
              <a:rPr lang="de-DE" dirty="0" err="1"/>
              <a:t>interpret</a:t>
            </a:r>
            <a:r>
              <a:rPr lang="de-DE" dirty="0"/>
              <a:t> </a:t>
            </a:r>
            <a:r>
              <a:rPr lang="de-DE" dirty="0" err="1"/>
              <a:t>molecular</a:t>
            </a:r>
            <a:r>
              <a:rPr lang="de-DE" dirty="0"/>
              <a:t> </a:t>
            </a:r>
            <a:r>
              <a:rPr lang="de-DE" dirty="0" err="1"/>
              <a:t>formulas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style </a:t>
            </a:r>
            <a:r>
              <a:rPr lang="de-DE" dirty="0" err="1"/>
              <a:t>or</a:t>
            </a:r>
            <a:r>
              <a:rPr lang="de-DE" dirty="0"/>
              <a:t> tone </a:t>
            </a:r>
            <a:r>
              <a:rPr lang="de-DE" dirty="0" err="1"/>
              <a:t>adaptation</a:t>
            </a:r>
            <a:r>
              <a:rPr lang="de-DE" dirty="0"/>
              <a:t> (e.g., </a:t>
            </a:r>
            <a:r>
              <a:rPr lang="de-DE" dirty="0" err="1"/>
              <a:t>corporate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style, </a:t>
            </a:r>
            <a:r>
              <a:rPr lang="de-DE" dirty="0" err="1"/>
              <a:t>friendly</a:t>
            </a:r>
            <a:r>
              <a:rPr lang="de-DE" dirty="0"/>
              <a:t> </a:t>
            </a:r>
            <a:r>
              <a:rPr lang="de-DE" dirty="0" err="1"/>
              <a:t>chatbot</a:t>
            </a:r>
            <a:r>
              <a:rPr lang="de-DE" dirty="0"/>
              <a:t> tone)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reasoning</a:t>
            </a:r>
            <a:r>
              <a:rPr lang="de-DE" dirty="0"/>
              <a:t> (</a:t>
            </a:r>
            <a:r>
              <a:rPr lang="de-DE" dirty="0" err="1"/>
              <a:t>CoT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reasoning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51CF5C-295C-0407-8544-4EC48C31A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9085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1286" cy="443124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LLMs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billions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expensive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PEFT: </a:t>
            </a:r>
            <a:r>
              <a:rPr lang="de-DE" dirty="0" err="1"/>
              <a:t>adapt</a:t>
            </a:r>
            <a:r>
              <a:rPr lang="de-DE" dirty="0"/>
              <a:t> LLMs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updating</a:t>
            </a:r>
            <a:r>
              <a:rPr lang="de-DE" dirty="0"/>
              <a:t> all </a:t>
            </a:r>
            <a:r>
              <a:rPr lang="de-DE" dirty="0" err="1"/>
              <a:t>parameters</a:t>
            </a:r>
            <a:r>
              <a:rPr lang="de-DE" dirty="0"/>
              <a:t>,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, 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modifications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 err="1"/>
              <a:t>popular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: Low-Rank Adaptation</a:t>
            </a:r>
            <a:r>
              <a:rPr lang="en-GB" dirty="0"/>
              <a:t> (</a:t>
            </a:r>
            <a:r>
              <a:rPr lang="en-GB" dirty="0">
                <a:hlinkClick r:id="rId2"/>
              </a:rPr>
              <a:t>LoRA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quantization</a:t>
            </a:r>
            <a:r>
              <a:rPr lang="de-DE" dirty="0"/>
              <a:t> (</a:t>
            </a:r>
            <a:r>
              <a:rPr lang="de-DE" dirty="0" err="1"/>
              <a:t>representing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and/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activations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lower-precision</a:t>
            </a:r>
            <a:r>
              <a:rPr lang="de-DE" dirty="0"/>
              <a:t> </a:t>
            </a:r>
            <a:r>
              <a:rPr lang="de-DE" dirty="0" err="1"/>
              <a:t>numbers</a:t>
            </a:r>
            <a:r>
              <a:rPr lang="de-DE" dirty="0"/>
              <a:t>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further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memory</a:t>
            </a:r>
            <a:r>
              <a:rPr lang="de-DE" dirty="0"/>
              <a:t> </a:t>
            </a:r>
            <a:r>
              <a:rPr lang="de-DE" dirty="0" err="1"/>
              <a:t>usage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113BA818-691C-0D6D-9823-145EF809155A}"/>
              </a:ext>
            </a:extLst>
          </p:cNvPr>
          <p:cNvSpPr txBox="1"/>
          <p:nvPr/>
        </p:nvSpPr>
        <p:spPr>
          <a:xfrm>
            <a:off x="9369389" y="1601085"/>
            <a:ext cx="963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LoRA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Preference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353800" y="4948850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197005" y="5381861"/>
            <a:ext cx="1179799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idea: aligning LLM output with human preferences</a:t>
            </a:r>
          </a:p>
          <a:p>
            <a:r>
              <a:rPr lang="en-GB" sz="2600" dirty="0">
                <a:hlinkClick r:id="rId4"/>
              </a:rPr>
              <a:t>InstructGPT</a:t>
            </a:r>
            <a:r>
              <a:rPr lang="en-GB" sz="2600" dirty="0"/>
              <a:t>: SFT followed by reinforcement learning from human feedback (RLHF)</a:t>
            </a:r>
            <a:endParaRPr lang="de-DE" sz="26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23ABB17-C0C1-4B0D-F196-C0B2B586E78C}"/>
              </a:ext>
            </a:extLst>
          </p:cNvPr>
          <p:cNvSpPr txBox="1"/>
          <p:nvPr/>
        </p:nvSpPr>
        <p:spPr>
          <a:xfrm>
            <a:off x="838200" y="4856899"/>
            <a:ext cx="13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here</a:t>
            </a:r>
            <a:r>
              <a:rPr lang="de-DE" dirty="0"/>
              <a:t>: GPT-3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168F92C-645E-FD61-C77E-298F7E738023}"/>
              </a:ext>
            </a:extLst>
          </p:cNvPr>
          <p:cNvSpPr txBox="1"/>
          <p:nvPr/>
        </p:nvSpPr>
        <p:spPr>
          <a:xfrm>
            <a:off x="8149218" y="857565"/>
            <a:ext cx="36659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RLHF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achieve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following</a:t>
            </a:r>
            <a:r>
              <a:rPr lang="de-DE" dirty="0"/>
              <a:t> and </a:t>
            </a:r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645376-4611-E3D8-9848-DD1FD6E49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Aside: Policy Gradient Method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FD0C45-6083-C8B3-2204-F00EB5280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1410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in </a:t>
            </a:r>
            <a:r>
              <a:rPr lang="de-DE" sz="2400" dirty="0" err="1"/>
              <a:t>general</a:t>
            </a:r>
            <a:r>
              <a:rPr lang="de-DE" sz="2400" dirty="0"/>
              <a:t>: </a:t>
            </a:r>
            <a:r>
              <a:rPr lang="de-DE" sz="2400" dirty="0" err="1"/>
              <a:t>policy</a:t>
            </a:r>
            <a:r>
              <a:rPr lang="de-DE" sz="2400" dirty="0"/>
              <a:t> network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actions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r>
              <a:rPr lang="de-DE" sz="2400" dirty="0"/>
              <a:t> (</a:t>
            </a:r>
            <a:r>
              <a:rPr lang="de-DE" sz="2400" dirty="0" err="1"/>
              <a:t>here</a:t>
            </a:r>
            <a:r>
              <a:rPr lang="de-DE" sz="2400" dirty="0"/>
              <a:t>: </a:t>
            </a:r>
            <a:r>
              <a:rPr lang="de-DE" sz="2400" dirty="0" err="1"/>
              <a:t>next</a:t>
            </a:r>
            <a:r>
              <a:rPr lang="de-DE" sz="2400" dirty="0"/>
              <a:t>-token </a:t>
            </a:r>
            <a:r>
              <a:rPr lang="de-DE" sz="2400" dirty="0" err="1"/>
              <a:t>probabilities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21AA31-8FB1-0E51-AB13-3C58EF213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04C19F4A-8DA4-86E3-5633-A54AE4348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7259" y="2427421"/>
            <a:ext cx="5657481" cy="2003158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22DE8C7-067C-2FF4-9C61-D92D22820DCC}"/>
              </a:ext>
            </a:extLst>
          </p:cNvPr>
          <p:cNvCxnSpPr/>
          <p:nvPr/>
        </p:nvCxnSpPr>
        <p:spPr>
          <a:xfrm flipH="1">
            <a:off x="5374888" y="2196790"/>
            <a:ext cx="2486722" cy="903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1">
            <a:extLst>
              <a:ext uri="{FF2B5EF4-FFF2-40B4-BE49-F238E27FC236}">
                <a16:creationId xmlns:a16="http://schemas.microsoft.com/office/drawing/2014/main" id="{92FEAB68-C5D2-4CFA-673C-12B4E2B01D9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C48B675A-2084-C34A-84F6-1B6A8516A5F3}" type="slidenum">
              <a:rPr lang="en-DE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pPr>
                <a:defRPr/>
              </a:pPr>
              <a:t>21</a:t>
            </a:fld>
            <a:endParaRPr lang="en-DE" dirty="0">
              <a:solidFill>
                <a:prstClr val="black">
                  <a:tint val="75000"/>
                </a:prstClr>
              </a:solidFill>
              <a:latin typeface="Calibri" panose="020F0502020204030204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49FCD5B-8D8F-296A-8031-1B3CA2FDBB98}"/>
              </a:ext>
            </a:extLst>
          </p:cNvPr>
          <p:cNvSpPr txBox="1"/>
          <p:nvPr/>
        </p:nvSpPr>
        <p:spPr>
          <a:xfrm>
            <a:off x="8737294" y="4358827"/>
            <a:ext cx="2963568" cy="110799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return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here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: just </a:t>
            </a: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one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reward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for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de-DE" sz="2200" dirty="0" err="1">
                <a:solidFill>
                  <a:prstClr val="black"/>
                </a:solidFill>
                <a:latin typeface="Calibri" panose="020F0502020204030204"/>
              </a:rPr>
              <a:t>entire</a:t>
            </a:r>
            <a:r>
              <a:rPr lang="de-DE" sz="22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kumimoji="0" lang="de-DE" sz="2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sampled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2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text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2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sequence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  <a:endParaRPr kumimoji="0" lang="en-DE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7">
                <a:extLst>
                  <a:ext uri="{FF2B5EF4-FFF2-40B4-BE49-F238E27FC236}">
                    <a16:creationId xmlns:a16="http://schemas.microsoft.com/office/drawing/2014/main" id="{100411AA-C4F0-881E-5FC1-ACB7771A7387}"/>
                  </a:ext>
                </a:extLst>
              </p:cNvPr>
              <p:cNvSpPr txBox="1"/>
              <p:nvPr/>
            </p:nvSpPr>
            <p:spPr>
              <a:xfrm>
                <a:off x="4122764" y="4762783"/>
                <a:ext cx="3946470" cy="4924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sz="2600" dirty="0">
                    <a:ea typeface="Cambria Math" panose="02040503050406030204" pitchFamily="18" charset="0"/>
                  </a:rPr>
                  <a:t>loss: 	</a:t>
                </a:r>
                <a14:m>
                  <m:oMath xmlns:m="http://schemas.openxmlformats.org/officeDocument/2006/math">
                    <m:r>
                      <a:rPr lang="en-GB" sz="2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GB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GB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func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endParaRPr lang="en-GB" sz="2600" dirty="0"/>
              </a:p>
            </p:txBody>
          </p:sp>
        </mc:Choice>
        <mc:Fallback xmlns="">
          <p:sp>
            <p:nvSpPr>
              <p:cNvPr id="10" name="TextBox 7">
                <a:extLst>
                  <a:ext uri="{FF2B5EF4-FFF2-40B4-BE49-F238E27FC236}">
                    <a16:creationId xmlns:a16="http://schemas.microsoft.com/office/drawing/2014/main" id="{100411AA-C4F0-881E-5FC1-ACB7771A7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2764" y="4762783"/>
                <a:ext cx="3946470" cy="492443"/>
              </a:xfrm>
              <a:prstGeom prst="rect">
                <a:avLst/>
              </a:prstGeom>
              <a:blipFill>
                <a:blip r:embed="rId3"/>
                <a:stretch>
                  <a:fillRect l="-2564" t="-9756" b="-268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26">
            <a:extLst>
              <a:ext uri="{FF2B5EF4-FFF2-40B4-BE49-F238E27FC236}">
                <a16:creationId xmlns:a16="http://schemas.microsoft.com/office/drawing/2014/main" id="{592346B2-1E24-9620-2CA4-1B26AF86F5A8}"/>
              </a:ext>
            </a:extLst>
          </p:cNvPr>
          <p:cNvSpPr txBox="1"/>
          <p:nvPr/>
        </p:nvSpPr>
        <p:spPr>
          <a:xfrm>
            <a:off x="3178049" y="5809405"/>
            <a:ext cx="2110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gradient ascent</a:t>
            </a:r>
          </a:p>
        </p:txBody>
      </p:sp>
      <p:cxnSp>
        <p:nvCxnSpPr>
          <p:cNvPr id="16" name="Straight Arrow Connector 28">
            <a:extLst>
              <a:ext uri="{FF2B5EF4-FFF2-40B4-BE49-F238E27FC236}">
                <a16:creationId xmlns:a16="http://schemas.microsoft.com/office/drawing/2014/main" id="{D35B7A4A-A19C-BC16-3A1A-8C371F3F1957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4233285" y="5072334"/>
            <a:ext cx="940881" cy="737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AC02C39E-1788-73C8-3CEC-FE27086673DF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965204" y="4912825"/>
            <a:ext cx="772090" cy="76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7FE5BB4-956C-1516-EC19-9F708DCA43C7}"/>
              </a:ext>
            </a:extLst>
          </p:cNvPr>
          <p:cNvSpPr txBox="1"/>
          <p:nvPr/>
        </p:nvSpPr>
        <p:spPr>
          <a:xfrm>
            <a:off x="6451105" y="5800042"/>
            <a:ext cx="36072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action</a:t>
            </a:r>
            <a:r>
              <a:rPr lang="de-DE" sz="2200" dirty="0"/>
              <a:t> </a:t>
            </a:r>
            <a:r>
              <a:rPr lang="de-DE" sz="2200" dirty="0" err="1"/>
              <a:t>given</a:t>
            </a:r>
            <a:r>
              <a:rPr lang="de-DE" sz="2200" dirty="0"/>
              <a:t> </a:t>
            </a:r>
            <a:r>
              <a:rPr lang="de-DE" sz="2200" dirty="0" err="1"/>
              <a:t>state</a:t>
            </a:r>
            <a:r>
              <a:rPr lang="de-DE" sz="2200" dirty="0"/>
              <a:t> (</a:t>
            </a:r>
            <a:r>
              <a:rPr lang="de-DE" sz="2200" dirty="0" err="1"/>
              <a:t>here</a:t>
            </a:r>
            <a:r>
              <a:rPr lang="de-DE" sz="2200" dirty="0"/>
              <a:t>: LLM)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4990300-2ADE-47B7-EDE3-E6E6F5196798}"/>
              </a:ext>
            </a:extLst>
          </p:cNvPr>
          <p:cNvCxnSpPr/>
          <p:nvPr/>
        </p:nvCxnSpPr>
        <p:spPr>
          <a:xfrm flipH="1" flipV="1">
            <a:off x="6556917" y="5169805"/>
            <a:ext cx="289932" cy="661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3A4A1F03-D705-F259-D4DB-8E186541C484}"/>
              </a:ext>
            </a:extLst>
          </p:cNvPr>
          <p:cNvSpPr txBox="1"/>
          <p:nvPr/>
        </p:nvSpPr>
        <p:spPr>
          <a:xfrm>
            <a:off x="8610600" y="96114"/>
            <a:ext cx="342202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rationale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reinforcement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: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on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responses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global </a:t>
            </a:r>
            <a:r>
              <a:rPr lang="de-DE" dirty="0" err="1"/>
              <a:t>feedback</a:t>
            </a:r>
            <a:r>
              <a:rPr lang="de-DE" dirty="0"/>
              <a:t>,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-token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do </a:t>
            </a:r>
            <a:r>
              <a:rPr lang="de-DE" dirty="0" err="1"/>
              <a:t>naturally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8556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GPT-3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ChatGPT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dialog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(aka </a:t>
            </a:r>
            <a:r>
              <a:rPr lang="de-DE" dirty="0" err="1"/>
              <a:t>conversational</a:t>
            </a:r>
            <a:r>
              <a:rPr lang="de-DE" dirty="0"/>
              <a:t> </a:t>
            </a:r>
            <a:r>
              <a:rPr lang="de-DE" dirty="0" err="1"/>
              <a:t>agent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chatbot</a:t>
            </a:r>
            <a:r>
              <a:rPr lang="de-DE" dirty="0"/>
              <a:t>):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communicate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humans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language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multi-turn </a:t>
            </a:r>
            <a:r>
              <a:rPr lang="de-DE" dirty="0" err="1"/>
              <a:t>dialogue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LLM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A5F8930-85BD-B931-0E11-A711651FDEBC}"/>
              </a:ext>
            </a:extLst>
          </p:cNvPr>
          <p:cNvSpPr txBox="1"/>
          <p:nvPr/>
        </p:nvSpPr>
        <p:spPr>
          <a:xfrm>
            <a:off x="838200" y="5992297"/>
            <a:ext cx="620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/>
              <a:t>lightweight </a:t>
            </a:r>
            <a:r>
              <a:rPr lang="en-GB" sz="1800" dirty="0" err="1"/>
              <a:t>PyTorch</a:t>
            </a:r>
            <a:r>
              <a:rPr lang="en-GB" sz="1800" dirty="0"/>
              <a:t> re-implementation of ChatGPT: </a:t>
            </a:r>
            <a:r>
              <a:rPr lang="en-GB" sz="1800" dirty="0">
                <a:hlinkClick r:id="rId2"/>
              </a:rPr>
              <a:t>nanochat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0" y="2464917"/>
            <a:ext cx="12119830" cy="380173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Other Methods </a:t>
            </a:r>
            <a:r>
              <a:rPr lang="de-DE" dirty="0" err="1"/>
              <a:t>for</a:t>
            </a:r>
            <a:r>
              <a:rPr lang="de-DE" dirty="0"/>
              <a:t> Preference 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alternatives to RLHF: </a:t>
            </a:r>
            <a:r>
              <a:rPr lang="en-GB" dirty="0">
                <a:hlinkClick r:id="rId3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4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399663-9922-19FF-0C11-ACBEFDAAA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567973F-4CA1-AD37-154D-E291AE0C5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14" y="68262"/>
            <a:ext cx="8517571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948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</a:t>
            </a:r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latest</a:t>
            </a:r>
            <a:r>
              <a:rPr lang="de-DE" dirty="0"/>
              <a:t> AI </a:t>
            </a:r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: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assistants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agents</a:t>
            </a:r>
            <a:endParaRPr lang="de-DE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9B6036-572A-3224-B445-73009FB1A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985" y="2540226"/>
            <a:ext cx="5998029" cy="399868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6569F2A-99DD-137E-168F-1D632F00FA33}"/>
              </a:ext>
            </a:extLst>
          </p:cNvPr>
          <p:cNvSpPr txBox="1"/>
          <p:nvPr/>
        </p:nvSpPr>
        <p:spPr>
          <a:xfrm>
            <a:off x="9095014" y="3339574"/>
            <a:ext cx="291192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 err="1"/>
              <a:t>active</a:t>
            </a:r>
            <a:r>
              <a:rPr lang="de-DE" sz="2000" dirty="0"/>
              <a:t>, </a:t>
            </a:r>
            <a:r>
              <a:rPr lang="de-DE" sz="2000" dirty="0" err="1"/>
              <a:t>autonomous</a:t>
            </a:r>
            <a:r>
              <a:rPr lang="de-DE" sz="2000" dirty="0"/>
              <a:t>, </a:t>
            </a:r>
            <a:r>
              <a:rPr lang="de-DE" sz="2000" dirty="0" err="1"/>
              <a:t>decision-making</a:t>
            </a:r>
            <a:r>
              <a:rPr lang="de-DE" sz="2000" dirty="0"/>
              <a:t> </a:t>
            </a:r>
            <a:r>
              <a:rPr lang="de-DE" sz="2000" dirty="0" err="1"/>
              <a:t>entities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acting</a:t>
            </a:r>
            <a:r>
              <a:rPr lang="de-DE" sz="2000" dirty="0"/>
              <a:t> on </a:t>
            </a:r>
            <a:r>
              <a:rPr lang="de-DE" sz="2000" dirty="0" err="1"/>
              <a:t>goals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tasks</a:t>
            </a:r>
            <a:endParaRPr lang="de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0A239DC-E007-4DEE-0753-ACE01E85E9D0}"/>
              </a:ext>
            </a:extLst>
          </p:cNvPr>
          <p:cNvSpPr txBox="1"/>
          <p:nvPr/>
        </p:nvSpPr>
        <p:spPr>
          <a:xfrm>
            <a:off x="1055914" y="3339574"/>
            <a:ext cx="204107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/>
              <a:t>passive, </a:t>
            </a:r>
            <a:r>
              <a:rPr lang="de-DE" sz="2000" dirty="0" err="1"/>
              <a:t>reactive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responding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user</a:t>
            </a:r>
            <a:r>
              <a:rPr lang="de-DE" sz="2000" dirty="0"/>
              <a:t> </a:t>
            </a:r>
            <a:r>
              <a:rPr lang="de-DE" sz="2000" dirty="0" err="1"/>
              <a:t>prompts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1618</Words>
  <Application>Microsoft Macintosh PowerPoint</Application>
  <PresentationFormat>Breitbild</PresentationFormat>
  <Paragraphs>212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3" baseType="lpstr">
      <vt:lpstr>.AppleSystemUIFont</vt:lpstr>
      <vt:lpstr>Aptos</vt:lpstr>
      <vt:lpstr>Aptos Display</vt:lpstr>
      <vt:lpstr>Arial</vt:lpstr>
      <vt:lpstr>Calibri</vt:lpstr>
      <vt:lpstr>Cambria Math</vt:lpstr>
      <vt:lpstr>Wingdings</vt:lpstr>
      <vt:lpstr>Office</vt:lpstr>
      <vt:lpstr>Finetuning</vt:lpstr>
      <vt:lpstr>Course Contents</vt:lpstr>
      <vt:lpstr>This Part: Finetuning</vt:lpstr>
      <vt:lpstr>Modern Language Models in a Nutshell</vt:lpstr>
      <vt:lpstr>Transfer Learning from Foundation Models</vt:lpstr>
      <vt:lpstr>Finetuning of BERT</vt:lpstr>
      <vt:lpstr>Example: Sequence Classification</vt:lpstr>
      <vt:lpstr>Next-Sentence Prediction (NSP) in BERT</vt:lpstr>
      <vt:lpstr>BERT Variants</vt:lpstr>
      <vt:lpstr>Example: Sentence Embeddings</vt:lpstr>
      <vt:lpstr>SBERT</vt:lpstr>
      <vt:lpstr>Example: Token Classification</vt:lpstr>
      <vt:lpstr>Finetuning Scenarios</vt:lpstr>
      <vt:lpstr>Instruction Tuning</vt:lpstr>
      <vt:lpstr>Instruction Tuning Data</vt:lpstr>
      <vt:lpstr>Base vs Instruction-tuned LLM</vt:lpstr>
      <vt:lpstr>PowerPoint-Präsentation</vt:lpstr>
      <vt:lpstr>Use Cases of Instruction Tuning</vt:lpstr>
      <vt:lpstr>Parameter-Efficient Finetuning (PEFT)</vt:lpstr>
      <vt:lpstr>Preference Alignment</vt:lpstr>
      <vt:lpstr>Aside: Policy Gradient Method </vt:lpstr>
      <vt:lpstr>GPT-3  InstructGPT  ChatGPT</vt:lpstr>
      <vt:lpstr>Other Methods for Preference Alignment</vt:lpstr>
      <vt:lpstr>PowerPoint-Präsentation</vt:lpstr>
      <vt:lpstr>Next: Agents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174</cp:revision>
  <dcterms:created xsi:type="dcterms:W3CDTF">2025-07-07T13:23:51Z</dcterms:created>
  <dcterms:modified xsi:type="dcterms:W3CDTF">2025-10-15T10:08:11Z</dcterms:modified>
</cp:coreProperties>
</file>