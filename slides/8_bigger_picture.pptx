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825" r:id="rId3"/>
    <p:sldId id="790" r:id="rId4"/>
    <p:sldId id="808" r:id="rId5"/>
    <p:sldId id="801" r:id="rId6"/>
    <p:sldId id="813" r:id="rId7"/>
    <p:sldId id="809" r:id="rId8"/>
    <p:sldId id="810" r:id="rId9"/>
    <p:sldId id="811" r:id="rId10"/>
    <p:sldId id="814" r:id="rId11"/>
    <p:sldId id="815" r:id="rId12"/>
    <p:sldId id="817" r:id="rId13"/>
    <p:sldId id="816" r:id="rId14"/>
    <p:sldId id="812" r:id="rId15"/>
    <p:sldId id="819" r:id="rId16"/>
    <p:sldId id="818" r:id="rId17"/>
    <p:sldId id="820" r:id="rId18"/>
    <p:sldId id="821" r:id="rId19"/>
    <p:sldId id="823" r:id="rId20"/>
    <p:sldId id="307" r:id="rId21"/>
    <p:sldId id="824" r:id="rId22"/>
    <p:sldId id="320" r:id="rId23"/>
    <p:sldId id="826" r:id="rId24"/>
    <p:sldId id="346" r:id="rId25"/>
    <p:sldId id="347" r:id="rId26"/>
    <p:sldId id="827" r:id="rId2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1" dirty="0"/>
            <a:t>The Bigger Picture</a:t>
          </a:r>
          <a:endParaRPr lang="en-US" b="1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Transformer</a:t>
          </a:r>
          <a:endParaRPr lang="en-US" sz="2500" b="0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 err="1"/>
            <a:t>Agents</a:t>
          </a:r>
          <a:endParaRPr lang="en-US" sz="2500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The Bigger Picture</a:t>
          </a:r>
          <a:endParaRPr lang="en-US" sz="2500" b="1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DC8B52-F571-C84E-B0BB-DF400B53A97A}" type="datetimeFigureOut">
              <a:rPr lang="de-DE" smtClean="0"/>
              <a:t>09.09.25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205AE9-8D6E-7548-8022-C0B0F72D7B8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014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A7F1D-CBBD-994D-963D-07428426961C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31B9C-4737-D047-8A5E-F24251BA9AA0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49D60-3BE4-E940-B64A-1DEE131FFBDE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D4572-329E-1944-A4BD-A87D9AAC6B8A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785C-E5F7-D244-8626-78E540A21569}" type="datetime1">
              <a:rPr lang="de-DE" smtClean="0"/>
              <a:t>09.09.25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8DD5F-1DBB-304F-9CC2-E390E90919BB}" type="datetime1">
              <a:rPr lang="de-DE" smtClean="0"/>
              <a:t>09.09.25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53BCA-66E2-6B4A-B64F-4FD415EDC5DC}" type="datetime1">
              <a:rPr lang="de-DE" smtClean="0"/>
              <a:t>09.09.25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607DB-1696-8245-B06E-B56B9183F15A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83173-2B09-7346-A835-60970639E7B1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857DD-3ADE-4D44-B305-760CBCC22868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F9705-8930-A641-8E28-7D905820DE49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31EDC-CC6F-6E4C-A1EC-5FFA1A5C5EBC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00752" TargetMode="External"/><Relationship Id="rId2" Type="http://schemas.openxmlformats.org/officeDocument/2006/relationships/hyperlink" Target="https://arxiv.org/abs/2205.14135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10.11929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3.00020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305.05665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The Bigger Picture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2001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52BE49-3E85-75E0-31D8-BB8B37C8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The Bigger Picture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historical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research</a:t>
            </a:r>
            <a:r>
              <a:rPr lang="de-DE" dirty="0"/>
              <a:t> </a:t>
            </a:r>
            <a:r>
              <a:rPr lang="de-DE" dirty="0" err="1"/>
              <a:t>directions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4C65C1-8E09-D771-06F8-9B4E98EC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3A0A1-3C2F-404E-202E-E299C4D70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7635F0-C9DA-EF40-EC7F-EE20A1206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69214A-7198-2390-80DA-BDA6EB85B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93C3EE-E520-A64E-0B0F-03AE39915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B8AD9-829D-A9DD-830C-802B918FA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346750-5437-58A1-D20E-2EBCB4907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77CE65-E852-2132-6303-3C2E3550B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Neural Networks as Language Models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7835F06-382E-119F-B8CF-14FD75BC90B9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2003</a:t>
            </a:r>
          </a:p>
        </p:txBody>
      </p:sp>
      <p:pic>
        <p:nvPicPr>
          <p:cNvPr id="5" name="Grafik 4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8CDD7FAA-9798-D0EB-2560-8EBDD0949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400" y="239355"/>
            <a:ext cx="6599803" cy="639710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ADDB76-2E0F-9068-0290-6063C51E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07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3F1C30-239D-F8F3-EA9B-DA499F4C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895" y="2773777"/>
            <a:ext cx="28588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Learning Rises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4774778B-9346-EC88-0326-A686C0EF1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594" y="467208"/>
            <a:ext cx="7115416" cy="592358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68D795C-0B3A-B6C5-C6BA-156EA13F859C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2012</a:t>
            </a:r>
          </a:p>
        </p:txBody>
      </p:sp>
      <p:pic>
        <p:nvPicPr>
          <p:cNvPr id="5" name="Picture 4" descr="A graph of a number of layers&#10;&#10;AI-generated content may be incorrect.">
            <a:extLst>
              <a:ext uri="{FF2B5EF4-FFF2-40B4-BE49-F238E27FC236}">
                <a16:creationId xmlns:a16="http://schemas.microsoft.com/office/drawing/2014/main" id="{5859F151-622F-E303-9193-4759A41289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1" y="4309730"/>
            <a:ext cx="3990560" cy="2253404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8B037-377B-0FBF-8EC7-62A1ABCB9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8261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E0FC4-FFAB-9D80-43A1-21387CD0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369565-FD06-E100-B090-7E9D29B2A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E56F90-3F67-FBAE-56A1-658FE87CF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34DA4B-2FCF-5E89-72A3-F4C65A40BA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A1256B-39F8-01DE-D95A-03D9F82D7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96FEB7A-D6B5-89F9-E492-F5EEE9CF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8CA028-FB44-9F75-6DDE-13632D8C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Word Embeddings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9ED16D-E7A8-0BD0-CAE5-06E2A6E63E2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1C8A4DE-DB46-EC9E-0352-17AA385A2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4" y="1443548"/>
            <a:ext cx="4317541" cy="3706521"/>
          </a:xfrm>
          <a:prstGeom prst="rect">
            <a:avLst/>
          </a:prstGeom>
        </p:spPr>
      </p:pic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9D2D9B0F-E1CC-71D5-6542-74DB2E557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35" y="1443548"/>
            <a:ext cx="3823465" cy="3832645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71D441-8B1B-112B-6E96-62D111284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2556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7B9BA-CA14-DAF5-BBA4-B5FC0DD1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A1BD46-D245-688F-4F03-FF78E9559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8AAFD-6AF0-57AB-CFC3-89C99B9564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8EF28E-5D5F-D225-D56B-7DEA6592C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E1396C-1F7D-F40E-BDA6-E614853B7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C230BE4-EEEA-8371-BF66-2B6CD2B08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2A715B-27FA-EE21-D685-31848777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19" y="2773777"/>
            <a:ext cx="389096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Machine Translation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8C66C2B-9B91-4F55-339C-A908809BEF0F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2014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7390944-F9EE-16E7-052C-0C9A38F6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51443"/>
            <a:ext cx="6241802" cy="657293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0E1F57D-45AC-0C3E-AF52-0AC632D2A757}"/>
              </a:ext>
            </a:extLst>
          </p:cNvPr>
          <p:cNvSpPr txBox="1"/>
          <p:nvPr/>
        </p:nvSpPr>
        <p:spPr>
          <a:xfrm>
            <a:off x="354105" y="5559799"/>
            <a:ext cx="2686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Once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there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were</a:t>
            </a:r>
            <a:r>
              <a:rPr lang="de-DE" dirty="0">
                <a:solidFill>
                  <a:schemeClr val="bg1"/>
                </a:solidFill>
              </a:rPr>
              <a:t> RNNs 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D7E31F-8094-3BC4-AD43-9ACEE4D8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4504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72D76-CDE4-C0E9-9674-F94B981B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F7356BD-00D3-11DA-BABB-14A49ADD9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B7FED-EB6F-8AF6-12DF-A76E7757B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0FEAC8-783C-D280-C716-83A5E93BF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0688D5-AEE0-B450-4FAE-C8C631BC4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E874CD6-0B35-A9B4-0B0C-8D1D57203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77FAE1-829D-52A7-4A18-61C557F9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309" y="2773777"/>
            <a:ext cx="238798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Attention Mechanism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FBC362-BB41-41FE-06E7-0C60A464C5F2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2015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751AA69-550F-AFF8-2B19-1FC67603B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043" y="347087"/>
            <a:ext cx="7034905" cy="6163826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D80F71C-B41B-F492-0BA4-61765495C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72" y="4092943"/>
            <a:ext cx="2046396" cy="2764629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503928-EB95-8384-37AC-134B44A4B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1908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7A2D8-D3E1-950A-5776-BFEC35DC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7DA1FD-1EA6-0777-85D2-49D850E2F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7AF892-DDAF-463A-569D-C28B495BC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A3F3F2-E384-35D5-F61D-CA981865AF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8DD248-EC14-E380-5898-1CD23915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4B4C3FF-DA0C-CB1B-1A20-5656AD8A7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236B6B-F968-585F-6B83-9ADF8E41D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159" y="2773777"/>
            <a:ext cx="264134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Transformers Take Over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9BE8943-FC16-B329-A2DE-1ADEF9C382B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2017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F19CFCDA-9E59-7FCB-68F2-33BE32900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44028"/>
            <a:ext cx="5859251" cy="6569943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CB6B548A-6B95-CD60-449C-ABBDFBEC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68" y="3928968"/>
            <a:ext cx="2060869" cy="2928604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84EBD2-8AF3-37E5-8B0B-124D05C5E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667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9C836-C3B7-AF4B-C663-C834F8DB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2D66D1-C68C-FBC1-DBEB-1B55C6894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47DA50-E887-A479-5ECD-5ACD0E164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4D3A2E-2E87-CCA5-D207-C561E1C4E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6760B-B01C-AA6B-7A6B-E3FE820B4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9E3F090-658F-91E6-2D66-9D04737B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C5083D8-A785-C00E-3072-D9CD4E11C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203" y="2773777"/>
            <a:ext cx="250419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 &amp; BERT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4536DE-990C-75E8-3D92-035B10D8599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2018</a:t>
            </a:r>
          </a:p>
        </p:txBody>
      </p:sp>
      <p:pic>
        <p:nvPicPr>
          <p:cNvPr id="5" name="Grafik 4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A2D14D81-5347-0E96-153F-90C29A182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68" y="1620254"/>
            <a:ext cx="3956868" cy="4328308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D0EFE96-CA44-A69C-EA56-924FD38EC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4" y="1614016"/>
            <a:ext cx="3956868" cy="362953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70FF59B-C728-C5B7-9971-D9BAD261A880}"/>
              </a:ext>
            </a:extLst>
          </p:cNvPr>
          <p:cNvSpPr txBox="1"/>
          <p:nvPr/>
        </p:nvSpPr>
        <p:spPr>
          <a:xfrm>
            <a:off x="284302" y="5449694"/>
            <a:ext cx="3469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</a:t>
            </a:r>
            <a:r>
              <a:rPr lang="en-US" sz="1800" dirty="0">
                <a:solidFill>
                  <a:srgbClr val="FFFFFF"/>
                </a:solidFill>
              </a:rPr>
              <a:t>elf-supervised </a:t>
            </a:r>
            <a:r>
              <a:rPr lang="en-US" dirty="0">
                <a:solidFill>
                  <a:srgbClr val="FFFFFF"/>
                </a:solidFill>
              </a:rPr>
              <a:t>p</a:t>
            </a:r>
            <a:r>
              <a:rPr lang="en-US" sz="1800" dirty="0">
                <a:solidFill>
                  <a:srgbClr val="FFFFFF"/>
                </a:solidFill>
              </a:rPr>
              <a:t>retraining followed by supervised </a:t>
            </a:r>
            <a:r>
              <a:rPr lang="en-US" dirty="0">
                <a:solidFill>
                  <a:srgbClr val="FFFFFF"/>
                </a:solidFill>
              </a:rPr>
              <a:t>f</a:t>
            </a:r>
            <a:r>
              <a:rPr lang="en-US" sz="1800" dirty="0">
                <a:solidFill>
                  <a:srgbClr val="FFFFFF"/>
                </a:solidFill>
              </a:rPr>
              <a:t>inetuning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E39833-E402-EAAF-448F-07CFA67CC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050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27D75-2F6A-5CFA-011E-AB5224F9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6FB245-2645-B738-79F7-C6B4462B3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1009E-7CB2-E287-DBD8-0119033B4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BDBB6-DA28-1D12-8DD1-09BBBD932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D6C76D-2292-044F-8A4F-9D7252F6D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085EB99-DB71-1DA4-4AAF-EF8D456E0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CCB001D-009D-21A5-1B52-710B28D1F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145" y="2773777"/>
            <a:ext cx="343031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Prompting: GPT-2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DCAACF4-4F25-FA9A-9C4B-296C777D0E9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2019</a:t>
            </a:r>
          </a:p>
        </p:txBody>
      </p:sp>
      <p:pic>
        <p:nvPicPr>
          <p:cNvPr id="3" name="Grafik 2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06FC6B8B-3877-ABB8-6C7E-AEF17FD5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479" y="197813"/>
            <a:ext cx="7248678" cy="64619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AE2386F-DD71-6C3F-63C6-8EB2E42B170F}"/>
              </a:ext>
            </a:extLst>
          </p:cNvPr>
          <p:cNvSpPr txBox="1"/>
          <p:nvPr/>
        </p:nvSpPr>
        <p:spPr>
          <a:xfrm>
            <a:off x="467629" y="5458581"/>
            <a:ext cx="3103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z</a:t>
            </a:r>
            <a:r>
              <a:rPr lang="en-US" sz="1800" dirty="0">
                <a:solidFill>
                  <a:srgbClr val="FFFFFF"/>
                </a:solidFill>
              </a:rPr>
              <a:t>ero-shot &amp; few-shot </a:t>
            </a:r>
            <a:r>
              <a:rPr lang="en-US" dirty="0">
                <a:solidFill>
                  <a:srgbClr val="FFFFFF"/>
                </a:solidFill>
              </a:rPr>
              <a:t>l</a:t>
            </a:r>
            <a:r>
              <a:rPr lang="en-US" sz="1800" dirty="0">
                <a:solidFill>
                  <a:srgbClr val="FFFFFF"/>
                </a:solidFill>
              </a:rPr>
              <a:t>earning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247C3E-B60E-6C7E-095E-B3DED36CD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522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CEDC3-18FD-E573-DFE6-655068E1F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683DC0-C57E-C0BC-8E0E-49A917648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BF891C-7730-820B-ABE2-6CF15793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13BFEA-46FE-2B29-FE0F-5C3E81989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53BA9C-6DF3-A540-11E2-0C47265DC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81D27F8-6F60-3509-A788-0F761836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633A4AB-3980-AECB-4AD5-B63A8159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443" y="2773777"/>
            <a:ext cx="262101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Scaling Laws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553B240-BDAE-B258-D849-5395C491B7A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EB0F4B3-4A43-9D4D-2418-C7BF6101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966" y="224564"/>
            <a:ext cx="6786392" cy="6408871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67C89A-1CB1-3172-87E0-BD599F847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210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10DB4-5C0D-E60F-2396-A8D0B8F78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FA42E3-6216-D6C0-4044-E10850156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1271C-746D-DF49-0B39-A5123A11F1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5357F4-7636-EB1D-711A-881E149A2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B5C301-9B07-53CA-AF82-B97C860D3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82BF7E8-2ACF-5220-74A4-50F1C692D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190EA2E-5040-4FFE-8EA4-EC78C634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291" y="2773777"/>
            <a:ext cx="13880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GPT-3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AC6E66-5311-D1FE-DC16-5876C46589BE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E793F738-6E58-53B6-15F6-83ADBA2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086" y="120789"/>
            <a:ext cx="5548119" cy="661599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C939A28-7C2C-47FC-B3C1-6EAE554A326D}"/>
              </a:ext>
            </a:extLst>
          </p:cNvPr>
          <p:cNvSpPr txBox="1"/>
          <p:nvPr/>
        </p:nvSpPr>
        <p:spPr>
          <a:xfrm>
            <a:off x="810872" y="5458581"/>
            <a:ext cx="2416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175 billion parameters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124D28B-A5AF-8894-6672-1D803D5B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996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E583E-FC5B-1EF6-734E-79C4C4137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181664C-B148-3694-7953-5B51E2EDF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72B2B9-C2D0-41F3-D01A-906A2A490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054F7F-36FE-3113-BEB5-0BB8697DD2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54E231-8A13-507A-B75D-D072F815F0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604C4-29C3-05F5-9705-58784ADE5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FDFD79E-73FB-5346-A4CA-EA16263C1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850" y="2773777"/>
            <a:ext cx="36573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Vision Transformer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BE906C-C75D-8119-3068-4A8DAD79250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0E2C7963-7F51-28AD-01E6-A21BCE5E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7" y="478712"/>
            <a:ext cx="7531455" cy="5932598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91CFA3E-063C-29A6-02FC-AEFA2174B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36" y="4469893"/>
            <a:ext cx="3844542" cy="202139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CFCE5F-2A47-05C4-C30F-44A3DF48D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477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30822-7979-D889-5F88-47826D3C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8158C9-4531-DF41-1B66-EE998D941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D8141-6DFE-C72E-77CE-FC445729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BDC04-B12A-5196-A05F-48CEC3FA4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3C767D-15C5-E4D8-A282-0E5EBE192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E31ECCA-9883-CD41-46D7-D684EE134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4444768-C8B4-8F78-E9B9-C7515C3C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251" y="2773777"/>
            <a:ext cx="290410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Text-to-Image:</a:t>
            </a:r>
            <a:br>
              <a:rPr lang="en-US" sz="3600" dirty="0">
                <a:solidFill>
                  <a:srgbClr val="FFFFFF"/>
                </a:solidFill>
              </a:rPr>
            </a:br>
            <a:r>
              <a:rPr lang="en-US" sz="3600" dirty="0">
                <a:solidFill>
                  <a:srgbClr val="FFFFFF"/>
                </a:solidFill>
              </a:rPr>
              <a:t>DALL-E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F63B8AE-EECF-2246-CD72-7EF1F8EE96A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7C5638C-8E94-2359-7DC8-F647BF951229}"/>
              </a:ext>
            </a:extLst>
          </p:cNvPr>
          <p:cNvSpPr txBox="1"/>
          <p:nvPr/>
        </p:nvSpPr>
        <p:spPr>
          <a:xfrm>
            <a:off x="5171469" y="582791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“A </a:t>
            </a:r>
            <a:r>
              <a:rPr lang="de-DE" b="0" i="0" u="none" strike="noStrike" dirty="0">
                <a:effectLst/>
                <a:latin typeface="Arial" panose="020B0604020202020204" pitchFamily="34" charset="0"/>
              </a:rPr>
              <a:t>Shiba Inu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dog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wearing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beret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black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turtleneck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”</a:t>
            </a:r>
            <a:endParaRPr lang="de-DE" dirty="0"/>
          </a:p>
        </p:txBody>
      </p:sp>
      <p:pic>
        <p:nvPicPr>
          <p:cNvPr id="11" name="Grafik 10" descr="Ein Bild, das Hunderasse, Haustier, Hut, Kragen enthält.&#10;&#10;KI-generierte Inhalte können fehlerhaft sein.">
            <a:extLst>
              <a:ext uri="{FF2B5EF4-FFF2-40B4-BE49-F238E27FC236}">
                <a16:creationId xmlns:a16="http://schemas.microsoft.com/office/drawing/2014/main" id="{81276EB5-9F96-370C-EF65-747814CBE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549" y="884758"/>
            <a:ext cx="4721773" cy="472177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9AE209A-946D-88CE-A6D9-F0E07162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687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70093-BC0A-E0C8-8E4A-B73C2194D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7D4082-E1B9-8D69-433E-7CD1BDF0F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7B6EA0-F222-1CC0-D78B-2FE2E54C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B04B61-B44C-5FAE-8629-157B46CF5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871721-676C-4498-1613-5807896D3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92EC921-96B9-F32A-C09A-89967EDAE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FF44AE-8556-A7D8-C791-74CD7B6F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960" y="2773777"/>
            <a:ext cx="340868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Takeoff: ChatGPT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5976044-2873-D616-F7F0-4E46788086E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>
                <a:solidFill>
                  <a:schemeClr val="bg1"/>
                </a:solidFill>
              </a:rPr>
              <a:t>2022</a:t>
            </a:r>
            <a:endParaRPr lang="de-DE" sz="3600" dirty="0">
              <a:solidFill>
                <a:schemeClr val="bg1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4E9374D-03E6-4813-1D30-3C37AEA75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7B58E6-E7FD-C7DD-4596-E19D35AA1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046" y="136525"/>
            <a:ext cx="4827960" cy="6026191"/>
          </a:xfrm>
          <a:prstGeom prst="rect">
            <a:avLst/>
          </a:prstGeom>
        </p:spPr>
      </p:pic>
      <p:pic>
        <p:nvPicPr>
          <p:cNvPr id="6" name="Grafik 5" descr="Ein Bild, das Text, Multimedia-Software, 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4DFCD716-2AA6-83E9-6E2A-7B09564F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725" y="3587179"/>
            <a:ext cx="5329423" cy="3194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56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2B703F-2C89-E9DC-7673-4F71E033D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87E012-DFCF-F7FD-2BB6-8297C70A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E28C69-DE9B-04D6-D901-CACEC9ACC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1E77A4-F3B6-3DB9-5AE7-99324B438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FD9F6-5E70-1C4F-5316-7EE7D6FCA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77B18F-E796-6D8E-09F2-61CA0FD42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23CA54-6E45-58A5-BA28-3925FC37D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5" y="2773777"/>
            <a:ext cx="390267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&amp; Tool Use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7DD348-901B-E101-8782-A053F2D7593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766A35D6-AE0A-C47F-0AD2-E2241214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748" y="1403707"/>
            <a:ext cx="4105171" cy="3683876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64F0BC9-4471-F497-B905-E068761B6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50" y="1403707"/>
            <a:ext cx="3934450" cy="3985546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98CA0A-0D10-4A46-DE2A-D96D1EF67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1067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28F35-1BA7-5709-1C2A-E2DAFB68B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723932-02FB-77DC-6245-058A7B643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C757C2-9751-7F5E-BF22-9C636FAE8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CE0CC1-66C3-5EEC-9B65-1FFE74F6B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28D81D-0564-4998-AB68-370CE310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A71FBA7-67F1-393F-3EFA-E1D91650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A5BBCF-9650-D1A2-FB6E-7E6E80896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629" y="2773777"/>
            <a:ext cx="329534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Models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38E1173-3D86-6778-488A-F7905214E76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2025</a:t>
            </a:r>
          </a:p>
        </p:txBody>
      </p:sp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92059CF-2C18-DE67-2A19-46D2D41D7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258" y="1943356"/>
            <a:ext cx="3965380" cy="2747597"/>
          </a:xfrm>
          <a:prstGeom prst="rect">
            <a:avLst/>
          </a:prstGeom>
        </p:spPr>
      </p:pic>
      <p:pic>
        <p:nvPicPr>
          <p:cNvPr id="11" name="Grafik 10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F8675C91-732F-7C14-EA76-D427AC273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102" y="1943356"/>
            <a:ext cx="4035795" cy="297085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97E49D0-DB89-1C47-C4F2-A0AB8FCD7F17}"/>
              </a:ext>
            </a:extLst>
          </p:cNvPr>
          <p:cNvSpPr txBox="1"/>
          <p:nvPr/>
        </p:nvSpPr>
        <p:spPr>
          <a:xfrm>
            <a:off x="1063647" y="5458581"/>
            <a:ext cx="1911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test-time scaling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8AE82BB-B0CD-FCAC-8AAC-F8081ACB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7738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BC8A4DE-07DC-D5C5-995D-80D716A02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Active</a:t>
            </a:r>
            <a:r>
              <a:rPr lang="de-DE" dirty="0"/>
              <a:t> Research Areas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05F226-3FDB-D6F2-B040-2C5EB21F3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agents</a:t>
            </a:r>
            <a:r>
              <a:rPr lang="de-DE" dirty="0"/>
              <a:t>: </a:t>
            </a:r>
            <a:r>
              <a:rPr lang="de-DE" dirty="0" err="1"/>
              <a:t>memory</a:t>
            </a:r>
            <a:r>
              <a:rPr lang="de-DE" dirty="0"/>
              <a:t>, </a:t>
            </a:r>
            <a:r>
              <a:rPr lang="de-DE" dirty="0" err="1"/>
              <a:t>planning</a:t>
            </a:r>
            <a:r>
              <a:rPr lang="de-DE" dirty="0"/>
              <a:t>, </a:t>
            </a:r>
            <a:r>
              <a:rPr lang="de-DE" dirty="0" err="1"/>
              <a:t>reasoning</a:t>
            </a:r>
            <a:r>
              <a:rPr lang="de-DE" dirty="0"/>
              <a:t>,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unification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, </a:t>
            </a:r>
            <a:r>
              <a:rPr lang="de-DE" dirty="0" err="1"/>
              <a:t>image</a:t>
            </a:r>
            <a:r>
              <a:rPr lang="de-DE" dirty="0"/>
              <a:t>, </a:t>
            </a:r>
            <a:r>
              <a:rPr lang="de-DE" dirty="0" err="1"/>
              <a:t>video</a:t>
            </a:r>
            <a:r>
              <a:rPr lang="de-DE" dirty="0"/>
              <a:t>, </a:t>
            </a:r>
            <a:r>
              <a:rPr lang="de-DE" dirty="0" err="1"/>
              <a:t>audio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efficiency</a:t>
            </a:r>
            <a:r>
              <a:rPr lang="de-DE" dirty="0"/>
              <a:t> (e.g., </a:t>
            </a:r>
            <a:r>
              <a:rPr lang="de-DE" dirty="0" err="1">
                <a:hlinkClick r:id="rId2"/>
              </a:rPr>
              <a:t>FlashAttention</a:t>
            </a:r>
            <a:r>
              <a:rPr lang="de-DE" dirty="0"/>
              <a:t>) and </a:t>
            </a:r>
            <a:r>
              <a:rPr lang="de-DE" dirty="0" err="1"/>
              <a:t>long-context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expert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domains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(SLMs)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</a:t>
            </a:r>
            <a:r>
              <a:rPr lang="de-DE" dirty="0"/>
              <a:t> alternatives (e.g., </a:t>
            </a:r>
            <a:r>
              <a:rPr lang="de-DE" dirty="0" err="1"/>
              <a:t>state-space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like </a:t>
            </a:r>
            <a:r>
              <a:rPr lang="de-DE" dirty="0">
                <a:hlinkClick r:id="rId3"/>
              </a:rPr>
              <a:t>Mamba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1AEA5F9-5D59-3280-454A-A3A916F52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682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F5FF58-C2EC-62AC-4ADB-21ECB7EA8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4690"/>
            <a:ext cx="6354522" cy="33411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83FAC3-F75B-B6B8-0209-1D6044F52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</a:t>
            </a:r>
            <a:r>
              <a:rPr lang="en-GB" dirty="0"/>
              <a:t>mage Classification with Vision Transformer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F8D07-1234-7E8D-4105-0DE29C8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24284-0E2A-DF95-48CA-A6EC920131B7}"/>
              </a:ext>
            </a:extLst>
          </p:cNvPr>
          <p:cNvSpPr txBox="1"/>
          <p:nvPr/>
        </p:nvSpPr>
        <p:spPr>
          <a:xfrm>
            <a:off x="5681133" y="4902130"/>
            <a:ext cx="6006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326D57-B4E5-7E18-072D-062071737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2722" y="1289420"/>
            <a:ext cx="3881678" cy="4007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82C59-9CB5-49FD-027A-D7616B7043D3}"/>
              </a:ext>
            </a:extLst>
          </p:cNvPr>
          <p:cNvSpPr txBox="1"/>
          <p:nvPr/>
        </p:nvSpPr>
        <p:spPr>
          <a:xfrm>
            <a:off x="381000" y="5430916"/>
            <a:ext cx="53682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formulation as sequential problem:</a:t>
            </a:r>
          </a:p>
          <a:p>
            <a:r>
              <a:rPr lang="en-GB" sz="2200" dirty="0"/>
              <a:t>split image into patches (tokens) and flatten, add positional embeddings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711E5-A148-18BC-EF8F-1A61C81EED33}"/>
              </a:ext>
            </a:extLst>
          </p:cNvPr>
          <p:cNvSpPr txBox="1"/>
          <p:nvPr/>
        </p:nvSpPr>
        <p:spPr>
          <a:xfrm>
            <a:off x="6354522" y="5430916"/>
            <a:ext cx="46098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processing by transformer encoder:</a:t>
            </a:r>
          </a:p>
          <a:p>
            <a:r>
              <a:rPr lang="en-GB" sz="2200" dirty="0"/>
              <a:t>pretrain with image labels, fine-tune on specific data set</a:t>
            </a:r>
          </a:p>
        </p:txBody>
      </p:sp>
    </p:spTree>
    <p:extLst>
      <p:ext uri="{BB962C8B-B14F-4D97-AF65-F5344CB8AC3E}">
        <p14:creationId xmlns:p14="http://schemas.microsoft.com/office/powerpoint/2010/main" val="30229901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244E75-20F2-AA71-1BBD-2E4E66A93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 Language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A5DDCA-B7D3-08A7-7732-B8DB59DA9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visual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CNNs, </a:t>
            </a:r>
            <a:r>
              <a:rPr lang="de-DE" dirty="0" err="1"/>
              <a:t>vision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 err="1"/>
              <a:t>extracts</a:t>
            </a:r>
            <a:r>
              <a:rPr lang="de-DE" dirty="0"/>
              <a:t> high-level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video</a:t>
            </a:r>
            <a:r>
              <a:rPr lang="de-DE" dirty="0"/>
              <a:t> </a:t>
            </a:r>
            <a:r>
              <a:rPr lang="de-DE" dirty="0" err="1"/>
              <a:t>frames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2"/>
            </a:pPr>
            <a:r>
              <a:rPr lang="de-DE" b="1" dirty="0" err="1"/>
              <a:t>text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BERT, GPT):</a:t>
            </a:r>
          </a:p>
          <a:p>
            <a:pPr marL="0" indent="0">
              <a:buNone/>
            </a:pP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understands</a:t>
            </a:r>
            <a:r>
              <a:rPr lang="de-DE" dirty="0"/>
              <a:t>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3"/>
            </a:pPr>
            <a:r>
              <a:rPr lang="de-DE" b="1" dirty="0"/>
              <a:t>multimodal </a:t>
            </a:r>
            <a:r>
              <a:rPr lang="de-DE" b="1" dirty="0" err="1"/>
              <a:t>fusion</a:t>
            </a:r>
            <a:r>
              <a:rPr lang="de-DE" b="1" dirty="0"/>
              <a:t> </a:t>
            </a:r>
            <a:r>
              <a:rPr lang="de-DE" b="1" dirty="0" err="1"/>
              <a:t>module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combines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cross</a:t>
            </a:r>
            <a:r>
              <a:rPr lang="de-DE" dirty="0"/>
              <a:t>-attention, </a:t>
            </a:r>
            <a:r>
              <a:rPr lang="de-DE" dirty="0" err="1"/>
              <a:t>concatenation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spaces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4"/>
            </a:pPr>
            <a:r>
              <a:rPr lang="de-DE" b="1" dirty="0" err="1"/>
              <a:t>decoder</a:t>
            </a:r>
            <a:r>
              <a:rPr lang="de-DE" b="1" dirty="0"/>
              <a:t> </a:t>
            </a:r>
            <a:r>
              <a:rPr lang="de-DE" b="1" dirty="0" err="1"/>
              <a:t>or</a:t>
            </a:r>
            <a:r>
              <a:rPr lang="de-DE" b="1" dirty="0"/>
              <a:t> </a:t>
            </a:r>
            <a:r>
              <a:rPr lang="de-DE" b="1" dirty="0" err="1"/>
              <a:t>task</a:t>
            </a:r>
            <a:r>
              <a:rPr lang="de-DE" b="1" dirty="0"/>
              <a:t> </a:t>
            </a:r>
            <a:r>
              <a:rPr lang="de-DE" b="1" dirty="0" err="1"/>
              <a:t>head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outputs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like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captioning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A33F8C-DEAB-A732-2021-BA01FE26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118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E988-5EB3-BD0F-E8D5-B9C538113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86241" cy="1325563"/>
          </a:xfrm>
        </p:spPr>
        <p:txBody>
          <a:bodyPr/>
          <a:lstStyle/>
          <a:p>
            <a:r>
              <a:rPr lang="en-DE" dirty="0"/>
              <a:t>Combination of Vision and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6A666-FC1D-9608-A07E-A7BE4AE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E53C3F-11B2-6603-4B76-ED477A74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904" y="3082550"/>
            <a:ext cx="8764192" cy="3162729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017680-C8C3-4448-E421-142A36644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023" y="1550605"/>
            <a:ext cx="11313952" cy="1298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200" dirty="0"/>
              <a:t>example: </a:t>
            </a:r>
            <a:r>
              <a:rPr lang="en-DE" sz="2200" dirty="0">
                <a:hlinkClick r:id="rId3"/>
              </a:rPr>
              <a:t>CLIP</a:t>
            </a:r>
            <a:r>
              <a:rPr lang="en-DE" sz="2200" dirty="0"/>
              <a:t> (</a:t>
            </a:r>
            <a:r>
              <a:rPr lang="en-GB" sz="2200" dirty="0"/>
              <a:t>Contrastive Language-Image Pre-training</a:t>
            </a:r>
            <a:r>
              <a:rPr lang="en-DE" sz="2200" dirty="0"/>
              <a:t>)</a:t>
            </a:r>
          </a:p>
          <a:p>
            <a:pPr marL="0" indent="0">
              <a:buNone/>
            </a:pPr>
            <a:r>
              <a:rPr lang="en-GB" sz="2200" dirty="0"/>
              <a:t>learn image representations by predicting which caption goes with which image (pretraining)</a:t>
            </a:r>
          </a:p>
          <a:p>
            <a:pPr marL="0" indent="0">
              <a:buNone/>
            </a:pPr>
            <a:r>
              <a:rPr lang="en-GB" sz="2200" dirty="0">
                <a:sym typeface="Wingdings" panose="05000000000000000000" pitchFamily="2" charset="2"/>
              </a:rPr>
              <a:t> </a:t>
            </a:r>
            <a:r>
              <a:rPr lang="en-GB" sz="2200" dirty="0"/>
              <a:t>z</a:t>
            </a:r>
            <a:r>
              <a:rPr lang="en-DE" sz="2200" dirty="0"/>
              <a:t>ero-shot transfer (e.g., for </a:t>
            </a:r>
            <a:r>
              <a:rPr lang="de-DE" sz="2200" dirty="0"/>
              <a:t>image classification</a:t>
            </a:r>
            <a:r>
              <a:rPr lang="en-DE" sz="22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3F93-34E7-65A2-FC76-2566B0B4E621}"/>
              </a:ext>
            </a:extLst>
          </p:cNvPr>
          <p:cNvSpPr txBox="1"/>
          <p:nvPr/>
        </p:nvSpPr>
        <p:spPr>
          <a:xfrm>
            <a:off x="2380735" y="5922113"/>
            <a:ext cx="12470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 err="1"/>
              <a:t>ViT</a:t>
            </a:r>
            <a:endParaRPr lang="en-GB" dirty="0"/>
          </a:p>
          <a:p>
            <a:r>
              <a:rPr lang="en-GB" dirty="0"/>
              <a:t>(or </a:t>
            </a:r>
            <a:r>
              <a:rPr lang="en-GB" dirty="0" err="1"/>
              <a:t>ResNet</a:t>
            </a:r>
            <a:r>
              <a:rPr lang="en-GB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F5D09-EB9B-FD8F-D77C-82EA85543FC9}"/>
              </a:ext>
            </a:extLst>
          </p:cNvPr>
          <p:cNvSpPr txBox="1"/>
          <p:nvPr/>
        </p:nvSpPr>
        <p:spPr>
          <a:xfrm>
            <a:off x="3405654" y="3130348"/>
            <a:ext cx="13046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8264-EE54-2A93-FC6E-01188FBD7C7C}"/>
              </a:ext>
            </a:extLst>
          </p:cNvPr>
          <p:cNvSpPr txBox="1"/>
          <p:nvPr/>
        </p:nvSpPr>
        <p:spPr>
          <a:xfrm>
            <a:off x="5276192" y="6208619"/>
            <a:ext cx="17972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cosine similarity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186A5AD-C177-EB81-8E8A-B822723EAFDD}"/>
              </a:ext>
            </a:extLst>
          </p:cNvPr>
          <p:cNvSpPr txBox="1"/>
          <p:nvPr/>
        </p:nvSpPr>
        <p:spPr>
          <a:xfrm>
            <a:off x="8675494" y="6367274"/>
            <a:ext cx="17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4"/>
              </a:rPr>
              <a:t>joint embedding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4191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AA7018-0A73-E913-F491-B248F1E8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02753B-EC34-0206-ABEC-C69F48702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: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captioning</a:t>
            </a:r>
            <a:r>
              <a:rPr lang="de-DE" dirty="0"/>
              <a:t>, </a:t>
            </a:r>
            <a:r>
              <a:rPr lang="de-DE" dirty="0" err="1"/>
              <a:t>visual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answering</a:t>
            </a:r>
            <a:endParaRPr lang="de-DE" dirty="0"/>
          </a:p>
          <a:p>
            <a:r>
              <a:rPr lang="de-DE" dirty="0"/>
              <a:t>BLIP2, </a:t>
            </a:r>
            <a:r>
              <a:rPr lang="de-DE" dirty="0" err="1"/>
              <a:t>LLaVA</a:t>
            </a:r>
            <a:r>
              <a:rPr lang="de-DE" dirty="0"/>
              <a:t>, …</a:t>
            </a:r>
          </a:p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568DE-01C6-B7B3-62AA-4B83429A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0690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0F39-9467-B333-1259-3CBFC52F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for Generative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D2441-554B-689D-A479-F2B3DED87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Depending on the application, there are currently two dominant approaches for generative AI: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text generation: decoder LLMs (autoregressive generation)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image synthesis: diffusion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AD4F-CAEB-0CD7-F23C-A3F1B83B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24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E4649-71FE-597E-B49B-ED50F4B6EB50}"/>
              </a:ext>
            </a:extLst>
          </p:cNvPr>
          <p:cNvSpPr txBox="1"/>
          <p:nvPr/>
        </p:nvSpPr>
        <p:spPr>
          <a:xfrm>
            <a:off x="613833" y="5586909"/>
            <a:ext cx="10964334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note the difference between image synthesis and multimodal understanding in LLMs (images as additional input sequences to transformer, tokenized by splitting into patches)</a:t>
            </a:r>
          </a:p>
        </p:txBody>
      </p:sp>
    </p:spTree>
    <p:extLst>
      <p:ext uri="{BB962C8B-B14F-4D97-AF65-F5344CB8AC3E}">
        <p14:creationId xmlns:p14="http://schemas.microsoft.com/office/powerpoint/2010/main" val="2707880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82D4E4-4A04-E3BD-2356-D27641ED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Synthesis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6F9F0-03FD-05E4-6517-B80089AA1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559" y="1825625"/>
            <a:ext cx="6767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generate new images as variations of training data (same distribution)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usually conditioned on text (prompt)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can be done with autoregressive models</a:t>
            </a:r>
          </a:p>
          <a:p>
            <a:r>
              <a:rPr lang="en-GB" dirty="0"/>
              <a:t>but diffusion models result in way higher photorealism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65202-B2A5-81F9-BBBF-C400C0475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35E83-81C8-D284-AE7E-2D86F9AD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048" y="579510"/>
            <a:ext cx="4706084" cy="5799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CEB74B-E4A9-72DD-5F67-F269AFAB4481}"/>
              </a:ext>
            </a:extLst>
          </p:cNvPr>
          <p:cNvSpPr txBox="1"/>
          <p:nvPr/>
        </p:nvSpPr>
        <p:spPr>
          <a:xfrm>
            <a:off x="8398912" y="136525"/>
            <a:ext cx="25783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DALL-E 2</a:t>
            </a:r>
          </a:p>
        </p:txBody>
      </p:sp>
    </p:spTree>
    <p:extLst>
      <p:ext uri="{BB962C8B-B14F-4D97-AF65-F5344CB8AC3E}">
        <p14:creationId xmlns:p14="http://schemas.microsoft.com/office/powerpoint/2010/main" val="2504258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11" descr="Ein Bild, das Text, Screenshot, Schrift, Karte Menü enthält.&#10;&#10;KI-generierte Inhalte können fehlerhaft sein.">
            <a:extLst>
              <a:ext uri="{FF2B5EF4-FFF2-40B4-BE49-F238E27FC236}">
                <a16:creationId xmlns:a16="http://schemas.microsoft.com/office/drawing/2014/main" id="{27E1DF8A-114C-928C-1D6F-C3C60BAF5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36798"/>
            <a:ext cx="6005383" cy="6384404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D058EA31-1E27-BBC4-D61E-744759C1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5257800" cy="1325563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evolution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multimodal </a:t>
            </a:r>
            <a:r>
              <a:rPr lang="de-DE" dirty="0" err="1"/>
              <a:t>assistants</a:t>
            </a:r>
            <a:r>
              <a:rPr lang="de-DE" dirty="0"/>
              <a:t>: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7D16B4-CFD9-4AC6-53FB-B97262409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558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495</Words>
  <Application>Microsoft Macintosh PowerPoint</Application>
  <PresentationFormat>Breitbild</PresentationFormat>
  <Paragraphs>136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Wingdings</vt:lpstr>
      <vt:lpstr>Office</vt:lpstr>
      <vt:lpstr>The Bigger Picture</vt:lpstr>
      <vt:lpstr>Course Contents</vt:lpstr>
      <vt:lpstr>This Part: The Bigger Picture</vt:lpstr>
      <vt:lpstr>Neural Networks as Language Models</vt:lpstr>
      <vt:lpstr>Deep Learning Rises</vt:lpstr>
      <vt:lpstr>Word Embeddings</vt:lpstr>
      <vt:lpstr>Machine Translation</vt:lpstr>
      <vt:lpstr>Attention Mechanism</vt:lpstr>
      <vt:lpstr>Transformers Take Over</vt:lpstr>
      <vt:lpstr>GPT &amp; BERT</vt:lpstr>
      <vt:lpstr>Prompting: GPT-2</vt:lpstr>
      <vt:lpstr>Scaling Laws</vt:lpstr>
      <vt:lpstr>GPT-3</vt:lpstr>
      <vt:lpstr>Vision Transformer</vt:lpstr>
      <vt:lpstr>Text-to-Image: DALL-E</vt:lpstr>
      <vt:lpstr>Takeoff: ChatGPT</vt:lpstr>
      <vt:lpstr>Reasoning &amp; Tool Use</vt:lpstr>
      <vt:lpstr>Reasoning Models</vt:lpstr>
      <vt:lpstr>Active Research Areas</vt:lpstr>
      <vt:lpstr>Image Classification with Vision Transformer</vt:lpstr>
      <vt:lpstr>Vision Language Models</vt:lpstr>
      <vt:lpstr>Combination of Vision and Text</vt:lpstr>
      <vt:lpstr>PowerPoint-Präsentation</vt:lpstr>
      <vt:lpstr>Deep Learning for Generative AI</vt:lpstr>
      <vt:lpstr>Image Synthesis</vt:lpstr>
      <vt:lpstr>evolution from chat to multimodal assistants: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49</cp:revision>
  <dcterms:created xsi:type="dcterms:W3CDTF">2025-07-07T13:23:51Z</dcterms:created>
  <dcterms:modified xsi:type="dcterms:W3CDTF">2025-09-09T15:52:27Z</dcterms:modified>
</cp:coreProperties>
</file>