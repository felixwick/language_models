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792" r:id="rId3"/>
    <p:sldId id="790" r:id="rId4"/>
    <p:sldId id="827" r:id="rId5"/>
    <p:sldId id="825" r:id="rId6"/>
    <p:sldId id="828" r:id="rId7"/>
    <p:sldId id="829" r:id="rId8"/>
    <p:sldId id="824" r:id="rId9"/>
    <p:sldId id="830" r:id="rId10"/>
    <p:sldId id="831" r:id="rId11"/>
    <p:sldId id="832" r:id="rId12"/>
    <p:sldId id="802" r:id="rId13"/>
    <p:sldId id="805" r:id="rId14"/>
    <p:sldId id="806" r:id="rId15"/>
    <p:sldId id="823" r:id="rId16"/>
    <p:sldId id="826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74"/>
    <p:restoredTop sz="94694"/>
  </p:normalViewPr>
  <p:slideViewPr>
    <p:cSldViewPr snapToGrid="0">
      <p:cViewPr varScale="1">
        <p:scale>
          <a:sx n="121" d="100"/>
          <a:sy n="121" d="100"/>
        </p:scale>
        <p:origin x="7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1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519D53-7573-1F4C-A513-AAE16AFC96C6}" type="datetimeFigureOut">
              <a:rPr lang="de-DE" smtClean="0"/>
              <a:t>15.09.25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8A2E8-A435-8A47-AB03-790F58936DE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5880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62C59-1507-9441-B565-D4065B894855}" type="datetime1">
              <a:rPr lang="de-DE" smtClean="0"/>
              <a:t>15.09.25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5C61-1C29-884D-9C8D-6470B93E4A99}" type="datetime1">
              <a:rPr lang="de-DE" smtClean="0"/>
              <a:t>15.09.25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1EBB2-222E-DF40-AB6A-7CFEF7FA204F}" type="datetime1">
              <a:rPr lang="de-DE" smtClean="0"/>
              <a:t>15.09.25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40079-4F23-AB42-BCF1-78B0528DF5B8}" type="datetime1">
              <a:rPr lang="de-DE" smtClean="0"/>
              <a:t>15.09.25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CE1859-6BB9-6A47-B1E8-B5EE50205430}" type="datetime1">
              <a:rPr lang="de-DE" smtClean="0"/>
              <a:t>15.09.25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A3AF8-477A-F745-BE12-CBF5B6AF8AF5}" type="datetime1">
              <a:rPr lang="de-DE" smtClean="0"/>
              <a:t>15.09.25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C8D03C-F3C7-4840-97DE-74E252A0D704}" type="datetime1">
              <a:rPr lang="de-DE" smtClean="0"/>
              <a:t>15.09.25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77C8F-59D0-6F42-B7BC-3EFE02C7F3B0}" type="datetime1">
              <a:rPr lang="de-DE" smtClean="0"/>
              <a:t>15.09.25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0719-F3CB-FC42-81C8-986BB63D2B42}" type="datetime1">
              <a:rPr lang="de-DE" smtClean="0"/>
              <a:t>15.09.25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007F1-B048-F74F-94E9-B2E80E64133E}" type="datetime1">
              <a:rPr lang="de-DE" smtClean="0"/>
              <a:t>15.09.25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923C8E-2E98-FF45-8F72-EEB7AFDB3E39}" type="datetime1">
              <a:rPr lang="de-DE" smtClean="0"/>
              <a:t>15.09.25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072FC9-7DB9-534B-8ED1-284A1B79BFC4}" type="datetime1">
              <a:rPr lang="de-DE" smtClean="0"/>
              <a:t>15.09.25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docs/guides/prompt-engineering" TargetMode="External"/><Relationship Id="rId2" Type="http://schemas.openxmlformats.org/officeDocument/2006/relationships/hyperlink" Target="https://www.promptingguide.ai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4165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arxiv.org/abs/2005.11401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mptingguide.ai/research/rag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storage.googleapis.com/deepmind-media/gemini/gemini_v1_5_report.pdf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7961477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35085C-F718-BAF1-A787-9DA928AE2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</a:t>
            </a:r>
            <a:r>
              <a:rPr lang="de-DE" dirty="0" err="1"/>
              <a:t>Context</a:t>
            </a:r>
            <a:r>
              <a:rPr lang="de-DE" dirty="0"/>
              <a:t>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/>
              <a:t>prompt </a:t>
            </a:r>
            <a:r>
              <a:rPr lang="de-DE" dirty="0" err="1"/>
              <a:t>engineering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in-</a:t>
            </a:r>
            <a:r>
              <a:rPr lang="de-DE" dirty="0" err="1"/>
              <a:t>context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RAG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72AAFB-0A70-7DBF-673F-715BADC81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99E919-1BF6-6059-F5E3-8A43D8CB1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Prompt Engineering?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46FA7B-F25F-897C-5C5D-86CB4BFDD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/>
              <a:t>human–</a:t>
            </a:r>
            <a:r>
              <a:rPr lang="de-DE" sz="2600" dirty="0" err="1"/>
              <a:t>model</a:t>
            </a:r>
            <a:r>
              <a:rPr lang="de-DE" sz="2600" dirty="0"/>
              <a:t> </a:t>
            </a:r>
            <a:r>
              <a:rPr lang="de-DE" sz="2600" dirty="0" err="1"/>
              <a:t>interaction</a:t>
            </a:r>
            <a:r>
              <a:rPr lang="de-DE" sz="2600" dirty="0"/>
              <a:t> design</a:t>
            </a:r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difference</a:t>
            </a:r>
            <a:r>
              <a:rPr lang="de-DE" sz="2600" dirty="0"/>
              <a:t> </a:t>
            </a:r>
            <a:r>
              <a:rPr lang="de-DE" sz="2600" dirty="0" err="1"/>
              <a:t>from</a:t>
            </a:r>
            <a:r>
              <a:rPr lang="de-DE" sz="2600" dirty="0"/>
              <a:t> traditional </a:t>
            </a:r>
            <a:r>
              <a:rPr lang="de-DE" sz="2600" dirty="0" err="1"/>
              <a:t>programming</a:t>
            </a:r>
            <a:r>
              <a:rPr lang="de-DE" sz="2600" dirty="0"/>
              <a:t>: </a:t>
            </a:r>
            <a:r>
              <a:rPr lang="de-DE" sz="2600" dirty="0" err="1"/>
              <a:t>probabilistic</a:t>
            </a:r>
            <a:r>
              <a:rPr lang="de-DE" sz="2600" dirty="0"/>
              <a:t>, not </a:t>
            </a:r>
            <a:r>
              <a:rPr lang="de-DE" sz="2600" dirty="0" err="1"/>
              <a:t>deterministic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/>
              <a:t>why</a:t>
            </a:r>
            <a:r>
              <a:rPr lang="de-DE" sz="2600" dirty="0"/>
              <a:t> </a:t>
            </a:r>
            <a:r>
              <a:rPr lang="de-DE" sz="2600" dirty="0" err="1"/>
              <a:t>it</a:t>
            </a:r>
            <a:r>
              <a:rPr lang="de-DE" sz="2600" dirty="0"/>
              <a:t> </a:t>
            </a:r>
            <a:r>
              <a:rPr lang="de-DE" sz="2600" dirty="0" err="1"/>
              <a:t>matters</a:t>
            </a:r>
            <a:r>
              <a:rPr lang="de-DE" sz="2600" dirty="0"/>
              <a:t>:</a:t>
            </a:r>
          </a:p>
          <a:p>
            <a:r>
              <a:rPr lang="de-DE" sz="2600" dirty="0" err="1"/>
              <a:t>performance</a:t>
            </a:r>
            <a:r>
              <a:rPr lang="de-DE" sz="2600" dirty="0"/>
              <a:t> </a:t>
            </a:r>
            <a:r>
              <a:rPr lang="de-DE" sz="2600" dirty="0" err="1"/>
              <a:t>without</a:t>
            </a:r>
            <a:r>
              <a:rPr lang="de-DE" sz="2600" dirty="0"/>
              <a:t> </a:t>
            </a:r>
            <a:r>
              <a:rPr lang="de-DE" sz="2600" dirty="0" err="1"/>
              <a:t>fine</a:t>
            </a:r>
            <a:r>
              <a:rPr lang="de-DE" sz="2600" dirty="0"/>
              <a:t>-tuning</a:t>
            </a:r>
          </a:p>
          <a:p>
            <a:r>
              <a:rPr lang="de-DE" sz="2600" dirty="0" err="1"/>
              <a:t>reducing</a:t>
            </a:r>
            <a:r>
              <a:rPr lang="de-DE" sz="2600" dirty="0"/>
              <a:t> </a:t>
            </a:r>
            <a:r>
              <a:rPr lang="de-DE" sz="2600" dirty="0" err="1"/>
              <a:t>hallucination</a:t>
            </a:r>
            <a:r>
              <a:rPr lang="de-DE" sz="2600" dirty="0"/>
              <a:t>, </a:t>
            </a:r>
            <a:r>
              <a:rPr lang="de-DE" sz="2600" dirty="0" err="1"/>
              <a:t>bias</a:t>
            </a:r>
            <a:r>
              <a:rPr lang="de-DE" sz="2600" dirty="0"/>
              <a:t>, </a:t>
            </a:r>
            <a:r>
              <a:rPr lang="de-DE" sz="2600" dirty="0" err="1"/>
              <a:t>or</a:t>
            </a:r>
            <a:r>
              <a:rPr lang="de-DE" sz="2600" dirty="0"/>
              <a:t> </a:t>
            </a:r>
            <a:r>
              <a:rPr lang="de-DE" sz="2600" dirty="0" err="1"/>
              <a:t>inefficiency</a:t>
            </a:r>
            <a:endParaRPr lang="de-DE" sz="2600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D94247F-54E0-F975-9B44-BD1DC953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2405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C7A33C-A9B9-D27B-1877-BF88E904B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 Engineering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D060F6-CDD3-3D72-4BA2-4E50FA07B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idea: shape model </a:t>
            </a:r>
            <a:r>
              <a:rPr lang="en-GB" dirty="0" err="1"/>
              <a:t>behavior</a:t>
            </a:r>
            <a:r>
              <a:rPr lang="en-GB" dirty="0"/>
              <a:t> using well-structured prompts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typical prompt:</a:t>
            </a:r>
          </a:p>
          <a:p>
            <a:pPr marL="0" indent="0">
              <a:buNone/>
            </a:pPr>
            <a:r>
              <a:rPr lang="en-GB" dirty="0"/>
              <a:t>instructions, context, query, output indicator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…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FB219B-966E-EB78-91A4-A34FFA382F83}"/>
              </a:ext>
            </a:extLst>
          </p:cNvPr>
          <p:cNvSpPr txBox="1"/>
          <p:nvPr/>
        </p:nvSpPr>
        <p:spPr>
          <a:xfrm>
            <a:off x="838200" y="5992297"/>
            <a:ext cx="3333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hlinkClick r:id="rId2"/>
              </a:rPr>
              <a:t>prompt engineering</a:t>
            </a:r>
            <a:r>
              <a:rPr lang="en-GB" dirty="0"/>
              <a:t>, </a:t>
            </a:r>
            <a:r>
              <a:rPr lang="en-GB" dirty="0">
                <a:hlinkClick r:id="rId3"/>
              </a:rPr>
              <a:t>GPT guide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724750-EB8F-43BA-BAB4-8FBC7A6AA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76400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C3DF16-6D76-712A-8654-EFD2E306E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Core </a:t>
            </a:r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Techniques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9EF5D6-7BD3-10BD-F028-B98523D30F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instruction-based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(e.g., </a:t>
            </a:r>
            <a:r>
              <a:rPr lang="de-DE" dirty="0" err="1"/>
              <a:t>clarity</a:t>
            </a:r>
            <a:r>
              <a:rPr lang="de-DE" dirty="0"/>
              <a:t>, </a:t>
            </a:r>
            <a:r>
              <a:rPr lang="de-DE" dirty="0" err="1"/>
              <a:t>directness</a:t>
            </a:r>
            <a:r>
              <a:rPr lang="de-DE" dirty="0"/>
              <a:t>, </a:t>
            </a:r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assignment</a:t>
            </a:r>
            <a:r>
              <a:rPr lang="de-DE" dirty="0"/>
              <a:t>)</a:t>
            </a:r>
          </a:p>
          <a:p>
            <a:r>
              <a:rPr lang="de-DE" dirty="0" err="1"/>
              <a:t>few-shot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</a:t>
            </a:r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steer</a:t>
            </a:r>
            <a:r>
              <a:rPr lang="de-DE" dirty="0"/>
              <a:t> </a:t>
            </a:r>
            <a:r>
              <a:rPr lang="de-DE" dirty="0" err="1"/>
              <a:t>behavior</a:t>
            </a:r>
            <a:r>
              <a:rPr lang="de-DE" dirty="0"/>
              <a:t>)</a:t>
            </a:r>
          </a:p>
          <a:p>
            <a:r>
              <a:rPr lang="de-DE" dirty="0"/>
              <a:t>zero-</a:t>
            </a:r>
            <a:r>
              <a:rPr lang="de-DE" dirty="0" err="1"/>
              <a:t>shot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vs. </a:t>
            </a:r>
            <a:r>
              <a:rPr lang="de-DE" dirty="0" err="1"/>
              <a:t>few-shot</a:t>
            </a:r>
            <a:r>
              <a:rPr lang="de-DE" dirty="0"/>
              <a:t> vs. </a:t>
            </a:r>
            <a:r>
              <a:rPr lang="de-DE" dirty="0" err="1"/>
              <a:t>many-shot</a:t>
            </a:r>
            <a:endParaRPr lang="de-DE" dirty="0"/>
          </a:p>
          <a:p>
            <a:r>
              <a:rPr lang="de-DE" dirty="0" err="1"/>
              <a:t>chain-of-thought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(explicit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, </a:t>
            </a:r>
            <a:r>
              <a:rPr lang="de-DE" dirty="0" err="1"/>
              <a:t>pros</a:t>
            </a:r>
            <a:r>
              <a:rPr lang="de-DE" dirty="0"/>
              <a:t>/</a:t>
            </a:r>
            <a:r>
              <a:rPr lang="de-DE" dirty="0" err="1"/>
              <a:t>cons</a:t>
            </a:r>
            <a:r>
              <a:rPr lang="de-DE" dirty="0"/>
              <a:t>)</a:t>
            </a:r>
          </a:p>
          <a:p>
            <a:r>
              <a:rPr lang="de-DE" dirty="0" err="1"/>
              <a:t>self-consistency</a:t>
            </a:r>
            <a:r>
              <a:rPr lang="de-DE" dirty="0"/>
              <a:t> and </a:t>
            </a:r>
            <a:r>
              <a:rPr lang="de-DE" dirty="0" err="1"/>
              <a:t>sampling</a:t>
            </a:r>
            <a:r>
              <a:rPr lang="de-DE" dirty="0"/>
              <a:t> </a:t>
            </a:r>
            <a:r>
              <a:rPr lang="de-DE" dirty="0" err="1"/>
              <a:t>strategies</a:t>
            </a:r>
            <a:endParaRPr lang="de-DE" dirty="0"/>
          </a:p>
          <a:p>
            <a:r>
              <a:rPr lang="de-DE" dirty="0" err="1"/>
              <a:t>role-playing</a:t>
            </a:r>
            <a:r>
              <a:rPr lang="de-DE" dirty="0"/>
              <a:t> and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prompts</a:t>
            </a:r>
            <a:r>
              <a:rPr lang="de-DE" dirty="0"/>
              <a:t> (</a:t>
            </a:r>
            <a:r>
              <a:rPr lang="de-DE" dirty="0" err="1"/>
              <a:t>teacher</a:t>
            </a:r>
            <a:r>
              <a:rPr lang="de-DE" dirty="0"/>
              <a:t>, </a:t>
            </a:r>
            <a:r>
              <a:rPr lang="de-DE" dirty="0" err="1"/>
              <a:t>critic</a:t>
            </a:r>
            <a:r>
              <a:rPr lang="de-DE" dirty="0"/>
              <a:t>, </a:t>
            </a:r>
            <a:r>
              <a:rPr lang="de-DE" dirty="0" err="1"/>
              <a:t>planner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2F862A4-0644-E016-B192-3CDDAF9E5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0059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33482-1D73-9C1F-9322-CC9277D4D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Advanced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Paradigms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B2620-B248-BF07-BF71-C32F7502B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program-aided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(e.g., </a:t>
            </a:r>
            <a:r>
              <a:rPr lang="de-DE" dirty="0" err="1"/>
              <a:t>grounding</a:t>
            </a:r>
            <a:r>
              <a:rPr lang="de-DE" dirty="0"/>
              <a:t> </a:t>
            </a:r>
            <a:r>
              <a:rPr lang="de-DE" dirty="0" err="1"/>
              <a:t>outputs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tools</a:t>
            </a:r>
            <a:r>
              <a:rPr lang="de-DE" dirty="0"/>
              <a:t>, code)</a:t>
            </a:r>
          </a:p>
          <a:p>
            <a:r>
              <a:rPr lang="de-DE" dirty="0" err="1"/>
              <a:t>retrieval-augmented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(RAG)</a:t>
            </a:r>
          </a:p>
          <a:p>
            <a:r>
              <a:rPr lang="de-DE" dirty="0" err="1"/>
              <a:t>scaffolding</a:t>
            </a:r>
            <a:r>
              <a:rPr lang="de-DE" dirty="0"/>
              <a:t>: multi-turn prompt </a:t>
            </a:r>
            <a:r>
              <a:rPr lang="de-DE" dirty="0" err="1"/>
              <a:t>orchestration</a:t>
            </a:r>
            <a:r>
              <a:rPr lang="de-DE" dirty="0"/>
              <a:t>, </a:t>
            </a:r>
            <a:r>
              <a:rPr lang="de-DE" dirty="0" err="1"/>
              <a:t>planning</a:t>
            </a:r>
            <a:r>
              <a:rPr lang="de-DE" dirty="0"/>
              <a:t>, </a:t>
            </a:r>
            <a:r>
              <a:rPr lang="de-DE" dirty="0" err="1"/>
              <a:t>subtask</a:t>
            </a:r>
            <a:r>
              <a:rPr lang="de-DE" dirty="0"/>
              <a:t> </a:t>
            </a:r>
            <a:r>
              <a:rPr lang="de-DE" dirty="0" err="1"/>
              <a:t>decomposition</a:t>
            </a:r>
            <a:endParaRPr lang="de-DE" dirty="0"/>
          </a:p>
          <a:p>
            <a:r>
              <a:rPr lang="de-DE" dirty="0"/>
              <a:t>meta-prompts / prompt </a:t>
            </a:r>
            <a:r>
              <a:rPr lang="de-DE" dirty="0" err="1"/>
              <a:t>templates</a:t>
            </a:r>
            <a:r>
              <a:rPr lang="de-DE" dirty="0"/>
              <a:t> (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prompt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another</a:t>
            </a:r>
            <a:r>
              <a:rPr lang="de-DE" dirty="0"/>
              <a:t>)</a:t>
            </a:r>
          </a:p>
          <a:p>
            <a:r>
              <a:rPr lang="de-DE" dirty="0"/>
              <a:t>prompt </a:t>
            </a:r>
            <a:r>
              <a:rPr lang="de-DE" dirty="0" err="1"/>
              <a:t>chaining</a:t>
            </a:r>
            <a:r>
              <a:rPr lang="de-DE" dirty="0"/>
              <a:t> and </a:t>
            </a:r>
            <a:r>
              <a:rPr lang="de-DE" dirty="0" err="1"/>
              <a:t>agent</a:t>
            </a:r>
            <a:r>
              <a:rPr lang="de-DE" dirty="0"/>
              <a:t> </a:t>
            </a:r>
            <a:r>
              <a:rPr lang="de-DE" dirty="0" err="1"/>
              <a:t>frameworks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534D5F7-BD71-8004-DA10-A80E1B01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4049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5CDEDD-8550-D6CF-270E-FA8E675B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Role</a:t>
            </a:r>
            <a:r>
              <a:rPr lang="de-DE" dirty="0"/>
              <a:t> </a:t>
            </a:r>
            <a:r>
              <a:rPr lang="de-DE" dirty="0" err="1"/>
              <a:t>Prompting</a:t>
            </a:r>
            <a:endParaRPr lang="de-DE" dirty="0"/>
          </a:p>
        </p:txBody>
      </p:sp>
      <p:pic>
        <p:nvPicPr>
          <p:cNvPr id="7" name="Grafik 6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2587BFA8-4331-F6AF-FB91-2CE925ACF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35559"/>
            <a:ext cx="7772400" cy="3257219"/>
          </a:xfrm>
          <a:prstGeom prst="rect">
            <a:avLst/>
          </a:prstGeom>
        </p:spPr>
      </p:pic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78342ED-09AA-307C-9DDA-D725611A9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7585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11CE1A-B137-1313-B837-40524C50B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Applications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D3E09B-4B15-674D-40B9-C42692C7BF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prompt design </a:t>
            </a:r>
            <a:r>
              <a:rPr lang="de-DE" dirty="0" err="1"/>
              <a:t>for</a:t>
            </a:r>
            <a:r>
              <a:rPr lang="de-DE" dirty="0"/>
              <a:t> different </a:t>
            </a:r>
            <a:r>
              <a:rPr lang="de-DE" dirty="0" err="1"/>
              <a:t>tasks</a:t>
            </a:r>
            <a:r>
              <a:rPr lang="de-DE" dirty="0"/>
              <a:t> (</a:t>
            </a:r>
            <a:r>
              <a:rPr lang="de-DE" dirty="0" err="1"/>
              <a:t>classification</a:t>
            </a:r>
            <a:r>
              <a:rPr lang="de-DE" dirty="0"/>
              <a:t>, </a:t>
            </a:r>
            <a:r>
              <a:rPr lang="de-DE" dirty="0" err="1"/>
              <a:t>summarization</a:t>
            </a:r>
            <a:r>
              <a:rPr lang="de-DE" dirty="0"/>
              <a:t>, </a:t>
            </a:r>
            <a:r>
              <a:rPr lang="de-DE" dirty="0" err="1"/>
              <a:t>reasoning</a:t>
            </a:r>
            <a:r>
              <a:rPr lang="de-DE" dirty="0"/>
              <a:t>, </a:t>
            </a:r>
            <a:r>
              <a:rPr lang="de-DE" dirty="0" err="1"/>
              <a:t>knowledge</a:t>
            </a:r>
            <a:r>
              <a:rPr lang="de-DE" dirty="0"/>
              <a:t> </a:t>
            </a:r>
            <a:r>
              <a:rPr lang="de-DE" dirty="0" err="1"/>
              <a:t>extraction</a:t>
            </a:r>
            <a:r>
              <a:rPr lang="de-DE" dirty="0"/>
              <a:t>, </a:t>
            </a:r>
            <a:r>
              <a:rPr lang="de-DE" dirty="0" err="1"/>
              <a:t>creative</a:t>
            </a:r>
            <a:r>
              <a:rPr lang="de-DE" dirty="0"/>
              <a:t> </a:t>
            </a:r>
            <a:r>
              <a:rPr lang="de-DE" dirty="0" err="1"/>
              <a:t>generation</a:t>
            </a:r>
            <a:r>
              <a:rPr lang="de-DE" dirty="0"/>
              <a:t>)</a:t>
            </a:r>
          </a:p>
          <a:p>
            <a:r>
              <a:rPr lang="de-DE" dirty="0"/>
              <a:t>domain-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(</a:t>
            </a:r>
            <a:r>
              <a:rPr lang="de-DE" dirty="0" err="1"/>
              <a:t>law</a:t>
            </a:r>
            <a:r>
              <a:rPr lang="de-DE" dirty="0"/>
              <a:t>, </a:t>
            </a:r>
            <a:r>
              <a:rPr lang="de-DE" dirty="0" err="1"/>
              <a:t>medicine</a:t>
            </a:r>
            <a:r>
              <a:rPr lang="de-DE" dirty="0"/>
              <a:t>, </a:t>
            </a:r>
            <a:r>
              <a:rPr lang="de-DE" dirty="0" err="1"/>
              <a:t>education</a:t>
            </a:r>
            <a:r>
              <a:rPr lang="de-DE" dirty="0"/>
              <a:t>).</a:t>
            </a:r>
          </a:p>
          <a:p>
            <a:r>
              <a:rPr lang="de-DE" dirty="0" err="1"/>
              <a:t>interactive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r>
              <a:rPr lang="de-DE" dirty="0"/>
              <a:t>: </a:t>
            </a:r>
            <a:r>
              <a:rPr lang="de-DE" dirty="0" err="1"/>
              <a:t>chatbots</a:t>
            </a:r>
            <a:r>
              <a:rPr lang="de-DE" dirty="0"/>
              <a:t>, </a:t>
            </a:r>
            <a:r>
              <a:rPr lang="de-DE" dirty="0" err="1"/>
              <a:t>tutoring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, code </a:t>
            </a:r>
            <a:r>
              <a:rPr lang="de-DE" dirty="0" err="1"/>
              <a:t>assistants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D0C272A-3DA1-0768-9B69-286E49022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8145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D97957-4282-2B1F-43D3-034B1AB42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Research </a:t>
            </a:r>
            <a:r>
              <a:rPr lang="de-DE" dirty="0" err="1"/>
              <a:t>Directions</a:t>
            </a:r>
            <a:r>
              <a:rPr lang="de-DE" dirty="0"/>
              <a:t> &amp; Open Questions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A6118B5-A54A-87AC-1C76-DFFE0E3DD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automated</a:t>
            </a:r>
            <a:r>
              <a:rPr lang="de-DE" dirty="0"/>
              <a:t> prompt </a:t>
            </a:r>
            <a:r>
              <a:rPr lang="de-DE" dirty="0" err="1"/>
              <a:t>generation</a:t>
            </a:r>
            <a:r>
              <a:rPr lang="de-DE" dirty="0"/>
              <a:t> and </a:t>
            </a:r>
            <a:r>
              <a:rPr lang="de-DE" dirty="0" err="1"/>
              <a:t>optimization</a:t>
            </a:r>
            <a:endParaRPr lang="de-DE" dirty="0"/>
          </a:p>
          <a:p>
            <a:r>
              <a:rPr lang="de-DE" dirty="0"/>
              <a:t>prompt </a:t>
            </a:r>
            <a:r>
              <a:rPr lang="de-DE" dirty="0" err="1"/>
              <a:t>tuning</a:t>
            </a:r>
            <a:r>
              <a:rPr lang="de-DE" dirty="0"/>
              <a:t> / soft </a:t>
            </a:r>
            <a:r>
              <a:rPr lang="de-DE" dirty="0" err="1"/>
              <a:t>prompts</a:t>
            </a:r>
            <a:r>
              <a:rPr lang="de-DE" dirty="0"/>
              <a:t> vs. human-</a:t>
            </a:r>
            <a:r>
              <a:rPr lang="de-DE" dirty="0" err="1"/>
              <a:t>authored</a:t>
            </a:r>
            <a:r>
              <a:rPr lang="de-DE" dirty="0"/>
              <a:t> </a:t>
            </a:r>
            <a:r>
              <a:rPr lang="de-DE" dirty="0" err="1"/>
              <a:t>prompts</a:t>
            </a:r>
            <a:endParaRPr lang="de-DE" dirty="0"/>
          </a:p>
          <a:p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(</a:t>
            </a:r>
            <a:r>
              <a:rPr lang="de-DE" dirty="0" err="1"/>
              <a:t>transferability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prompts</a:t>
            </a:r>
            <a:r>
              <a:rPr lang="de-DE" dirty="0"/>
              <a:t>)</a:t>
            </a:r>
          </a:p>
          <a:p>
            <a:r>
              <a:rPr lang="de-DE" dirty="0"/>
              <a:t>human–AI </a:t>
            </a:r>
            <a:r>
              <a:rPr lang="de-DE" dirty="0" err="1"/>
              <a:t>co</a:t>
            </a:r>
            <a:r>
              <a:rPr lang="de-DE" dirty="0"/>
              <a:t>-design: </a:t>
            </a:r>
            <a:r>
              <a:rPr lang="de-DE" dirty="0" err="1"/>
              <a:t>is</a:t>
            </a:r>
            <a:r>
              <a:rPr lang="de-DE" dirty="0"/>
              <a:t> prompt </a:t>
            </a:r>
            <a:r>
              <a:rPr lang="de-DE" dirty="0" err="1"/>
              <a:t>engineering</a:t>
            </a:r>
            <a:r>
              <a:rPr lang="de-DE" dirty="0"/>
              <a:t> a </a:t>
            </a:r>
            <a:r>
              <a:rPr lang="de-DE" dirty="0" err="1"/>
              <a:t>long</a:t>
            </a:r>
            <a:r>
              <a:rPr lang="de-DE" dirty="0"/>
              <a:t>-term </a:t>
            </a:r>
            <a:r>
              <a:rPr lang="de-DE" dirty="0" err="1"/>
              <a:t>discipline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bridge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user-</a:t>
            </a:r>
            <a:r>
              <a:rPr lang="de-DE" dirty="0" err="1"/>
              <a:t>friendly</a:t>
            </a:r>
            <a:r>
              <a:rPr lang="de-DE" dirty="0"/>
              <a:t> </a:t>
            </a:r>
            <a:r>
              <a:rPr lang="de-DE" dirty="0" err="1"/>
              <a:t>interfaces</a:t>
            </a:r>
            <a:r>
              <a:rPr lang="de-DE" dirty="0"/>
              <a:t>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6CEB08-775B-9CB2-0563-2223DE119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8806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D6F13-4F18-3CE3-4D4E-677A91FD5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Hands-On </a:t>
            </a:r>
            <a:r>
              <a:rPr lang="de-DE" dirty="0" err="1"/>
              <a:t>Exercise</a:t>
            </a:r>
            <a:r>
              <a:rPr lang="de-DE" dirty="0"/>
              <a:t> </a:t>
            </a:r>
            <a:r>
              <a:rPr lang="de-DE" dirty="0" err="1"/>
              <a:t>Ideas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32FA39-DD73-CEC7-4E2B-860A5C8103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compare</a:t>
            </a:r>
            <a:r>
              <a:rPr lang="de-DE" dirty="0"/>
              <a:t> zero-</a:t>
            </a:r>
            <a:r>
              <a:rPr lang="de-DE" dirty="0" err="1"/>
              <a:t>shot</a:t>
            </a:r>
            <a:r>
              <a:rPr lang="de-DE" dirty="0"/>
              <a:t> vs. </a:t>
            </a:r>
            <a:r>
              <a:rPr lang="de-DE" dirty="0" err="1"/>
              <a:t>few-shot</a:t>
            </a:r>
            <a:r>
              <a:rPr lang="de-DE" dirty="0"/>
              <a:t> vs. </a:t>
            </a:r>
            <a:r>
              <a:rPr lang="de-DE" dirty="0" err="1"/>
              <a:t>CoT</a:t>
            </a:r>
            <a:r>
              <a:rPr lang="de-DE" dirty="0"/>
              <a:t> on a </a:t>
            </a:r>
            <a:r>
              <a:rPr lang="de-DE" dirty="0" err="1"/>
              <a:t>reasoning</a:t>
            </a:r>
            <a:r>
              <a:rPr lang="de-DE" dirty="0"/>
              <a:t> </a:t>
            </a:r>
            <a:r>
              <a:rPr lang="de-DE" dirty="0" err="1"/>
              <a:t>problem</a:t>
            </a:r>
            <a:r>
              <a:rPr lang="de-DE" dirty="0"/>
              <a:t>.</a:t>
            </a:r>
          </a:p>
          <a:p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sensitivity</a:t>
            </a:r>
            <a:r>
              <a:rPr lang="de-DE" dirty="0"/>
              <a:t>: </a:t>
            </a:r>
            <a:r>
              <a:rPr lang="de-DE" dirty="0" err="1"/>
              <a:t>rephrase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instruction</a:t>
            </a:r>
            <a:r>
              <a:rPr lang="de-DE" dirty="0"/>
              <a:t> in 3 </a:t>
            </a:r>
            <a:r>
              <a:rPr lang="de-DE" dirty="0" err="1"/>
              <a:t>ways</a:t>
            </a:r>
            <a:r>
              <a:rPr lang="de-DE" dirty="0"/>
              <a:t>,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.</a:t>
            </a:r>
          </a:p>
          <a:p>
            <a:r>
              <a:rPr lang="de-DE" dirty="0"/>
              <a:t>design </a:t>
            </a:r>
            <a:r>
              <a:rPr lang="de-DE" dirty="0" err="1"/>
              <a:t>prompts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i="1" dirty="0"/>
              <a:t>same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</a:t>
            </a:r>
            <a:r>
              <a:rPr lang="de-DE" dirty="0" err="1"/>
              <a:t>optimized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accuracy</a:t>
            </a:r>
            <a:r>
              <a:rPr lang="de-DE" dirty="0"/>
              <a:t>, </a:t>
            </a:r>
            <a:r>
              <a:rPr lang="de-DE" dirty="0" err="1"/>
              <a:t>speed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creativity</a:t>
            </a:r>
            <a:endParaRPr lang="de-DE" dirty="0"/>
          </a:p>
          <a:p>
            <a:r>
              <a:rPr lang="de-DE" dirty="0"/>
              <a:t>prompt </a:t>
            </a:r>
            <a:r>
              <a:rPr lang="de-DE" dirty="0" err="1"/>
              <a:t>chaining</a:t>
            </a:r>
            <a:r>
              <a:rPr lang="de-DE" dirty="0"/>
              <a:t> </a:t>
            </a:r>
            <a:r>
              <a:rPr lang="de-DE" dirty="0" err="1"/>
              <a:t>exercise</a:t>
            </a:r>
            <a:r>
              <a:rPr lang="de-DE" dirty="0"/>
              <a:t> (e.g., </a:t>
            </a:r>
            <a:r>
              <a:rPr lang="de-DE" dirty="0" err="1"/>
              <a:t>step</a:t>
            </a:r>
            <a:r>
              <a:rPr lang="de-DE" dirty="0"/>
              <a:t> 1: </a:t>
            </a:r>
            <a:r>
              <a:rPr lang="de-DE" dirty="0" err="1"/>
              <a:t>extract</a:t>
            </a:r>
            <a:r>
              <a:rPr lang="de-DE" dirty="0"/>
              <a:t> </a:t>
            </a:r>
            <a:r>
              <a:rPr lang="de-DE" dirty="0" err="1"/>
              <a:t>facts</a:t>
            </a:r>
            <a:r>
              <a:rPr lang="de-DE" dirty="0"/>
              <a:t> → </a:t>
            </a:r>
            <a:r>
              <a:rPr lang="de-DE" dirty="0" err="1"/>
              <a:t>step</a:t>
            </a:r>
            <a:r>
              <a:rPr lang="de-DE" dirty="0"/>
              <a:t> 2: </a:t>
            </a:r>
            <a:r>
              <a:rPr lang="de-DE" dirty="0" err="1"/>
              <a:t>summarize</a:t>
            </a:r>
            <a:r>
              <a:rPr lang="de-DE" dirty="0"/>
              <a:t> → </a:t>
            </a:r>
            <a:r>
              <a:rPr lang="de-DE" dirty="0" err="1"/>
              <a:t>step</a:t>
            </a:r>
            <a:r>
              <a:rPr lang="de-DE" dirty="0"/>
              <a:t> 3: </a:t>
            </a:r>
            <a:r>
              <a:rPr lang="de-DE" dirty="0" err="1"/>
              <a:t>critique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7AB95B-F033-F99A-33C3-D386C7564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20329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707D8-7D70-1621-CA69-082505373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In-Context Learning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052F2-8861-3DD3-0CCE-B121CE6FA3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48021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zero-shot: no examples, just instructions</a:t>
            </a:r>
          </a:p>
          <a:p>
            <a:pPr marL="0" indent="0">
              <a:buNone/>
            </a:pPr>
            <a:endParaRPr lang="en-GB" sz="2200" dirty="0"/>
          </a:p>
          <a:p>
            <a:pPr marL="0" indent="0">
              <a:buNone/>
            </a:pPr>
            <a:r>
              <a:rPr lang="en-GB" sz="2200" dirty="0"/>
              <a:t>few-shot learning: 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conditioning on </a:t>
            </a:r>
            <a:r>
              <a:rPr lang="en-GB" sz="2200" dirty="0">
                <a:solidFill>
                  <a:srgbClr val="212529"/>
                </a:solidFill>
              </a:rPr>
              <a:t>a few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 input-output examples</a:t>
            </a:r>
          </a:p>
          <a:p>
            <a:pPr marL="0" indent="0">
              <a:buNone/>
            </a:pPr>
            <a:endParaRPr lang="en-GB" sz="2200" dirty="0">
              <a:solidFill>
                <a:srgbClr val="212529"/>
              </a:solidFill>
            </a:endParaRPr>
          </a:p>
          <a:p>
            <a:pPr marL="0" indent="0">
              <a:buNone/>
            </a:pPr>
            <a:r>
              <a:rPr lang="en-GB" sz="2200" dirty="0">
                <a:solidFill>
                  <a:srgbClr val="212529"/>
                </a:solidFill>
              </a:rPr>
              <a:t>no parameter updates </a:t>
            </a: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 not really learning (rather </a:t>
            </a:r>
            <a:r>
              <a:rPr lang="de-DE" sz="2200" dirty="0" err="1">
                <a:solidFill>
                  <a:srgbClr val="212529"/>
                </a:solidFill>
                <a:sym typeface="Wingdings" pitchFamily="2" charset="2"/>
              </a:rPr>
              <a:t>i</a:t>
            </a:r>
            <a:r>
              <a:rPr lang="de-DE" sz="2200" dirty="0" err="1"/>
              <a:t>nference</a:t>
            </a:r>
            <a:r>
              <a:rPr lang="de-DE" sz="2200" dirty="0"/>
              <a:t>-time </a:t>
            </a:r>
            <a:r>
              <a:rPr lang="de-DE" sz="2200" dirty="0" err="1"/>
              <a:t>pattern</a:t>
            </a:r>
            <a:r>
              <a:rPr lang="de-DE" sz="2200" dirty="0"/>
              <a:t> </a:t>
            </a:r>
            <a:r>
              <a:rPr lang="de-DE" sz="2200" dirty="0" err="1"/>
              <a:t>recognition</a:t>
            </a:r>
            <a:r>
              <a:rPr lang="en-GB" sz="2200" dirty="0">
                <a:solidFill>
                  <a:srgbClr val="212529"/>
                </a:solidFill>
                <a:sym typeface="Wingdings" pitchFamily="2" charset="2"/>
              </a:rPr>
              <a:t>)</a:t>
            </a:r>
            <a:endParaRPr lang="en-GB" sz="2200" dirty="0">
              <a:solidFill>
                <a:srgbClr val="212529"/>
              </a:solidFill>
            </a:endParaRPr>
          </a:p>
          <a:p>
            <a:pPr marL="0" indent="0">
              <a:buNone/>
            </a:pPr>
            <a:endParaRPr lang="en-GB" sz="2200" b="0" i="0" u="none" strike="noStrike" dirty="0">
              <a:solidFill>
                <a:srgbClr val="212529"/>
              </a:solidFill>
              <a:effectLst/>
            </a:endParaRPr>
          </a:p>
          <a:p>
            <a:pPr marL="0" indent="0">
              <a:buNone/>
            </a:pP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possible explanation: locating latent concepts (</a:t>
            </a:r>
            <a:r>
              <a:rPr lang="en-GB" sz="2200" dirty="0"/>
              <a:t>abstractions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) learned </a:t>
            </a:r>
            <a:r>
              <a:rPr lang="en-GB" sz="2200" dirty="0">
                <a:solidFill>
                  <a:srgbClr val="212529"/>
                </a:solidFill>
              </a:rPr>
              <a:t>in</a:t>
            </a:r>
            <a:r>
              <a:rPr lang="en-GB" sz="2200" b="0" i="0" u="none" strike="noStrike" dirty="0">
                <a:solidFill>
                  <a:srgbClr val="212529"/>
                </a:solidFill>
                <a:effectLst/>
              </a:rPr>
              <a:t> pretraining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EC0283-275A-FC1B-C3EB-F267DC1B1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6534" y="1709542"/>
            <a:ext cx="5841213" cy="51133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8347F-4085-7562-5469-75886FFC2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12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237635-45FF-B3C7-A795-E0DCFB2C4D23}"/>
              </a:ext>
            </a:extLst>
          </p:cNvPr>
          <p:cNvSpPr txBox="1"/>
          <p:nvPr/>
        </p:nvSpPr>
        <p:spPr>
          <a:xfrm>
            <a:off x="9612197" y="5885597"/>
            <a:ext cx="7930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DE" sz="1800" dirty="0">
                <a:hlinkClick r:id="rId3"/>
              </a:rPr>
              <a:t>GPT-3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C58322-7438-528A-2A58-E800CBA93D8B}"/>
              </a:ext>
            </a:extLst>
          </p:cNvPr>
          <p:cNvSpPr txBox="1"/>
          <p:nvPr/>
        </p:nvSpPr>
        <p:spPr>
          <a:xfrm>
            <a:off x="6796726" y="1321356"/>
            <a:ext cx="157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no fine-tuning:</a:t>
            </a:r>
          </a:p>
        </p:txBody>
      </p:sp>
    </p:spTree>
    <p:extLst>
      <p:ext uri="{BB962C8B-B14F-4D97-AF65-F5344CB8AC3E}">
        <p14:creationId xmlns:p14="http://schemas.microsoft.com/office/powerpoint/2010/main" val="40033275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51E18BDB-D1F8-24A3-147D-7572292B9C57}"/>
              </a:ext>
            </a:extLst>
          </p:cNvPr>
          <p:cNvSpPr/>
          <p:nvPr/>
        </p:nvSpPr>
        <p:spPr>
          <a:xfrm>
            <a:off x="357352" y="2871419"/>
            <a:ext cx="11466786" cy="156394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FADA32-BF06-BFF5-75BE-84612B699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Struggling with Facts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F654-8684-E5BA-6A19-1DB6137B95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sz="2600" dirty="0"/>
              <a:t>LLMs have only </a:t>
            </a:r>
            <a:r>
              <a:rPr lang="en-GB" sz="2600" dirty="0">
                <a:solidFill>
                  <a:srgbClr val="212529"/>
                </a:solidFill>
              </a:rPr>
              <a:t>implicit knowledge (memorization in weights):</a:t>
            </a:r>
          </a:p>
          <a:p>
            <a:pPr marL="0" indent="0">
              <a:buNone/>
            </a:pPr>
            <a:r>
              <a:rPr lang="en-GB" sz="2600" dirty="0">
                <a:solidFill>
                  <a:srgbClr val="212529"/>
                </a:solidFill>
                <a:sym typeface="Wingdings" pitchFamily="2" charset="2"/>
              </a:rPr>
              <a:t>limitations in terms of explicit factual knowledge (hallucinating facts)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can be mitigated by retrieving the corresponding information from an external knowledge base and pasting it in context</a:t>
            </a:r>
          </a:p>
          <a:p>
            <a:pPr marL="0" indent="0">
              <a:buNone/>
            </a:pPr>
            <a:r>
              <a:rPr lang="en-GB" sz="2600" dirty="0"/>
              <a:t>(prompt engineering </a:t>
            </a:r>
            <a:r>
              <a:rPr lang="en-GB" sz="2600" dirty="0">
                <a:sym typeface="Wingdings" pitchFamily="2" charset="2"/>
              </a:rPr>
              <a:t> context engineering</a:t>
            </a:r>
            <a:r>
              <a:rPr lang="en-GB" sz="26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1EE5B-5F3A-A11E-C13B-66F632A7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13</a:t>
            </a:fld>
            <a:endParaRPr lang="en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8DFB9742-025E-F658-2D84-3FC6A9913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38" y="2995846"/>
            <a:ext cx="11271123" cy="132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399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C5049-4F96-3D54-33C3-284B0E36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Retrieval Augmented Generation (</a:t>
            </a:r>
            <a:r>
              <a:rPr lang="en-GB" dirty="0">
                <a:hlinkClick r:id="rId2"/>
              </a:rPr>
              <a:t>RAG</a:t>
            </a:r>
            <a:r>
              <a:rPr lang="en-GB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48EF6-25B5-BBF4-9EA0-78548009A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14</a:t>
            </a:fld>
            <a:endParaRPr lang="en-DE" dirty="0"/>
          </a:p>
        </p:txBody>
      </p:sp>
      <p:pic>
        <p:nvPicPr>
          <p:cNvPr id="9" name="Grafik 8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7D4BFBD0-5908-E4F1-2226-98B6F9A594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566" y="1690688"/>
            <a:ext cx="7992761" cy="473513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45732C97-B823-B047-550B-2D4A316A91B0}"/>
              </a:ext>
            </a:extLst>
          </p:cNvPr>
          <p:cNvSpPr txBox="1"/>
          <p:nvPr/>
        </p:nvSpPr>
        <p:spPr>
          <a:xfrm>
            <a:off x="7123205" y="3690395"/>
            <a:ext cx="5016245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private </a:t>
            </a:r>
            <a:r>
              <a:rPr lang="de-DE" sz="2200" dirty="0" err="1"/>
              <a:t>data</a:t>
            </a:r>
            <a:r>
              <a:rPr lang="de-DE" sz="2200" dirty="0"/>
              <a:t> (alternative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finetuning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internet</a:t>
            </a:r>
            <a:r>
              <a:rPr lang="de-DE" sz="2200" dirty="0"/>
              <a:t> (</a:t>
            </a:r>
            <a:r>
              <a:rPr lang="de-DE" sz="2200" dirty="0" err="1"/>
              <a:t>browser</a:t>
            </a:r>
            <a:r>
              <a:rPr lang="de-DE" sz="2200" dirty="0"/>
              <a:t> </a:t>
            </a:r>
            <a:r>
              <a:rPr lang="de-DE" sz="2200" dirty="0" err="1"/>
              <a:t>as</a:t>
            </a:r>
            <a:r>
              <a:rPr lang="de-DE" sz="2200" dirty="0"/>
              <a:t> </a:t>
            </a:r>
            <a:r>
              <a:rPr lang="de-DE" sz="2200" dirty="0" err="1"/>
              <a:t>tool</a:t>
            </a:r>
            <a:r>
              <a:rPr lang="de-DE" sz="22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structured</a:t>
            </a:r>
            <a:r>
              <a:rPr lang="de-DE" sz="2200" dirty="0"/>
              <a:t> APIs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1B4E4F17-72E5-5655-78C9-4CB7DFE2CF2D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9207062" y="2816772"/>
            <a:ext cx="424266" cy="8736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ABD54DB9-8E77-C2F1-75CB-5818AF160F1D}"/>
              </a:ext>
            </a:extLst>
          </p:cNvPr>
          <p:cNvSpPr txBox="1"/>
          <p:nvPr/>
        </p:nvSpPr>
        <p:spPr>
          <a:xfrm>
            <a:off x="838200" y="1582545"/>
            <a:ext cx="2411942" cy="1107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vector</a:t>
            </a:r>
            <a:r>
              <a:rPr lang="de-DE" sz="2200" dirty="0"/>
              <a:t> </a:t>
            </a:r>
            <a:r>
              <a:rPr lang="de-DE" sz="2200" dirty="0" err="1"/>
              <a:t>similarity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 err="1"/>
              <a:t>keyword</a:t>
            </a:r>
            <a:endParaRPr lang="de-DE" sz="2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200" dirty="0"/>
              <a:t>hybrid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58FD4F1-069F-F8C8-4A5F-359590684C1B}"/>
              </a:ext>
            </a:extLst>
          </p:cNvPr>
          <p:cNvCxnSpPr/>
          <p:nvPr/>
        </p:nvCxnSpPr>
        <p:spPr>
          <a:xfrm>
            <a:off x="3268717" y="2165131"/>
            <a:ext cx="1587062" cy="30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DBE0ADB-E83B-6515-D96A-B308063FC9E2}"/>
              </a:ext>
            </a:extLst>
          </p:cNvPr>
          <p:cNvSpPr txBox="1"/>
          <p:nvPr/>
        </p:nvSpPr>
        <p:spPr>
          <a:xfrm>
            <a:off x="7841963" y="4797980"/>
            <a:ext cx="4350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typically</a:t>
            </a:r>
            <a:r>
              <a:rPr lang="de-DE" dirty="0"/>
              <a:t>,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wasn‘t</a:t>
            </a:r>
            <a:r>
              <a:rPr lang="de-DE" dirty="0"/>
              <a:t> </a:t>
            </a:r>
            <a:r>
              <a:rPr lang="de-DE" dirty="0" err="1"/>
              <a:t>trained</a:t>
            </a:r>
            <a:r>
              <a:rPr lang="de-DE" dirty="0"/>
              <a:t> on</a:t>
            </a:r>
          </a:p>
        </p:txBody>
      </p:sp>
    </p:spTree>
    <p:extLst>
      <p:ext uri="{BB962C8B-B14F-4D97-AF65-F5344CB8AC3E}">
        <p14:creationId xmlns:p14="http://schemas.microsoft.com/office/powerpoint/2010/main" val="14008636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072146-2187-D889-C620-00826A65B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15</a:t>
            </a:fld>
            <a:endParaRPr lang="de-DE"/>
          </a:p>
        </p:txBody>
      </p:sp>
      <p:pic>
        <p:nvPicPr>
          <p:cNvPr id="6" name="Grafik 5" descr="Ein Bild, das Text, Screenshot, Schrift, parallel enthält.&#10;&#10;KI-generierte Inhalte können fehlerhaft sein.">
            <a:extLst>
              <a:ext uri="{FF2B5EF4-FFF2-40B4-BE49-F238E27FC236}">
                <a16:creationId xmlns:a16="http://schemas.microsoft.com/office/drawing/2014/main" id="{47D227A8-0208-97A5-8970-75E44555F2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310" y="480102"/>
            <a:ext cx="10037380" cy="5897795"/>
          </a:xfrm>
          <a:prstGeom prst="rect">
            <a:avLst/>
          </a:prstGeom>
        </p:spPr>
      </p:pic>
      <p:sp>
        <p:nvSpPr>
          <p:cNvPr id="8" name="TextBox 5">
            <a:extLst>
              <a:ext uri="{FF2B5EF4-FFF2-40B4-BE49-F238E27FC236}">
                <a16:creationId xmlns:a16="http://schemas.microsoft.com/office/drawing/2014/main" id="{DDC497ED-6CF5-F21F-D75A-6EE1CEA1C93E}"/>
              </a:ext>
            </a:extLst>
          </p:cNvPr>
          <p:cNvSpPr txBox="1"/>
          <p:nvPr/>
        </p:nvSpPr>
        <p:spPr>
          <a:xfrm>
            <a:off x="9414416" y="637789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915798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6B7C08-C087-F9E2-D1EF-1CCA4E885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Many-Shot Learning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2DCA41-688A-185E-4718-E8DB1D0C82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DC07B3C-7046-046A-42CC-237AF82E6A6A}"/>
              </a:ext>
            </a:extLst>
          </p:cNvPr>
          <p:cNvSpPr txBox="1"/>
          <p:nvPr/>
        </p:nvSpPr>
        <p:spPr>
          <a:xfrm>
            <a:off x="838200" y="5807631"/>
            <a:ext cx="2680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increasing context length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EE8439-D32B-162E-153B-1B1E49A1E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6575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503</Words>
  <Application>Microsoft Macintosh PowerPoint</Application>
  <PresentationFormat>Breitbild</PresentationFormat>
  <Paragraphs>107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Wingdings</vt:lpstr>
      <vt:lpstr>Office</vt:lpstr>
      <vt:lpstr>Context Engineering</vt:lpstr>
      <vt:lpstr>Course Contents</vt:lpstr>
      <vt:lpstr>This Part: Context Engineering</vt:lpstr>
      <vt:lpstr>What is Prompt Engineering?</vt:lpstr>
      <vt:lpstr>Prompt Engineering</vt:lpstr>
      <vt:lpstr>Core Prompting Techniques</vt:lpstr>
      <vt:lpstr>Advanced Prompting Paradigms</vt:lpstr>
      <vt:lpstr>Role Prompting</vt:lpstr>
      <vt:lpstr>Applications</vt:lpstr>
      <vt:lpstr>Research Directions &amp; Open Questions</vt:lpstr>
      <vt:lpstr>Hands-On Exercise Ideas</vt:lpstr>
      <vt:lpstr>In-Context Learning</vt:lpstr>
      <vt:lpstr>Struggling with Facts</vt:lpstr>
      <vt:lpstr>Retrieval Augmented Generation (RAG)</vt:lpstr>
      <vt:lpstr>PowerPoint-Präsentation</vt:lpstr>
      <vt:lpstr>Many-Shot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78</cp:revision>
  <dcterms:created xsi:type="dcterms:W3CDTF">2025-07-07T13:23:51Z</dcterms:created>
  <dcterms:modified xsi:type="dcterms:W3CDTF">2025-09-15T13:24:34Z</dcterms:modified>
</cp:coreProperties>
</file>