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792" r:id="rId3"/>
    <p:sldId id="790" r:id="rId4"/>
    <p:sldId id="833" r:id="rId5"/>
    <p:sldId id="802" r:id="rId6"/>
    <p:sldId id="827" r:id="rId7"/>
    <p:sldId id="825" r:id="rId8"/>
    <p:sldId id="834" r:id="rId9"/>
    <p:sldId id="846" r:id="rId10"/>
    <p:sldId id="840" r:id="rId11"/>
    <p:sldId id="844" r:id="rId12"/>
    <p:sldId id="824" r:id="rId13"/>
    <p:sldId id="847" r:id="rId14"/>
    <p:sldId id="842" r:id="rId15"/>
    <p:sldId id="850" r:id="rId16"/>
    <p:sldId id="835" r:id="rId17"/>
    <p:sldId id="837" r:id="rId18"/>
    <p:sldId id="829" r:id="rId19"/>
    <p:sldId id="805" r:id="rId20"/>
    <p:sldId id="806" r:id="rId21"/>
    <p:sldId id="823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/>
    <p:restoredTop sz="94694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dirty="0" err="1"/>
            <a:t>Agents</a:t>
          </a:r>
          <a:endParaRPr lang="en-US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1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7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7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7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7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7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7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7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7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7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7"/>
      <dgm:spPr/>
    </dgm:pt>
    <dgm:pt modelId="{7F071049-5D5A-2445-8B31-652B1063C281}" type="pres">
      <dgm:prSet presAssocID="{288D3E87-5781-4F83-84CB-1610EAD21773}" presName="vert1" presStyleCnt="0"/>
      <dgm:spPr/>
    </dgm:pt>
    <dgm:pt modelId="{3D5DC94A-13EE-9348-AB63-BA6D7AB77EF3}" type="pres">
      <dgm:prSet presAssocID="{DDA901FD-5C05-41F1-A824-5C833C35698E}" presName="thickLine" presStyleLbl="alignNode1" presStyleIdx="5" presStyleCnt="7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5" presStyleCnt="7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6" presStyleCnt="7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6" presStyleCnt="7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5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6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7A9EE529-C307-D440-8910-336F08C35B83}" type="presParOf" srcId="{7852B3C2-A44C-F446-9060-CA21A0D28991}" destId="{3D5DC94A-13EE-9348-AB63-BA6D7AB77EF3}" srcOrd="10" destOrd="0" presId="urn:microsoft.com/office/officeart/2008/layout/LinedList"/>
    <dgm:cxn modelId="{B6134942-BB7E-6A49-B625-7DF71CC12E8A}" type="presParOf" srcId="{7852B3C2-A44C-F446-9060-CA21A0D28991}" destId="{27EB4548-6597-7A48-B8EB-8D5D075E0879}" srcOrd="11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2" destOrd="0" presId="urn:microsoft.com/office/officeart/2008/layout/LinedList"/>
    <dgm:cxn modelId="{3CB3EB14-3FB4-7040-B2C6-572E38DFBAF8}" type="presParOf" srcId="{7852B3C2-A44C-F446-9060-CA21A0D28991}" destId="{FE30EA44-022B-FF41-BE9E-EF735E26A50E}" srcOrd="13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531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Deep Learning</a:t>
          </a:r>
          <a:endParaRPr lang="en-US" sz="2800" b="0" kern="1200" dirty="0"/>
        </a:p>
      </dsp:txBody>
      <dsp:txXfrm>
        <a:off x="0" y="531"/>
        <a:ext cx="10515600" cy="621467"/>
      </dsp:txXfrm>
    </dsp:sp>
    <dsp:sp modelId="{A11F9CE2-7889-D042-B67A-3B946F072596}">
      <dsp:nvSpPr>
        <dsp:cNvPr id="0" name=""/>
        <dsp:cNvSpPr/>
      </dsp:nvSpPr>
      <dsp:spPr>
        <a:xfrm>
          <a:off x="0" y="62199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621999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Transformer</a:t>
          </a:r>
          <a:endParaRPr lang="en-US" sz="2800" b="0" kern="1200" dirty="0"/>
        </a:p>
      </dsp:txBody>
      <dsp:txXfrm>
        <a:off x="0" y="621999"/>
        <a:ext cx="10515600" cy="621467"/>
      </dsp:txXfrm>
    </dsp:sp>
    <dsp:sp modelId="{9D950D6B-5C89-8A48-9960-CA8B4C499A1A}">
      <dsp:nvSpPr>
        <dsp:cNvPr id="0" name=""/>
        <dsp:cNvSpPr/>
      </dsp:nvSpPr>
      <dsp:spPr>
        <a:xfrm>
          <a:off x="0" y="12434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243467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kern="1200" dirty="0"/>
            <a:t>LLMs</a:t>
          </a:r>
        </a:p>
      </dsp:txBody>
      <dsp:txXfrm>
        <a:off x="0" y="1243467"/>
        <a:ext cx="10515600" cy="621467"/>
      </dsp:txXfrm>
    </dsp:sp>
    <dsp:sp modelId="{34CF0AAF-5C3E-5349-AD9D-2034F634313C}">
      <dsp:nvSpPr>
        <dsp:cNvPr id="0" name=""/>
        <dsp:cNvSpPr/>
      </dsp:nvSpPr>
      <dsp:spPr>
        <a:xfrm>
          <a:off x="0" y="186493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864935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Context Engineering</a:t>
          </a:r>
        </a:p>
      </dsp:txBody>
      <dsp:txXfrm>
        <a:off x="0" y="1864935"/>
        <a:ext cx="10515600" cy="621467"/>
      </dsp:txXfrm>
    </dsp:sp>
    <dsp:sp modelId="{8A505F94-65E4-9D41-AC2C-CCE8BD4C175F}">
      <dsp:nvSpPr>
        <dsp:cNvPr id="0" name=""/>
        <dsp:cNvSpPr/>
      </dsp:nvSpPr>
      <dsp:spPr>
        <a:xfrm>
          <a:off x="0" y="248640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486402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Finetuning</a:t>
          </a:r>
          <a:endParaRPr lang="en-US" sz="2800" b="0" kern="1200" dirty="0"/>
        </a:p>
      </dsp:txBody>
      <dsp:txXfrm>
        <a:off x="0" y="2486402"/>
        <a:ext cx="10515600" cy="621467"/>
      </dsp:txXfrm>
    </dsp:sp>
    <dsp:sp modelId="{3D5DC94A-13EE-9348-AB63-BA6D7AB77EF3}">
      <dsp:nvSpPr>
        <dsp:cNvPr id="0" name=""/>
        <dsp:cNvSpPr/>
      </dsp:nvSpPr>
      <dsp:spPr>
        <a:xfrm>
          <a:off x="0" y="310787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107870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Agents</a:t>
          </a:r>
          <a:endParaRPr lang="en-US" sz="2800" kern="1200" dirty="0"/>
        </a:p>
      </dsp:txBody>
      <dsp:txXfrm>
        <a:off x="0" y="3107870"/>
        <a:ext cx="10515600" cy="621467"/>
      </dsp:txXfrm>
    </dsp:sp>
    <dsp:sp modelId="{20D72B1E-AD82-9E49-86D8-09A4DD4D6212}">
      <dsp:nvSpPr>
        <dsp:cNvPr id="0" name=""/>
        <dsp:cNvSpPr/>
      </dsp:nvSpPr>
      <dsp:spPr>
        <a:xfrm>
          <a:off x="0" y="372933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729338"/>
          <a:ext cx="10515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kern="1200" dirty="0"/>
            <a:t>The Bigger Picture</a:t>
          </a:r>
          <a:endParaRPr lang="en-US" sz="2800" b="0" kern="1200" dirty="0"/>
        </a:p>
      </dsp:txBody>
      <dsp:txXfrm>
        <a:off x="0" y="3729338"/>
        <a:ext cx="10515600" cy="621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19D53-7573-1F4C-A513-AAE16AFC96C6}" type="datetimeFigureOut">
              <a:rPr lang="de-DE" smtClean="0"/>
              <a:t>16.09.25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08A2E8-A435-8A47-AB03-790F58936DE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5880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62C59-1507-9441-B565-D4065B894855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5C61-1C29-884D-9C8D-6470B93E4A99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EBB2-222E-DF40-AB6A-7CFEF7FA204F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40079-4F23-AB42-BCF1-78B0528DF5B8}" type="datetime1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1859-6BB9-6A47-B1E8-B5EE50205430}" type="datetime1">
              <a:rPr lang="de-DE" smtClean="0"/>
              <a:t>16.09.25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A3AF8-477A-F745-BE12-CBF5B6AF8AF5}" type="datetime1">
              <a:rPr lang="de-DE" smtClean="0"/>
              <a:t>16.09.25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8D03C-F3C7-4840-97DE-74E252A0D704}" type="datetime1">
              <a:rPr lang="de-DE" smtClean="0"/>
              <a:t>16.09.25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77C8F-59D0-6F42-B7BC-3EFE02C7F3B0}" type="datetime1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0719-F3CB-FC42-81C8-986BB63D2B42}" type="datetime1">
              <a:rPr lang="de-DE" smtClean="0"/>
              <a:t>16.09.25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007F1-B048-F74F-94E9-B2E80E64133E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23C8E-2E98-FF45-8F72-EEB7AFDB3E39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72FC9-7DB9-534B-8ED1-284A1B79BFC4}" type="datetime1">
              <a:rPr lang="de-DE" smtClean="0"/>
              <a:t>16.09.25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416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404.11018" TargetMode="External"/><Relationship Id="rId4" Type="http://schemas.openxmlformats.org/officeDocument/2006/relationships/hyperlink" Target="https://storage.googleapis.com/deepmind-media/gemini/gemini_v1_5_report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openai.com/docs/guides/prompt-engineering" TargetMode="External"/><Relationship Id="rId2" Type="http://schemas.openxmlformats.org/officeDocument/2006/relationships/hyperlink" Target="https://www.promptingguide.ai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hyperlink" Target="https://arxiv.org/abs/2005.11401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mptingguide.ai/research/ra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FF727-F4B3-3376-8344-F8D9ED8083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Context</a:t>
            </a:r>
            <a:r>
              <a:rPr lang="de-DE" dirty="0"/>
              <a:t> Engineering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6147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B35085C-F718-BAF1-A787-9DA928AE2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This Part: </a:t>
            </a:r>
            <a:r>
              <a:rPr lang="de-DE" dirty="0" err="1"/>
              <a:t>Context</a:t>
            </a:r>
            <a:r>
              <a:rPr lang="de-DE" dirty="0"/>
              <a:t> Engineering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/>
              <a:t>in-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learning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prompt </a:t>
            </a:r>
            <a:r>
              <a:rPr lang="de-DE" dirty="0" err="1"/>
              <a:t>engineering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RAG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72AAFB-0A70-7DBF-673F-715BADC81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C77605-C75A-A848-5E88-D577FFFD1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In-Context Learning (ICL)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7634AB-CC89-F576-F124-78868FE3E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model’s</a:t>
            </a:r>
            <a:r>
              <a:rPr lang="de-DE" dirty="0"/>
              <a:t> </a:t>
            </a:r>
            <a:r>
              <a:rPr lang="de-DE" dirty="0" err="1"/>
              <a:t>ability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condition</a:t>
            </a:r>
            <a:r>
              <a:rPr lang="de-DE" dirty="0"/>
              <a:t> </a:t>
            </a:r>
            <a:r>
              <a:rPr lang="de-DE" dirty="0" err="1"/>
              <a:t>its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 on </a:t>
            </a:r>
            <a:r>
              <a:rPr lang="de-DE" dirty="0" err="1"/>
              <a:t>patterns</a:t>
            </a:r>
            <a:r>
              <a:rPr lang="de-DE" dirty="0"/>
              <a:t>, </a:t>
            </a:r>
            <a:r>
              <a:rPr lang="de-DE" dirty="0" err="1"/>
              <a:t>instructions</a:t>
            </a:r>
            <a:r>
              <a:rPr lang="de-DE" dirty="0"/>
              <a:t>,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r>
              <a:rPr lang="de-DE" dirty="0"/>
              <a:t> </a:t>
            </a:r>
            <a:r>
              <a:rPr lang="de-DE" dirty="0" err="1"/>
              <a:t>present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, </a:t>
            </a:r>
            <a:r>
              <a:rPr lang="de-DE" i="1" dirty="0" err="1"/>
              <a:t>without</a:t>
            </a:r>
            <a:r>
              <a:rPr lang="de-DE" i="1" dirty="0"/>
              <a:t> </a:t>
            </a:r>
            <a:r>
              <a:rPr lang="de-DE" i="1" dirty="0" err="1"/>
              <a:t>updating</a:t>
            </a:r>
            <a:r>
              <a:rPr lang="de-DE" i="1" dirty="0"/>
              <a:t> </a:t>
            </a:r>
            <a:r>
              <a:rPr lang="de-DE" i="1" dirty="0" err="1"/>
              <a:t>parameters</a:t>
            </a:r>
            <a:r>
              <a:rPr lang="de-DE" dirty="0"/>
              <a:t> (in </a:t>
            </a:r>
            <a:r>
              <a:rPr lang="de-DE" dirty="0" err="1"/>
              <a:t>contrast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en-DE"/>
              <a:t> fine-tuning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en-GB" dirty="0">
                <a:solidFill>
                  <a:srgbClr val="212529"/>
                </a:solidFill>
                <a:sym typeface="Wingdings" pitchFamily="2" charset="2"/>
              </a:rPr>
              <a:t> not really learning (rather </a:t>
            </a:r>
            <a:r>
              <a:rPr lang="de-DE" dirty="0" err="1">
                <a:solidFill>
                  <a:srgbClr val="212529"/>
                </a:solidFill>
                <a:sym typeface="Wingdings" pitchFamily="2" charset="2"/>
              </a:rPr>
              <a:t>i</a:t>
            </a:r>
            <a:r>
              <a:rPr lang="de-DE" dirty="0" err="1"/>
              <a:t>nference</a:t>
            </a:r>
            <a:r>
              <a:rPr lang="de-DE" dirty="0"/>
              <a:t>-time </a:t>
            </a:r>
            <a:r>
              <a:rPr lang="de-DE" dirty="0" err="1"/>
              <a:t>pattern</a:t>
            </a:r>
            <a:r>
              <a:rPr lang="de-DE" dirty="0"/>
              <a:t> </a:t>
            </a:r>
            <a:r>
              <a:rPr lang="de-DE" dirty="0" err="1"/>
              <a:t>recognition</a:t>
            </a:r>
            <a:r>
              <a:rPr lang="de-DE" dirty="0"/>
              <a:t>: </a:t>
            </a:r>
            <a:r>
              <a:rPr lang="de-DE" dirty="0" err="1"/>
              <a:t>locating</a:t>
            </a:r>
            <a:r>
              <a:rPr lang="de-DE" dirty="0"/>
              <a:t> and </a:t>
            </a:r>
            <a:r>
              <a:rPr lang="de-DE" dirty="0" err="1"/>
              <a:t>using</a:t>
            </a:r>
            <a:r>
              <a:rPr lang="de-DE" dirty="0"/>
              <a:t> relevant </a:t>
            </a:r>
            <a:r>
              <a:rPr lang="de-DE" dirty="0" err="1"/>
              <a:t>learnings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training</a:t>
            </a:r>
            <a:r>
              <a:rPr lang="en-GB" dirty="0">
                <a:solidFill>
                  <a:srgbClr val="212529"/>
                </a:solidFill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ICL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emergent </a:t>
            </a:r>
            <a:r>
              <a:rPr lang="de-DE" dirty="0" err="1"/>
              <a:t>phenomenon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prompting</a:t>
            </a:r>
            <a:r>
              <a:rPr lang="de-DE" dirty="0"/>
              <a:t> powerful.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3BC1A9-FAD3-75A6-908D-640AA385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6042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7D8-7D70-1621-CA69-08250537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Few</a:t>
            </a:r>
            <a:r>
              <a:rPr lang="de-DE" dirty="0"/>
              <a:t>-Shot ICL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052F2-8861-3DD3-0CCE-B121CE6FA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5075"/>
            <a:ext cx="3976799" cy="42327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dirty="0">
                <a:solidFill>
                  <a:srgbClr val="212529"/>
                </a:solidFill>
              </a:rPr>
              <a:t>zero-shot ICL: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212529"/>
                </a:solidFill>
              </a:rPr>
              <a:t>no examples, just instructions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212529"/>
                </a:solidFill>
                <a:sym typeface="Wingdings" pitchFamily="2" charset="2"/>
              </a:rPr>
              <a:t> </a:t>
            </a:r>
            <a:r>
              <a:rPr lang="en-GB" sz="2200" dirty="0" err="1">
                <a:solidFill>
                  <a:srgbClr val="212529"/>
                </a:solidFill>
                <a:sym typeface="Wingdings" pitchFamily="2" charset="2"/>
              </a:rPr>
              <a:t>i</a:t>
            </a:r>
            <a:r>
              <a:rPr lang="de-DE" sz="2200" dirty="0" err="1"/>
              <a:t>nstruction</a:t>
            </a:r>
            <a:r>
              <a:rPr lang="de-DE" sz="2200" dirty="0"/>
              <a:t> </a:t>
            </a:r>
            <a:r>
              <a:rPr lang="de-DE" sz="2200" dirty="0" err="1"/>
              <a:t>following</a:t>
            </a:r>
            <a:r>
              <a:rPr lang="de-DE" sz="2200" dirty="0"/>
              <a:t>: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infers</a:t>
            </a:r>
            <a:r>
              <a:rPr lang="de-DE" sz="2200" dirty="0"/>
              <a:t> </a:t>
            </a:r>
            <a:r>
              <a:rPr lang="de-DE" sz="2200" dirty="0" err="1"/>
              <a:t>task</a:t>
            </a:r>
            <a:r>
              <a:rPr lang="de-DE" sz="2200" dirty="0"/>
              <a:t> </a:t>
            </a:r>
            <a:r>
              <a:rPr lang="de-DE" sz="2200" dirty="0" err="1"/>
              <a:t>purely</a:t>
            </a:r>
            <a:r>
              <a:rPr lang="de-DE" sz="2200" dirty="0"/>
              <a:t> </a:t>
            </a:r>
            <a:r>
              <a:rPr lang="de-DE" sz="2200" dirty="0" err="1"/>
              <a:t>from</a:t>
            </a:r>
            <a:r>
              <a:rPr lang="de-DE" sz="2200" dirty="0"/>
              <a:t> natural-</a:t>
            </a:r>
            <a:r>
              <a:rPr lang="de-DE" sz="2200" dirty="0" err="1"/>
              <a:t>language</a:t>
            </a:r>
            <a:r>
              <a:rPr lang="de-DE" sz="2200" dirty="0"/>
              <a:t> </a:t>
            </a:r>
            <a:r>
              <a:rPr lang="de-DE" sz="2200" dirty="0" err="1"/>
              <a:t>description</a:t>
            </a:r>
            <a:endParaRPr lang="de-DE" sz="2200" dirty="0"/>
          </a:p>
          <a:p>
            <a:pPr marL="0" indent="0">
              <a:buNone/>
            </a:pPr>
            <a:endParaRPr lang="en-GB" sz="2200" dirty="0"/>
          </a:p>
          <a:p>
            <a:pPr marL="0" indent="0">
              <a:buNone/>
            </a:pPr>
            <a:r>
              <a:rPr lang="en-GB" sz="2200" dirty="0"/>
              <a:t>few-shot ICL:</a:t>
            </a:r>
          </a:p>
          <a:p>
            <a:pPr marL="0" indent="0">
              <a:buNone/>
            </a:pPr>
            <a:r>
              <a:rPr lang="en-GB" sz="2200" b="0" i="0" u="none" strike="noStrike" dirty="0">
                <a:solidFill>
                  <a:srgbClr val="212529"/>
                </a:solidFill>
                <a:effectLst/>
              </a:rPr>
              <a:t>conditioning on </a:t>
            </a:r>
            <a:r>
              <a:rPr lang="en-GB" sz="2200" dirty="0">
                <a:solidFill>
                  <a:srgbClr val="212529"/>
                </a:solidFill>
              </a:rPr>
              <a:t>a few</a:t>
            </a:r>
            <a:r>
              <a:rPr lang="en-GB" sz="2200" b="0" i="0" u="none" strike="noStrike" dirty="0">
                <a:solidFill>
                  <a:srgbClr val="212529"/>
                </a:solidFill>
                <a:effectLst/>
              </a:rPr>
              <a:t> input-output examples</a:t>
            </a:r>
          </a:p>
          <a:p>
            <a:pPr marL="0" indent="0">
              <a:buNone/>
            </a:pPr>
            <a:r>
              <a:rPr lang="en-GB" sz="2200" dirty="0">
                <a:solidFill>
                  <a:srgbClr val="212529"/>
                </a:solidFill>
                <a:sym typeface="Wingdings" pitchFamily="2" charset="2"/>
              </a:rPr>
              <a:t> </a:t>
            </a:r>
            <a:r>
              <a:rPr lang="de-DE" sz="2200" dirty="0" err="1">
                <a:solidFill>
                  <a:srgbClr val="212529"/>
                </a:solidFill>
                <a:sym typeface="Wingdings" pitchFamily="2" charset="2"/>
              </a:rPr>
              <a:t>d</a:t>
            </a:r>
            <a:r>
              <a:rPr lang="de-DE" sz="2200" dirty="0" err="1"/>
              <a:t>emonstration-based</a:t>
            </a:r>
            <a:r>
              <a:rPr lang="de-DE" sz="2200" dirty="0"/>
              <a:t>: </a:t>
            </a:r>
            <a:r>
              <a:rPr lang="de-DE" sz="2200" dirty="0" err="1"/>
              <a:t>model</a:t>
            </a:r>
            <a:r>
              <a:rPr lang="de-DE" sz="2200" dirty="0"/>
              <a:t> “</a:t>
            </a:r>
            <a:r>
              <a:rPr lang="de-DE" sz="2200" dirty="0" err="1"/>
              <a:t>learns</a:t>
            </a:r>
            <a:r>
              <a:rPr lang="de-DE" sz="2200" dirty="0"/>
              <a:t>“ </a:t>
            </a:r>
            <a:r>
              <a:rPr lang="de-DE" sz="2200" dirty="0" err="1"/>
              <a:t>from</a:t>
            </a:r>
            <a:r>
              <a:rPr lang="de-DE" sz="2200" dirty="0"/>
              <a:t> </a:t>
            </a:r>
            <a:r>
              <a:rPr lang="de-DE" sz="2200" dirty="0" err="1"/>
              <a:t>examples</a:t>
            </a:r>
            <a:endParaRPr lang="de-DE" sz="2200" dirty="0"/>
          </a:p>
          <a:p>
            <a:pPr marL="0" indent="0">
              <a:buNone/>
            </a:pPr>
            <a:endParaRPr lang="de-DE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C0283-275A-FC1B-C3EB-F267DC1B1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999" y="200114"/>
            <a:ext cx="7377001" cy="64577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347F-4085-7562-5469-75886FFC2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5</a:t>
            </a:fld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237635-45FF-B3C7-A795-E0DCFB2C4D23}"/>
              </a:ext>
            </a:extLst>
          </p:cNvPr>
          <p:cNvSpPr txBox="1"/>
          <p:nvPr/>
        </p:nvSpPr>
        <p:spPr>
          <a:xfrm>
            <a:off x="9585678" y="5923428"/>
            <a:ext cx="7930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800" dirty="0">
                <a:hlinkClick r:id="rId3"/>
              </a:rPr>
              <a:t>GPT-3</a:t>
            </a:r>
            <a:endParaRPr lang="en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A89C2FA-4FF1-CADF-3A49-61905A0B387A}"/>
              </a:ext>
            </a:extLst>
          </p:cNvPr>
          <p:cNvSpPr txBox="1"/>
          <p:nvPr/>
        </p:nvSpPr>
        <p:spPr>
          <a:xfrm>
            <a:off x="29920" y="6356350"/>
            <a:ext cx="4785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hlinkClick r:id="rId4"/>
              </a:rPr>
              <a:t>large context length</a:t>
            </a:r>
            <a:r>
              <a:rPr lang="de-DE" sz="1800" dirty="0"/>
              <a:t> </a:t>
            </a:r>
            <a:r>
              <a:rPr lang="de-DE" sz="1800" dirty="0" err="1"/>
              <a:t>allows</a:t>
            </a:r>
            <a:r>
              <a:rPr lang="de-DE" sz="1800" dirty="0"/>
              <a:t> also </a:t>
            </a:r>
            <a:r>
              <a:rPr lang="de-DE" sz="1800" dirty="0">
                <a:hlinkClick r:id="rId5"/>
              </a:rPr>
              <a:t>many-shot ICL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00332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99E919-1BF6-6059-F5E3-8A43D8CB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Prompt Engineering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46FA7B-F25F-897C-5C5D-86CB4BFDD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7062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e-DE" sz="2400" dirty="0"/>
              <a:t>prompt: </a:t>
            </a:r>
            <a:r>
              <a:rPr lang="de-DE" sz="2400" dirty="0" err="1"/>
              <a:t>user</a:t>
            </a:r>
            <a:r>
              <a:rPr lang="de-DE" sz="2400" dirty="0"/>
              <a:t> interface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prompt </a:t>
            </a:r>
            <a:r>
              <a:rPr lang="de-DE" sz="2400" dirty="0" err="1"/>
              <a:t>engineering</a:t>
            </a:r>
            <a:r>
              <a:rPr lang="de-DE" sz="2400" dirty="0"/>
              <a:t>: </a:t>
            </a:r>
            <a:r>
              <a:rPr lang="en-GB" sz="2400" dirty="0"/>
              <a:t>shape model </a:t>
            </a:r>
            <a:r>
              <a:rPr lang="en-GB" sz="2400" dirty="0" err="1"/>
              <a:t>behavior</a:t>
            </a:r>
            <a:r>
              <a:rPr lang="en-GB" sz="2400" dirty="0"/>
              <a:t> using well-structured prompts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de-DE" sz="2400" dirty="0" err="1"/>
              <a:t>difference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traditional </a:t>
            </a:r>
            <a:r>
              <a:rPr lang="de-DE" sz="2400" dirty="0" err="1"/>
              <a:t>user</a:t>
            </a:r>
            <a:r>
              <a:rPr lang="de-DE" sz="2400" dirty="0"/>
              <a:t> </a:t>
            </a:r>
            <a:r>
              <a:rPr lang="de-DE" sz="2400" dirty="0" err="1"/>
              <a:t>interfaces</a:t>
            </a:r>
            <a:r>
              <a:rPr lang="de-DE" sz="2400" dirty="0"/>
              <a:t>:</a:t>
            </a:r>
          </a:p>
          <a:p>
            <a:pPr marL="0" indent="0">
              <a:buNone/>
            </a:pPr>
            <a:r>
              <a:rPr lang="de-DE" sz="2400" dirty="0" err="1"/>
              <a:t>probabilistic</a:t>
            </a:r>
            <a:r>
              <a:rPr lang="de-DE" sz="2400" dirty="0"/>
              <a:t>, not </a:t>
            </a:r>
            <a:r>
              <a:rPr lang="de-DE" sz="2400" dirty="0" err="1"/>
              <a:t>deterministic</a:t>
            </a:r>
            <a:r>
              <a:rPr lang="de-DE" sz="2400" dirty="0"/>
              <a:t> (</a:t>
            </a:r>
            <a:r>
              <a:rPr lang="de-DE" sz="2400" dirty="0" err="1"/>
              <a:t>shape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i="1" dirty="0" err="1"/>
              <a:t>distribution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model’s</a:t>
            </a:r>
            <a:r>
              <a:rPr lang="de-DE" sz="2400" dirty="0"/>
              <a:t> </a:t>
            </a:r>
            <a:r>
              <a:rPr lang="de-DE" sz="2400" dirty="0" err="1"/>
              <a:t>responses</a:t>
            </a:r>
            <a:r>
              <a:rPr lang="de-DE" sz="2400" dirty="0"/>
              <a:t>)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/>
              <a:t>good</a:t>
            </a:r>
            <a:r>
              <a:rPr lang="de-DE" sz="2400" dirty="0"/>
              <a:t> </a:t>
            </a:r>
            <a:r>
              <a:rPr lang="de-DE" sz="2400" dirty="0" err="1"/>
              <a:t>prompts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improve</a:t>
            </a:r>
            <a:r>
              <a:rPr lang="de-DE" sz="2400" dirty="0"/>
              <a:t> a </a:t>
            </a:r>
            <a:r>
              <a:rPr lang="de-DE" sz="2400" dirty="0" err="1"/>
              <a:t>model‘s</a:t>
            </a:r>
            <a:r>
              <a:rPr lang="de-DE" sz="2400" dirty="0"/>
              <a:t> </a:t>
            </a:r>
            <a:r>
              <a:rPr lang="de-DE" sz="2400" dirty="0" err="1"/>
              <a:t>performance</a:t>
            </a:r>
            <a:r>
              <a:rPr lang="de-DE" sz="2400" dirty="0"/>
              <a:t> and </a:t>
            </a:r>
            <a:r>
              <a:rPr lang="de-DE" sz="2400" dirty="0" err="1"/>
              <a:t>reduce</a:t>
            </a:r>
            <a:r>
              <a:rPr lang="de-DE" sz="2400" dirty="0"/>
              <a:t> </a:t>
            </a:r>
            <a:r>
              <a:rPr lang="de-DE" sz="2400" dirty="0" err="1"/>
              <a:t>hallucination</a:t>
            </a:r>
            <a:r>
              <a:rPr lang="de-DE" sz="2400" dirty="0"/>
              <a:t>, </a:t>
            </a:r>
            <a:r>
              <a:rPr lang="de-DE" sz="2400" dirty="0" err="1"/>
              <a:t>bias</a:t>
            </a:r>
            <a:r>
              <a:rPr lang="de-DE" sz="2400" dirty="0"/>
              <a:t>,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inefficiency</a:t>
            </a: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94247F-54E0-F975-9B44-BD1DC95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2749C-8FF9-4195-0578-28D7BAE75756}"/>
              </a:ext>
            </a:extLst>
          </p:cNvPr>
          <p:cNvSpPr txBox="1"/>
          <p:nvPr/>
        </p:nvSpPr>
        <p:spPr>
          <a:xfrm>
            <a:off x="838200" y="5992297"/>
            <a:ext cx="3333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2"/>
              </a:rPr>
              <a:t>prompt engineering</a:t>
            </a:r>
            <a:r>
              <a:rPr lang="en-GB" dirty="0"/>
              <a:t>, </a:t>
            </a:r>
            <a:r>
              <a:rPr lang="en-GB" dirty="0">
                <a:hlinkClick r:id="rId3"/>
              </a:rPr>
              <a:t>GPT guide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405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C7A33C-A9B9-D27B-1877-BF88E904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Typical</a:t>
            </a:r>
            <a:r>
              <a:rPr lang="de-DE" dirty="0"/>
              <a:t> Prompt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724750-EB8F-43BA-BAB4-8FBC7A6AA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870BD3D-110F-F451-DEB3-2A58CB012973}"/>
              </a:ext>
            </a:extLst>
          </p:cNvPr>
          <p:cNvSpPr txBox="1"/>
          <p:nvPr/>
        </p:nvSpPr>
        <p:spPr>
          <a:xfrm>
            <a:off x="105104" y="2236104"/>
            <a:ext cx="1198179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sz="2800" dirty="0"/>
              <a:t>prompt = </a:t>
            </a:r>
            <a:r>
              <a:rPr lang="de-DE" sz="2800" dirty="0" err="1"/>
              <a:t>instruction</a:t>
            </a:r>
            <a:r>
              <a:rPr lang="de-DE" sz="2800" dirty="0"/>
              <a:t> + </a:t>
            </a:r>
            <a:r>
              <a:rPr lang="de-DE" sz="2800" dirty="0" err="1"/>
              <a:t>context</a:t>
            </a:r>
            <a:r>
              <a:rPr lang="de-DE" sz="2800" dirty="0"/>
              <a:t>  + </a:t>
            </a:r>
            <a:r>
              <a:rPr lang="de-DE" sz="2800" dirty="0" err="1"/>
              <a:t>query</a:t>
            </a:r>
            <a:r>
              <a:rPr lang="de-DE" sz="2800" dirty="0"/>
              <a:t> + </a:t>
            </a:r>
            <a:r>
              <a:rPr lang="de-DE" sz="2800" dirty="0" err="1"/>
              <a:t>examples</a:t>
            </a:r>
            <a:r>
              <a:rPr lang="de-DE" sz="2800" dirty="0"/>
              <a:t> + </a:t>
            </a:r>
            <a:r>
              <a:rPr lang="de-DE" sz="2800" dirty="0" err="1"/>
              <a:t>constraints</a:t>
            </a:r>
            <a:r>
              <a:rPr lang="de-DE" sz="2800" dirty="0"/>
              <a:t> + </a:t>
            </a:r>
            <a:r>
              <a:rPr lang="en-GB" sz="2800" dirty="0"/>
              <a:t>output cue</a:t>
            </a:r>
            <a:endParaRPr lang="de-DE" sz="2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C6C65B-5CAD-0671-1EBD-0747EC6E785B}"/>
              </a:ext>
            </a:extLst>
          </p:cNvPr>
          <p:cNvSpPr txBox="1"/>
          <p:nvPr/>
        </p:nvSpPr>
        <p:spPr>
          <a:xfrm>
            <a:off x="3541985" y="3428999"/>
            <a:ext cx="34841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 err="1"/>
              <a:t>input</a:t>
            </a:r>
            <a:r>
              <a:rPr lang="de-DE" sz="2200" dirty="0"/>
              <a:t>/</a:t>
            </a:r>
            <a:r>
              <a:rPr lang="de-DE" sz="2200" dirty="0" err="1"/>
              <a:t>problem</a:t>
            </a:r>
            <a:r>
              <a:rPr lang="de-DE" sz="2200" dirty="0"/>
              <a:t>: </a:t>
            </a:r>
            <a:r>
              <a:rPr lang="de-DE" sz="2200" dirty="0" err="1"/>
              <a:t>content</a:t>
            </a:r>
            <a:r>
              <a:rPr lang="de-DE" sz="2200" dirty="0"/>
              <a:t> </a:t>
            </a:r>
            <a:r>
              <a:rPr lang="de-DE" sz="2200" dirty="0" err="1"/>
              <a:t>you</a:t>
            </a:r>
            <a:r>
              <a:rPr lang="de-DE" sz="2200" dirty="0"/>
              <a:t> </a:t>
            </a:r>
            <a:r>
              <a:rPr lang="de-DE" sz="2200" dirty="0" err="1"/>
              <a:t>want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work</a:t>
            </a:r>
            <a:r>
              <a:rPr lang="de-DE" sz="2200" dirty="0"/>
              <a:t> on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53715CEC-2DEE-BC0A-D616-66386E5508C7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5284075" y="2659117"/>
            <a:ext cx="241737" cy="769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EE7E1F8D-F864-71F3-1E2E-1B55F3430D99}"/>
              </a:ext>
            </a:extLst>
          </p:cNvPr>
          <p:cNvSpPr txBox="1"/>
          <p:nvPr/>
        </p:nvSpPr>
        <p:spPr>
          <a:xfrm>
            <a:off x="105105" y="3428999"/>
            <a:ext cx="273268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 err="1"/>
              <a:t>task</a:t>
            </a:r>
            <a:r>
              <a:rPr lang="de-DE" sz="2200" dirty="0"/>
              <a:t> </a:t>
            </a:r>
            <a:r>
              <a:rPr lang="de-DE" sz="2200" dirty="0" err="1"/>
              <a:t>definition</a:t>
            </a:r>
            <a:r>
              <a:rPr lang="de-DE" sz="2200" dirty="0"/>
              <a:t>: </a:t>
            </a:r>
            <a:r>
              <a:rPr lang="de-DE" sz="2200" dirty="0" err="1"/>
              <a:t>tells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what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do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7D6E1D10-78F1-824F-A75B-62C2465D43F7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471449" y="2659117"/>
            <a:ext cx="704192" cy="7698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671654F4-8ABF-4AEE-6B22-D02C4D09ECE4}"/>
              </a:ext>
            </a:extLst>
          </p:cNvPr>
          <p:cNvSpPr txBox="1"/>
          <p:nvPr/>
        </p:nvSpPr>
        <p:spPr>
          <a:xfrm>
            <a:off x="507123" y="4909800"/>
            <a:ext cx="457200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/>
              <a:t>optional </a:t>
            </a:r>
            <a:r>
              <a:rPr lang="de-DE" sz="2200" dirty="0" err="1"/>
              <a:t>background</a:t>
            </a:r>
            <a:r>
              <a:rPr lang="de-DE" sz="2200" dirty="0"/>
              <a:t> </a:t>
            </a:r>
            <a:r>
              <a:rPr lang="de-DE" sz="2200" dirty="0" err="1"/>
              <a:t>information</a:t>
            </a:r>
            <a:r>
              <a:rPr lang="de-DE" sz="2200" dirty="0"/>
              <a:t>: </a:t>
            </a:r>
            <a:r>
              <a:rPr lang="de-DE" sz="2200" dirty="0" err="1"/>
              <a:t>provides</a:t>
            </a:r>
            <a:r>
              <a:rPr lang="de-DE" sz="2200" dirty="0"/>
              <a:t> </a:t>
            </a:r>
            <a:r>
              <a:rPr lang="de-DE" sz="2200" dirty="0" err="1"/>
              <a:t>grounding</a:t>
            </a:r>
            <a:r>
              <a:rPr lang="de-DE" sz="2200" dirty="0"/>
              <a:t> </a:t>
            </a:r>
            <a:r>
              <a:rPr lang="de-DE" sz="2200" dirty="0" err="1"/>
              <a:t>or</a:t>
            </a:r>
            <a:r>
              <a:rPr lang="de-DE" sz="2200" dirty="0"/>
              <a:t> domain-</a:t>
            </a:r>
            <a:r>
              <a:rPr lang="de-DE" sz="2200" dirty="0" err="1"/>
              <a:t>specific</a:t>
            </a:r>
            <a:r>
              <a:rPr lang="de-DE" sz="2200" dirty="0"/>
              <a:t> </a:t>
            </a:r>
            <a:r>
              <a:rPr lang="de-DE" sz="2200" dirty="0" err="1"/>
              <a:t>details</a:t>
            </a:r>
            <a:r>
              <a:rPr lang="de-DE" sz="2200" dirty="0"/>
              <a:t> (external </a:t>
            </a:r>
            <a:r>
              <a:rPr lang="de-DE" sz="2200" dirty="0" err="1"/>
              <a:t>knowledge</a:t>
            </a:r>
            <a:r>
              <a:rPr lang="de-DE" sz="2200" dirty="0"/>
              <a:t>, </a:t>
            </a:r>
            <a:r>
              <a:rPr lang="de-DE" sz="2200" dirty="0" err="1"/>
              <a:t>role</a:t>
            </a:r>
            <a:r>
              <a:rPr lang="de-DE" sz="2200" dirty="0"/>
              <a:t> </a:t>
            </a:r>
            <a:r>
              <a:rPr lang="de-DE" sz="2200" dirty="0" err="1"/>
              <a:t>assignment</a:t>
            </a:r>
            <a:r>
              <a:rPr lang="de-DE" sz="2200" dirty="0"/>
              <a:t>, </a:t>
            </a:r>
            <a:r>
              <a:rPr lang="de-DE" sz="2200" dirty="0" err="1"/>
              <a:t>scenario</a:t>
            </a:r>
            <a:r>
              <a:rPr lang="de-DE" sz="2200" dirty="0"/>
              <a:t> </a:t>
            </a:r>
            <a:r>
              <a:rPr lang="de-DE" sz="2200" dirty="0" err="1"/>
              <a:t>setup</a:t>
            </a:r>
            <a:r>
              <a:rPr lang="de-DE" sz="2200" dirty="0"/>
              <a:t>)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C371047A-80E4-CCFA-A63F-115EE112574C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2793124" y="2659117"/>
            <a:ext cx="995855" cy="225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6958D28A-9A07-E4D7-3A45-EA6173215BE4}"/>
              </a:ext>
            </a:extLst>
          </p:cNvPr>
          <p:cNvSpPr txBox="1"/>
          <p:nvPr/>
        </p:nvSpPr>
        <p:spPr>
          <a:xfrm>
            <a:off x="5754413" y="5079077"/>
            <a:ext cx="285618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 err="1"/>
              <a:t>few-shot</a:t>
            </a:r>
            <a:r>
              <a:rPr lang="de-DE" sz="2200" dirty="0"/>
              <a:t> </a:t>
            </a:r>
            <a:r>
              <a:rPr lang="de-DE" sz="2200" dirty="0" err="1"/>
              <a:t>component</a:t>
            </a:r>
            <a:r>
              <a:rPr lang="de-DE" sz="2200" dirty="0"/>
              <a:t>: </a:t>
            </a:r>
            <a:r>
              <a:rPr lang="de-DE" sz="2200" dirty="0" err="1"/>
              <a:t>show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what</a:t>
            </a:r>
            <a:r>
              <a:rPr lang="de-DE" sz="2200" dirty="0"/>
              <a:t> </a:t>
            </a:r>
            <a:r>
              <a:rPr lang="de-DE" sz="2200" dirty="0" err="1"/>
              <a:t>good</a:t>
            </a:r>
            <a:r>
              <a:rPr lang="de-DE" sz="2200" dirty="0"/>
              <a:t> </a:t>
            </a:r>
            <a:r>
              <a:rPr lang="de-DE" sz="2200" dirty="0" err="1"/>
              <a:t>outputs</a:t>
            </a:r>
            <a:r>
              <a:rPr lang="de-DE" sz="2200" dirty="0"/>
              <a:t> </a:t>
            </a:r>
            <a:r>
              <a:rPr lang="de-DE" sz="2200" dirty="0" err="1"/>
              <a:t>look</a:t>
            </a:r>
            <a:r>
              <a:rPr lang="de-DE" sz="2200" dirty="0"/>
              <a:t> like</a:t>
            </a:r>
          </a:p>
        </p:txBody>
      </p: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C9511D65-2DE8-48D7-A392-23467E37A9C2}"/>
              </a:ext>
            </a:extLst>
          </p:cNvPr>
          <p:cNvCxnSpPr>
            <a:stCxn id="29" idx="0"/>
          </p:cNvCxnSpPr>
          <p:nvPr/>
        </p:nvCxnSpPr>
        <p:spPr>
          <a:xfrm flipH="1" flipV="1">
            <a:off x="7026165" y="2659117"/>
            <a:ext cx="156342" cy="2419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C85C3FC9-6325-EBC0-9BF0-7BAF0BFA30E2}"/>
              </a:ext>
            </a:extLst>
          </p:cNvPr>
          <p:cNvSpPr txBox="1"/>
          <p:nvPr/>
        </p:nvSpPr>
        <p:spPr>
          <a:xfrm>
            <a:off x="7267904" y="3315099"/>
            <a:ext cx="299544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 err="1"/>
              <a:t>formatting</a:t>
            </a:r>
            <a:r>
              <a:rPr lang="de-DE" sz="2200" dirty="0"/>
              <a:t>/style/</a:t>
            </a:r>
            <a:r>
              <a:rPr lang="de-DE" sz="2200" dirty="0" err="1"/>
              <a:t>scope</a:t>
            </a:r>
            <a:r>
              <a:rPr lang="de-DE" sz="2200" dirty="0"/>
              <a:t>: </a:t>
            </a:r>
            <a:r>
              <a:rPr lang="de-DE" sz="2200" dirty="0" err="1"/>
              <a:t>specify</a:t>
            </a:r>
            <a:r>
              <a:rPr lang="de-DE" sz="2200" dirty="0"/>
              <a:t> </a:t>
            </a:r>
            <a:r>
              <a:rPr lang="de-DE" sz="2200" dirty="0" err="1"/>
              <a:t>limits</a:t>
            </a:r>
            <a:r>
              <a:rPr lang="de-DE" sz="2200" dirty="0"/>
              <a:t> (</a:t>
            </a:r>
            <a:r>
              <a:rPr lang="de-DE" sz="2200" dirty="0" err="1"/>
              <a:t>length</a:t>
            </a:r>
            <a:r>
              <a:rPr lang="de-DE" sz="2200" dirty="0"/>
              <a:t>, tone, </a:t>
            </a:r>
            <a:r>
              <a:rPr lang="de-DE" sz="2200" dirty="0" err="1"/>
              <a:t>format</a:t>
            </a:r>
            <a:r>
              <a:rPr lang="de-DE" sz="2200" dirty="0"/>
              <a:t>, …)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5CCEF164-0990-3781-69ED-3BAA987F370F}"/>
              </a:ext>
            </a:extLst>
          </p:cNvPr>
          <p:cNvCxnSpPr>
            <a:cxnSpLocks/>
            <a:stCxn id="33" idx="0"/>
          </p:cNvCxnSpPr>
          <p:nvPr/>
        </p:nvCxnSpPr>
        <p:spPr>
          <a:xfrm flipV="1">
            <a:off x="8765628" y="2659117"/>
            <a:ext cx="231227" cy="6559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feld 37">
            <a:extLst>
              <a:ext uri="{FF2B5EF4-FFF2-40B4-BE49-F238E27FC236}">
                <a16:creationId xmlns:a16="http://schemas.microsoft.com/office/drawing/2014/main" id="{752F8930-D5FC-2D39-97FC-8CA77D938486}"/>
              </a:ext>
            </a:extLst>
          </p:cNvPr>
          <p:cNvSpPr txBox="1"/>
          <p:nvPr/>
        </p:nvSpPr>
        <p:spPr>
          <a:xfrm>
            <a:off x="9283260" y="4525079"/>
            <a:ext cx="280363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 err="1"/>
              <a:t>indicator</a:t>
            </a:r>
            <a:r>
              <a:rPr lang="de-DE" sz="2200" dirty="0"/>
              <a:t>: </a:t>
            </a:r>
            <a:r>
              <a:rPr lang="de-DE" sz="2200" dirty="0" err="1"/>
              <a:t>signal</a:t>
            </a:r>
            <a:r>
              <a:rPr lang="de-DE" sz="2200" dirty="0"/>
              <a:t> </a:t>
            </a:r>
            <a:r>
              <a:rPr lang="de-DE" sz="2200" dirty="0" err="1"/>
              <a:t>that</a:t>
            </a:r>
            <a:r>
              <a:rPr lang="de-DE" sz="2200" dirty="0"/>
              <a:t> </a:t>
            </a:r>
            <a:r>
              <a:rPr lang="de-DE" sz="2200" dirty="0" err="1"/>
              <a:t>tells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model</a:t>
            </a:r>
            <a:r>
              <a:rPr lang="de-DE" sz="2200" dirty="0"/>
              <a:t> </a:t>
            </a:r>
            <a:r>
              <a:rPr lang="de-DE" sz="2200" dirty="0" err="1"/>
              <a:t>where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start</a:t>
            </a:r>
            <a:r>
              <a:rPr lang="de-DE" sz="2200" dirty="0"/>
              <a:t> </a:t>
            </a:r>
            <a:r>
              <a:rPr lang="de-DE" sz="2200" dirty="0" err="1"/>
              <a:t>responding</a:t>
            </a:r>
            <a:endParaRPr lang="de-DE" sz="2200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C387D111-CD79-83D4-8014-E487312CD896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10685078" y="2659117"/>
            <a:ext cx="434208" cy="1865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640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F58503B1-CEC4-9794-F4D7-151B2359BEDA}"/>
              </a:ext>
            </a:extLst>
          </p:cNvPr>
          <p:cNvSpPr/>
          <p:nvPr/>
        </p:nvSpPr>
        <p:spPr>
          <a:xfrm>
            <a:off x="838199" y="1938645"/>
            <a:ext cx="10515600" cy="154216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685659-7CF5-E08D-9733-0A09F1AB7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Prompt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AD1845-C367-C383-48AF-596D2B22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C19A621-4D40-8948-022A-80C9FB69459D}"/>
              </a:ext>
            </a:extLst>
          </p:cNvPr>
          <p:cNvSpPr txBox="1"/>
          <p:nvPr/>
        </p:nvSpPr>
        <p:spPr>
          <a:xfrm>
            <a:off x="838200" y="2063506"/>
            <a:ext cx="10515600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de-DE" sz="2600" dirty="0" err="1"/>
              <a:t>Summarize</a:t>
            </a:r>
            <a:r>
              <a:rPr lang="de-DE" sz="2600" dirty="0"/>
              <a:t> </a:t>
            </a:r>
            <a:r>
              <a:rPr lang="de-DE" sz="2600" dirty="0" err="1"/>
              <a:t>the</a:t>
            </a:r>
            <a:r>
              <a:rPr lang="de-DE" sz="2600" dirty="0"/>
              <a:t> </a:t>
            </a:r>
            <a:r>
              <a:rPr lang="de-DE" sz="2600" dirty="0" err="1"/>
              <a:t>following</a:t>
            </a:r>
            <a:r>
              <a:rPr lang="de-DE" sz="2600" dirty="0"/>
              <a:t> </a:t>
            </a:r>
            <a:r>
              <a:rPr lang="de-DE" sz="2600" dirty="0" err="1"/>
              <a:t>text</a:t>
            </a:r>
            <a:r>
              <a:rPr lang="de-DE" sz="2600" dirty="0"/>
              <a:t> in </a:t>
            </a:r>
            <a:r>
              <a:rPr lang="de-DE" sz="2600" dirty="0" err="1"/>
              <a:t>one</a:t>
            </a:r>
            <a:r>
              <a:rPr lang="de-DE" sz="2600" dirty="0"/>
              <a:t> </a:t>
            </a:r>
            <a:r>
              <a:rPr lang="de-DE" sz="2600" dirty="0" err="1"/>
              <a:t>sentence</a:t>
            </a:r>
            <a:r>
              <a:rPr lang="de-DE" sz="2600" dirty="0"/>
              <a:t>.</a:t>
            </a:r>
          </a:p>
          <a:p>
            <a:r>
              <a:rPr lang="de-DE" sz="2600" dirty="0"/>
              <a:t>Text: "Large </a:t>
            </a:r>
            <a:r>
              <a:rPr lang="de-DE" sz="2600" dirty="0" err="1"/>
              <a:t>language</a:t>
            </a:r>
            <a:r>
              <a:rPr lang="de-DE" sz="2600" dirty="0"/>
              <a:t> </a:t>
            </a:r>
            <a:r>
              <a:rPr lang="de-DE" sz="2600" dirty="0" err="1"/>
              <a:t>models</a:t>
            </a:r>
            <a:r>
              <a:rPr lang="de-DE" sz="2600" dirty="0"/>
              <a:t> </a:t>
            </a:r>
            <a:r>
              <a:rPr lang="de-DE" sz="2600" dirty="0" err="1"/>
              <a:t>show</a:t>
            </a:r>
            <a:r>
              <a:rPr lang="de-DE" sz="2600" dirty="0"/>
              <a:t> emergent </a:t>
            </a:r>
            <a:r>
              <a:rPr lang="de-DE" sz="2600" dirty="0" err="1"/>
              <a:t>abilities</a:t>
            </a:r>
            <a:r>
              <a:rPr lang="de-DE" sz="2600" dirty="0"/>
              <a:t> </a:t>
            </a:r>
            <a:r>
              <a:rPr lang="de-DE" sz="2600" dirty="0" err="1"/>
              <a:t>when</a:t>
            </a:r>
            <a:r>
              <a:rPr lang="de-DE" sz="2600" dirty="0"/>
              <a:t> </a:t>
            </a:r>
            <a:r>
              <a:rPr lang="de-DE" sz="2600" dirty="0" err="1"/>
              <a:t>scaled</a:t>
            </a:r>
            <a:r>
              <a:rPr lang="de-DE" sz="2600" dirty="0"/>
              <a:t>."</a:t>
            </a:r>
          </a:p>
          <a:p>
            <a:r>
              <a:rPr lang="de-DE" sz="2600" dirty="0" err="1"/>
              <a:t>Answer</a:t>
            </a:r>
            <a:r>
              <a:rPr lang="de-DE" sz="2600" dirty="0"/>
              <a:t>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6B376AE-2DB8-0C5B-E0EB-22BA81CAFFDC}"/>
              </a:ext>
            </a:extLst>
          </p:cNvPr>
          <p:cNvSpPr txBox="1"/>
          <p:nvPr/>
        </p:nvSpPr>
        <p:spPr>
          <a:xfrm>
            <a:off x="838200" y="4015512"/>
            <a:ext cx="10515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dirty="0" err="1"/>
              <a:t>instruction</a:t>
            </a:r>
            <a:r>
              <a:rPr lang="de-DE" sz="2600" dirty="0"/>
              <a:t>: </a:t>
            </a:r>
            <a:r>
              <a:rPr lang="de-DE" sz="2600" i="1" dirty="0" err="1"/>
              <a:t>Summarize</a:t>
            </a:r>
            <a:r>
              <a:rPr lang="de-DE" sz="2600" i="1" dirty="0"/>
              <a:t> </a:t>
            </a:r>
            <a:r>
              <a:rPr lang="de-DE" sz="2600" i="1" dirty="0" err="1"/>
              <a:t>the</a:t>
            </a:r>
            <a:r>
              <a:rPr lang="de-DE" sz="2600" i="1" dirty="0"/>
              <a:t> </a:t>
            </a:r>
            <a:r>
              <a:rPr lang="de-DE" sz="2600" i="1" dirty="0" err="1"/>
              <a:t>following</a:t>
            </a:r>
            <a:r>
              <a:rPr lang="de-DE" sz="2600" i="1" dirty="0"/>
              <a:t> </a:t>
            </a:r>
            <a:r>
              <a:rPr lang="de-DE" sz="2600" i="1" dirty="0" err="1"/>
              <a:t>text</a:t>
            </a:r>
            <a:r>
              <a:rPr lang="de-DE" sz="2600" i="1" dirty="0"/>
              <a:t> in </a:t>
            </a:r>
            <a:r>
              <a:rPr lang="de-DE" sz="2600" i="1" dirty="0" err="1"/>
              <a:t>one</a:t>
            </a:r>
            <a:r>
              <a:rPr lang="de-DE" sz="2600" i="1" dirty="0"/>
              <a:t> </a:t>
            </a:r>
            <a:r>
              <a:rPr lang="de-DE" sz="2600" i="1" dirty="0" err="1"/>
              <a:t>sentence</a:t>
            </a:r>
            <a:r>
              <a:rPr lang="de-DE" sz="2600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dirty="0" err="1"/>
              <a:t>query</a:t>
            </a:r>
            <a:r>
              <a:rPr lang="de-DE" sz="2600" dirty="0"/>
              <a:t> (</a:t>
            </a:r>
            <a:r>
              <a:rPr lang="de-DE" sz="2600" dirty="0" err="1"/>
              <a:t>input</a:t>
            </a:r>
            <a:r>
              <a:rPr lang="de-DE" sz="2600" dirty="0"/>
              <a:t>/</a:t>
            </a:r>
            <a:r>
              <a:rPr lang="de-DE" sz="2600" dirty="0" err="1"/>
              <a:t>problem</a:t>
            </a:r>
            <a:r>
              <a:rPr lang="de-DE" sz="2600" dirty="0"/>
              <a:t>): </a:t>
            </a:r>
            <a:r>
              <a:rPr lang="de-DE" sz="2600" i="1" dirty="0"/>
              <a:t>Large </a:t>
            </a:r>
            <a:r>
              <a:rPr lang="de-DE" sz="2600" i="1" dirty="0" err="1"/>
              <a:t>language</a:t>
            </a:r>
            <a:r>
              <a:rPr lang="de-DE" sz="2600" i="1" dirty="0"/>
              <a:t> </a:t>
            </a:r>
            <a:r>
              <a:rPr lang="de-DE" sz="2600" i="1" dirty="0" err="1"/>
              <a:t>models</a:t>
            </a:r>
            <a:r>
              <a:rPr lang="de-DE" sz="2600" i="1" dirty="0"/>
              <a:t> </a:t>
            </a:r>
            <a:r>
              <a:rPr lang="de-DE" sz="2600" i="1" dirty="0" err="1"/>
              <a:t>show</a:t>
            </a:r>
            <a:r>
              <a:rPr lang="de-DE" sz="2600" i="1" dirty="0"/>
              <a:t> emergent </a:t>
            </a:r>
            <a:r>
              <a:rPr lang="de-DE" sz="2600" i="1" dirty="0" err="1"/>
              <a:t>behavior</a:t>
            </a:r>
            <a:r>
              <a:rPr lang="de-DE" sz="2600" i="1" dirty="0"/>
              <a:t> </a:t>
            </a:r>
            <a:r>
              <a:rPr lang="de-DE" sz="2600" i="1" dirty="0" err="1"/>
              <a:t>when</a:t>
            </a:r>
            <a:r>
              <a:rPr lang="de-DE" sz="2600" i="1" dirty="0"/>
              <a:t> </a:t>
            </a:r>
            <a:r>
              <a:rPr lang="de-DE" sz="2600" i="1" dirty="0" err="1"/>
              <a:t>scaled</a:t>
            </a:r>
            <a:r>
              <a:rPr lang="de-DE" sz="2600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dirty="0" err="1"/>
              <a:t>constraint</a:t>
            </a:r>
            <a:r>
              <a:rPr lang="de-DE" sz="2600" dirty="0"/>
              <a:t>: </a:t>
            </a:r>
            <a:r>
              <a:rPr lang="de-DE" sz="2600" dirty="0" err="1"/>
              <a:t>implicit</a:t>
            </a:r>
            <a:r>
              <a:rPr lang="de-DE" sz="2600" dirty="0"/>
              <a:t> </a:t>
            </a:r>
            <a:r>
              <a:rPr lang="de-DE" sz="2600" dirty="0">
                <a:sym typeface="Wingdings" pitchFamily="2" charset="2"/>
              </a:rPr>
              <a:t></a:t>
            </a:r>
            <a:r>
              <a:rPr lang="de-DE" sz="2600" dirty="0"/>
              <a:t> </a:t>
            </a:r>
            <a:r>
              <a:rPr lang="de-DE" sz="2600" i="1" dirty="0"/>
              <a:t>in </a:t>
            </a:r>
            <a:r>
              <a:rPr lang="de-DE" sz="2600" i="1" dirty="0" err="1"/>
              <a:t>one</a:t>
            </a:r>
            <a:r>
              <a:rPr lang="de-DE" sz="2600" i="1" dirty="0"/>
              <a:t> </a:t>
            </a:r>
            <a:r>
              <a:rPr lang="de-DE" sz="2600" i="1" dirty="0" err="1"/>
              <a:t>sentence</a:t>
            </a:r>
            <a:endParaRPr lang="de-DE" sz="2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600" dirty="0" err="1"/>
              <a:t>output</a:t>
            </a:r>
            <a:r>
              <a:rPr lang="de-DE" sz="2600" dirty="0"/>
              <a:t> </a:t>
            </a:r>
            <a:r>
              <a:rPr lang="de-DE" sz="2600" dirty="0" err="1"/>
              <a:t>cue</a:t>
            </a:r>
            <a:r>
              <a:rPr lang="de-DE" sz="2600" dirty="0"/>
              <a:t>: </a:t>
            </a:r>
            <a:r>
              <a:rPr lang="de-DE" sz="2600" i="1" dirty="0" err="1"/>
              <a:t>Answer</a:t>
            </a:r>
            <a:r>
              <a:rPr lang="de-DE" sz="2600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3035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67763-BA03-E9EB-BBD8-AB34992A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Simplest</a:t>
            </a:r>
            <a:r>
              <a:rPr lang="de-DE" dirty="0"/>
              <a:t> Possible Prompt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17F193C-E9AF-5E8D-50CF-A251BE7D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9</a:t>
            </a:fld>
            <a:endParaRPr lang="de-DE"/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513F3D50-3E0B-A634-64B5-B2C4E6751EC6}"/>
              </a:ext>
            </a:extLst>
          </p:cNvPr>
          <p:cNvSpPr/>
          <p:nvPr/>
        </p:nvSpPr>
        <p:spPr>
          <a:xfrm>
            <a:off x="838200" y="2379065"/>
            <a:ext cx="10515600" cy="4924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0251A4B-4312-14BA-2975-5B38B926AB60}"/>
              </a:ext>
            </a:extLst>
          </p:cNvPr>
          <p:cNvSpPr txBox="1"/>
          <p:nvPr/>
        </p:nvSpPr>
        <p:spPr>
          <a:xfrm>
            <a:off x="838201" y="2379065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de-DE" sz="2400" dirty="0" err="1"/>
              <a:t>Summarize</a:t>
            </a:r>
            <a:r>
              <a:rPr lang="de-DE" sz="2400" dirty="0"/>
              <a:t>: Large 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r>
              <a:rPr lang="de-DE" sz="2400" dirty="0"/>
              <a:t> </a:t>
            </a:r>
            <a:r>
              <a:rPr lang="de-DE" sz="2400" dirty="0" err="1"/>
              <a:t>show</a:t>
            </a:r>
            <a:r>
              <a:rPr lang="de-DE" sz="2400" dirty="0"/>
              <a:t> emergent </a:t>
            </a:r>
            <a:r>
              <a:rPr lang="de-DE" sz="2400" dirty="0" err="1"/>
              <a:t>abilities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scaled</a:t>
            </a:r>
            <a:r>
              <a:rPr lang="de-DE" sz="2400" dirty="0"/>
              <a:t>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0B04EAD-D755-BA6D-8FB8-68EDC8D79CDE}"/>
              </a:ext>
            </a:extLst>
          </p:cNvPr>
          <p:cNvSpPr txBox="1"/>
          <p:nvPr/>
        </p:nvSpPr>
        <p:spPr>
          <a:xfrm>
            <a:off x="838198" y="3343214"/>
            <a:ext cx="10515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/>
              <a:t>but </a:t>
            </a:r>
            <a:r>
              <a:rPr lang="de-DE" sz="2400" dirty="0" err="1"/>
              <a:t>without</a:t>
            </a:r>
            <a:r>
              <a:rPr lang="de-DE" sz="2400" dirty="0"/>
              <a:t> </a:t>
            </a:r>
            <a:r>
              <a:rPr lang="de-DE" sz="2400" dirty="0" err="1"/>
              <a:t>instruction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r>
              <a:rPr lang="de-DE" sz="2400" dirty="0"/>
              <a:t> just </a:t>
            </a:r>
            <a:r>
              <a:rPr lang="de-DE" sz="2400" dirty="0" err="1"/>
              <a:t>completes</a:t>
            </a:r>
            <a:r>
              <a:rPr lang="de-DE" sz="2400" dirty="0"/>
              <a:t>/</a:t>
            </a:r>
            <a:r>
              <a:rPr lang="de-DE" sz="2400" dirty="0" err="1"/>
              <a:t>continues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query</a:t>
            </a:r>
            <a:r>
              <a:rPr lang="de-DE" sz="2400" dirty="0"/>
              <a:t> </a:t>
            </a:r>
            <a:r>
              <a:rPr lang="de-DE" sz="2400" dirty="0" err="1"/>
              <a:t>text</a:t>
            </a:r>
            <a:r>
              <a:rPr lang="de-DE" sz="2400" dirty="0"/>
              <a:t> (</a:t>
            </a:r>
            <a:r>
              <a:rPr lang="de-DE" sz="2400" dirty="0" err="1"/>
              <a:t>usually</a:t>
            </a:r>
            <a:r>
              <a:rPr lang="de-DE" sz="2400" dirty="0"/>
              <a:t> not </a:t>
            </a:r>
            <a:r>
              <a:rPr lang="de-DE" sz="2400" dirty="0" err="1"/>
              <a:t>really</a:t>
            </a:r>
            <a:r>
              <a:rPr lang="de-DE" sz="2400" dirty="0"/>
              <a:t> </a:t>
            </a:r>
            <a:r>
              <a:rPr lang="de-DE" sz="2400" dirty="0" err="1"/>
              <a:t>useful</a:t>
            </a:r>
            <a:r>
              <a:rPr lang="de-DE" sz="2400" dirty="0"/>
              <a:t>):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5870F78-9E2E-C6DE-8EE7-FB30CCBF58DC}"/>
              </a:ext>
            </a:extLst>
          </p:cNvPr>
          <p:cNvSpPr txBox="1"/>
          <p:nvPr/>
        </p:nvSpPr>
        <p:spPr>
          <a:xfrm>
            <a:off x="838198" y="1760748"/>
            <a:ext cx="105155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 err="1"/>
              <a:t>often</a:t>
            </a:r>
            <a:r>
              <a:rPr lang="de-DE" sz="2400" dirty="0"/>
              <a:t> </a:t>
            </a:r>
            <a:r>
              <a:rPr lang="de-DE" sz="2400" dirty="0" err="1"/>
              <a:t>query</a:t>
            </a:r>
            <a:r>
              <a:rPr lang="de-DE" sz="2400" dirty="0"/>
              <a:t> </a:t>
            </a:r>
            <a:r>
              <a:rPr lang="de-DE" sz="2400" dirty="0" err="1"/>
              <a:t>phrased</a:t>
            </a:r>
            <a:r>
              <a:rPr lang="de-DE" sz="2400" dirty="0"/>
              <a:t> </a:t>
            </a:r>
            <a:r>
              <a:rPr lang="de-DE" sz="2400" dirty="0" err="1"/>
              <a:t>as</a:t>
            </a:r>
            <a:r>
              <a:rPr lang="de-DE" sz="2400" dirty="0"/>
              <a:t> </a:t>
            </a:r>
            <a:r>
              <a:rPr lang="de-DE" sz="2400" dirty="0" err="1"/>
              <a:t>instruction</a:t>
            </a:r>
            <a:r>
              <a:rPr lang="de-DE" sz="2400" dirty="0"/>
              <a:t>: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C9329544-3E55-F0F7-483A-58AC6E1C42EF}"/>
              </a:ext>
            </a:extLst>
          </p:cNvPr>
          <p:cNvSpPr/>
          <p:nvPr/>
        </p:nvSpPr>
        <p:spPr>
          <a:xfrm>
            <a:off x="838196" y="4332195"/>
            <a:ext cx="10515600" cy="4924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8AFF487-5B01-1C46-AB84-7D80B7EEA778}"/>
              </a:ext>
            </a:extLst>
          </p:cNvPr>
          <p:cNvSpPr txBox="1"/>
          <p:nvPr/>
        </p:nvSpPr>
        <p:spPr>
          <a:xfrm>
            <a:off x="838197" y="4332195"/>
            <a:ext cx="1051560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de-DE" sz="2400" dirty="0"/>
              <a:t>Large </a:t>
            </a:r>
            <a:r>
              <a:rPr lang="de-DE" sz="2400" dirty="0" err="1"/>
              <a:t>language</a:t>
            </a:r>
            <a:r>
              <a:rPr lang="de-DE" sz="2400" dirty="0"/>
              <a:t> </a:t>
            </a:r>
            <a:r>
              <a:rPr lang="de-DE" sz="2400" dirty="0" err="1"/>
              <a:t>models</a:t>
            </a:r>
            <a:r>
              <a:rPr lang="de-DE" sz="2400" dirty="0"/>
              <a:t> </a:t>
            </a:r>
            <a:r>
              <a:rPr lang="de-DE" sz="2400" dirty="0" err="1"/>
              <a:t>show</a:t>
            </a:r>
            <a:r>
              <a:rPr lang="de-DE" sz="2400" dirty="0"/>
              <a:t> emergent </a:t>
            </a:r>
            <a:r>
              <a:rPr lang="de-DE" sz="2400" dirty="0" err="1"/>
              <a:t>abilities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scaled</a:t>
            </a:r>
            <a:r>
              <a:rPr lang="de-DE" sz="2400" dirty="0"/>
              <a:t>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B3DB3D3-1D41-30F4-109A-029C41C9A536}"/>
              </a:ext>
            </a:extLst>
          </p:cNvPr>
          <p:cNvSpPr txBox="1"/>
          <p:nvPr/>
        </p:nvSpPr>
        <p:spPr>
          <a:xfrm>
            <a:off x="838196" y="5513015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200" dirty="0"/>
              <a:t>At </a:t>
            </a:r>
            <a:r>
              <a:rPr lang="de-DE" sz="2200" dirty="0" err="1"/>
              <a:t>the</a:t>
            </a:r>
            <a:r>
              <a:rPr lang="de-DE" sz="2200" dirty="0"/>
              <a:t> bare </a:t>
            </a:r>
            <a:r>
              <a:rPr lang="de-DE" sz="2200" dirty="0" err="1"/>
              <a:t>minimum</a:t>
            </a:r>
            <a:r>
              <a:rPr lang="de-DE" sz="2200" dirty="0"/>
              <a:t>, </a:t>
            </a:r>
            <a:r>
              <a:rPr lang="de-DE" sz="2200" dirty="0" err="1"/>
              <a:t>you</a:t>
            </a:r>
            <a:r>
              <a:rPr lang="de-DE" sz="2200" dirty="0"/>
              <a:t> </a:t>
            </a:r>
            <a:r>
              <a:rPr lang="de-DE" sz="2200" dirty="0" err="1"/>
              <a:t>only</a:t>
            </a:r>
            <a:r>
              <a:rPr lang="de-DE" sz="2200" dirty="0"/>
              <a:t> </a:t>
            </a:r>
            <a:r>
              <a:rPr lang="de-DE" sz="2200" dirty="0" err="1"/>
              <a:t>need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query</a:t>
            </a:r>
            <a:r>
              <a:rPr lang="de-DE" sz="2200" dirty="0"/>
              <a:t>. But </a:t>
            </a:r>
            <a:r>
              <a:rPr lang="de-DE" sz="2200" dirty="0" err="1"/>
              <a:t>for</a:t>
            </a:r>
            <a:r>
              <a:rPr lang="de-DE" sz="2200" dirty="0"/>
              <a:t> reliable, </a:t>
            </a:r>
            <a:r>
              <a:rPr lang="de-DE" sz="2200" dirty="0" err="1"/>
              <a:t>controllable</a:t>
            </a:r>
            <a:r>
              <a:rPr lang="de-DE" sz="2200" dirty="0"/>
              <a:t> </a:t>
            </a:r>
            <a:r>
              <a:rPr lang="de-DE" sz="2200" dirty="0" err="1"/>
              <a:t>outputs</a:t>
            </a:r>
            <a:r>
              <a:rPr lang="de-DE" sz="2200" dirty="0"/>
              <a:t>, </a:t>
            </a:r>
            <a:r>
              <a:rPr lang="de-DE" sz="2200" dirty="0" err="1"/>
              <a:t>you</a:t>
            </a:r>
            <a:r>
              <a:rPr lang="de-DE" sz="2200" dirty="0"/>
              <a:t> </a:t>
            </a:r>
            <a:r>
              <a:rPr lang="de-DE" sz="2200" dirty="0" err="1"/>
              <a:t>usually</a:t>
            </a:r>
            <a:r>
              <a:rPr lang="de-DE" sz="2200" dirty="0"/>
              <a:t> </a:t>
            </a:r>
            <a:r>
              <a:rPr lang="de-DE" sz="2200" dirty="0" err="1"/>
              <a:t>need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scaffold</a:t>
            </a:r>
            <a:r>
              <a:rPr lang="de-DE" sz="2200" dirty="0"/>
              <a:t> </a:t>
            </a:r>
            <a:r>
              <a:rPr lang="de-DE" sz="2200" dirty="0" err="1"/>
              <a:t>it</a:t>
            </a:r>
            <a:r>
              <a:rPr lang="de-DE" sz="2200" dirty="0"/>
              <a:t> </a:t>
            </a:r>
            <a:r>
              <a:rPr lang="de-DE" sz="2200" dirty="0" err="1"/>
              <a:t>with</a:t>
            </a:r>
            <a:r>
              <a:rPr lang="de-DE" sz="2200" dirty="0"/>
              <a:t> </a:t>
            </a:r>
            <a:r>
              <a:rPr lang="de-DE" sz="2200" dirty="0" err="1"/>
              <a:t>instruction</a:t>
            </a:r>
            <a:r>
              <a:rPr lang="de-DE" sz="2200" dirty="0"/>
              <a:t>, </a:t>
            </a:r>
            <a:r>
              <a:rPr lang="de-DE" sz="2200" dirty="0" err="1"/>
              <a:t>context</a:t>
            </a:r>
            <a:r>
              <a:rPr lang="de-DE" sz="2200" dirty="0"/>
              <a:t>, </a:t>
            </a:r>
            <a:r>
              <a:rPr lang="de-DE" sz="2200" dirty="0" err="1"/>
              <a:t>constraints</a:t>
            </a:r>
            <a:r>
              <a:rPr lang="de-DE" sz="2200" dirty="0"/>
              <a:t>, etc.</a:t>
            </a:r>
          </a:p>
        </p:txBody>
      </p:sp>
    </p:spTree>
    <p:extLst>
      <p:ext uri="{BB962C8B-B14F-4D97-AF65-F5344CB8AC3E}">
        <p14:creationId xmlns:p14="http://schemas.microsoft.com/office/powerpoint/2010/main" val="753234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CA25D154-0FB2-973F-9A9E-95CBA2AD346F}"/>
              </a:ext>
            </a:extLst>
          </p:cNvPr>
          <p:cNvSpPr/>
          <p:nvPr/>
        </p:nvSpPr>
        <p:spPr>
          <a:xfrm>
            <a:off x="838199" y="3352803"/>
            <a:ext cx="10515600" cy="87235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CAA1A9C-76E3-0133-C89B-D8E2D6C6FF97}"/>
              </a:ext>
            </a:extLst>
          </p:cNvPr>
          <p:cNvSpPr/>
          <p:nvPr/>
        </p:nvSpPr>
        <p:spPr>
          <a:xfrm>
            <a:off x="838199" y="1821771"/>
            <a:ext cx="10515600" cy="4924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045ED5-75AB-79CC-0C3B-A182F015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Practices: Clear </a:t>
            </a:r>
            <a:r>
              <a:rPr lang="de-DE" dirty="0" err="1"/>
              <a:t>Instruction</a:t>
            </a:r>
            <a:r>
              <a:rPr lang="de-DE" dirty="0"/>
              <a:t> &amp; Query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4A230B-BA19-4ED9-627A-F5480F61D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Tell </a:t>
            </a:r>
            <a:r>
              <a:rPr lang="de-DE" dirty="0" err="1"/>
              <a:t>me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</a:t>
            </a:r>
            <a:r>
              <a:rPr lang="de-DE" dirty="0" err="1"/>
              <a:t>photosynthesis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better</a:t>
            </a:r>
            <a:r>
              <a:rPr lang="de-DE" dirty="0"/>
              <a:t>:</a:t>
            </a:r>
          </a:p>
          <a:p>
            <a:pPr marL="0" indent="0">
              <a:buNone/>
            </a:pPr>
            <a:r>
              <a:rPr lang="de-DE" dirty="0" err="1"/>
              <a:t>Explain</a:t>
            </a:r>
            <a:r>
              <a:rPr lang="de-DE" dirty="0"/>
              <a:t> </a:t>
            </a:r>
            <a:r>
              <a:rPr lang="de-DE" dirty="0" err="1"/>
              <a:t>photosynthesis</a:t>
            </a:r>
            <a:r>
              <a:rPr lang="de-DE" dirty="0"/>
              <a:t> in simple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suitable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 12-year-old, </a:t>
            </a:r>
            <a:r>
              <a:rPr lang="de-DE" dirty="0" err="1"/>
              <a:t>using</a:t>
            </a:r>
            <a:r>
              <a:rPr lang="de-DE" dirty="0"/>
              <a:t> a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paragraph</a:t>
            </a:r>
            <a:r>
              <a:rPr lang="de-DE" dirty="0"/>
              <a:t> and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analogy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/>
              <a:t>clearly</a:t>
            </a:r>
            <a:r>
              <a:rPr lang="de-DE" dirty="0"/>
              <a:t> </a:t>
            </a:r>
            <a:r>
              <a:rPr lang="de-DE" dirty="0" err="1"/>
              <a:t>state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do (</a:t>
            </a:r>
            <a:r>
              <a:rPr lang="de-DE" dirty="0" err="1"/>
              <a:t>best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, </a:t>
            </a:r>
            <a:r>
              <a:rPr lang="de-DE" dirty="0" err="1"/>
              <a:t>unambiguous</a:t>
            </a:r>
            <a:r>
              <a:rPr lang="de-DE" dirty="0"/>
              <a:t>, and </a:t>
            </a:r>
            <a:r>
              <a:rPr lang="de-DE" dirty="0" err="1"/>
              <a:t>outcome-focused</a:t>
            </a:r>
            <a:r>
              <a:rPr lang="de-DE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D02DBD-FC34-E800-F190-4326570D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74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B449-7620-A784-A2F5-4986FCEF1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A6C00891-571F-DD38-4585-46B9DCA32A9A}"/>
              </a:ext>
            </a:extLst>
          </p:cNvPr>
          <p:cNvSpPr/>
          <p:nvPr/>
        </p:nvSpPr>
        <p:spPr>
          <a:xfrm>
            <a:off x="838199" y="3037491"/>
            <a:ext cx="10515600" cy="120868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32DB7149-77A6-7F3B-3D20-F15E6A3C9E98}"/>
              </a:ext>
            </a:extLst>
          </p:cNvPr>
          <p:cNvSpPr/>
          <p:nvPr/>
        </p:nvSpPr>
        <p:spPr>
          <a:xfrm>
            <a:off x="838199" y="1758711"/>
            <a:ext cx="10515600" cy="4924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259CED2-CD37-A203-F284-37E1FC19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Practices: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Context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454742-BBBE-18B7-CEB1-0F8D96C12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dirty="0"/>
              <a:t>Write </a:t>
            </a:r>
            <a:r>
              <a:rPr lang="de-DE" sz="2400" dirty="0" err="1"/>
              <a:t>about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causes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French Revolution.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better</a:t>
            </a:r>
            <a:r>
              <a:rPr lang="de-DE" sz="2400" dirty="0"/>
              <a:t>:</a:t>
            </a:r>
          </a:p>
          <a:p>
            <a:pPr marL="0" indent="0">
              <a:buNone/>
            </a:pP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are</a:t>
            </a:r>
            <a:r>
              <a:rPr lang="de-DE" sz="2400" dirty="0"/>
              <a:t> a </a:t>
            </a:r>
            <a:r>
              <a:rPr lang="de-DE" sz="2400" dirty="0" err="1"/>
              <a:t>historian</a:t>
            </a:r>
            <a:r>
              <a:rPr lang="de-DE" sz="2400" dirty="0"/>
              <a:t> </a:t>
            </a:r>
            <a:r>
              <a:rPr lang="de-DE" sz="2400" dirty="0" err="1"/>
              <a:t>writing</a:t>
            </a:r>
            <a:r>
              <a:rPr lang="de-DE" sz="2400" dirty="0"/>
              <a:t> a </a:t>
            </a:r>
            <a:r>
              <a:rPr lang="de-DE" sz="2400" dirty="0" err="1"/>
              <a:t>study</a:t>
            </a:r>
            <a:r>
              <a:rPr lang="de-DE" sz="2400" dirty="0"/>
              <a:t> </a:t>
            </a:r>
            <a:r>
              <a:rPr lang="de-DE" sz="2400" dirty="0" err="1"/>
              <a:t>guide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undergraduate</a:t>
            </a:r>
            <a:r>
              <a:rPr lang="de-DE" sz="2400" dirty="0"/>
              <a:t> </a:t>
            </a:r>
            <a:r>
              <a:rPr lang="de-DE" sz="2400" dirty="0" err="1"/>
              <a:t>students</a:t>
            </a:r>
            <a:r>
              <a:rPr lang="de-DE" sz="2400" dirty="0"/>
              <a:t>.  </a:t>
            </a:r>
          </a:p>
          <a:p>
            <a:pPr marL="0" indent="0">
              <a:buNone/>
            </a:pPr>
            <a:r>
              <a:rPr lang="de-DE" sz="2400" dirty="0"/>
              <a:t>Write a </a:t>
            </a:r>
            <a:r>
              <a:rPr lang="de-DE" sz="2400" dirty="0" err="1"/>
              <a:t>concise</a:t>
            </a:r>
            <a:r>
              <a:rPr lang="de-DE" sz="2400" dirty="0"/>
              <a:t> </a:t>
            </a:r>
            <a:r>
              <a:rPr lang="de-DE" sz="2400" dirty="0" err="1"/>
              <a:t>explanation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causes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French Revolution, </a:t>
            </a:r>
            <a:r>
              <a:rPr lang="de-DE" sz="2400" dirty="0" err="1"/>
              <a:t>highlighting</a:t>
            </a:r>
            <a:r>
              <a:rPr lang="de-DE" sz="2400" dirty="0"/>
              <a:t> 3 </a:t>
            </a:r>
            <a:r>
              <a:rPr lang="de-DE" sz="2400" dirty="0" err="1"/>
              <a:t>major</a:t>
            </a:r>
            <a:r>
              <a:rPr lang="de-DE" sz="2400" dirty="0"/>
              <a:t> </a:t>
            </a:r>
            <a:r>
              <a:rPr lang="de-DE" sz="2400" dirty="0" err="1"/>
              <a:t>factors</a:t>
            </a:r>
            <a:r>
              <a:rPr lang="de-DE" sz="2400" dirty="0"/>
              <a:t>.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context</a:t>
            </a:r>
            <a:r>
              <a:rPr lang="de-DE" sz="2400" dirty="0"/>
              <a:t>: </a:t>
            </a:r>
            <a:r>
              <a:rPr lang="de-DE" sz="2400" i="1" dirty="0" err="1"/>
              <a:t>You</a:t>
            </a:r>
            <a:r>
              <a:rPr lang="de-DE" sz="2400" i="1" dirty="0"/>
              <a:t> </a:t>
            </a:r>
            <a:r>
              <a:rPr lang="de-DE" sz="2400" i="1" dirty="0" err="1"/>
              <a:t>are</a:t>
            </a:r>
            <a:r>
              <a:rPr lang="de-DE" sz="2400" i="1" dirty="0"/>
              <a:t> a </a:t>
            </a:r>
            <a:r>
              <a:rPr lang="de-DE" sz="2400" i="1" dirty="0" err="1"/>
              <a:t>historian</a:t>
            </a:r>
            <a:r>
              <a:rPr lang="de-DE" sz="2400" i="1" dirty="0"/>
              <a:t> </a:t>
            </a:r>
            <a:r>
              <a:rPr lang="de-DE" sz="2400" i="1" dirty="0" err="1"/>
              <a:t>writing</a:t>
            </a:r>
            <a:r>
              <a:rPr lang="de-DE" sz="2400" i="1" dirty="0"/>
              <a:t> a </a:t>
            </a:r>
            <a:r>
              <a:rPr lang="de-DE" sz="2400" i="1" dirty="0" err="1"/>
              <a:t>study</a:t>
            </a:r>
            <a:r>
              <a:rPr lang="de-DE" sz="2400" i="1" dirty="0"/>
              <a:t> </a:t>
            </a:r>
            <a:r>
              <a:rPr lang="de-DE" sz="2400" i="1" dirty="0" err="1"/>
              <a:t>guide</a:t>
            </a:r>
            <a:r>
              <a:rPr lang="de-DE" sz="2400" i="1" dirty="0"/>
              <a:t> </a:t>
            </a:r>
            <a:r>
              <a:rPr lang="de-DE" sz="2400" i="1" dirty="0" err="1"/>
              <a:t>for</a:t>
            </a:r>
            <a:r>
              <a:rPr lang="de-DE" sz="2400" i="1" dirty="0"/>
              <a:t> </a:t>
            </a:r>
            <a:r>
              <a:rPr lang="de-DE" sz="2400" i="1" dirty="0" err="1"/>
              <a:t>undergraduate</a:t>
            </a:r>
            <a:r>
              <a:rPr lang="de-DE" sz="2400" i="1" dirty="0"/>
              <a:t> </a:t>
            </a:r>
            <a:r>
              <a:rPr lang="de-DE" sz="2400" i="1" dirty="0" err="1"/>
              <a:t>students</a:t>
            </a:r>
            <a:r>
              <a:rPr lang="de-DE" sz="2400" i="1" dirty="0"/>
              <a:t>.</a:t>
            </a:r>
            <a:r>
              <a:rPr lang="de-DE" sz="2400" dirty="0"/>
              <a:t> </a:t>
            </a:r>
          </a:p>
          <a:p>
            <a:pPr marL="0" indent="0">
              <a:buNone/>
            </a:pPr>
            <a:r>
              <a:rPr lang="de-DE" sz="2400" dirty="0">
                <a:sym typeface="Wingdings" pitchFamily="2" charset="2"/>
              </a:rPr>
              <a:t> </a:t>
            </a:r>
            <a:r>
              <a:rPr lang="de-DE" sz="2400" dirty="0" err="1">
                <a:sym typeface="Wingdings" pitchFamily="2" charset="2"/>
              </a:rPr>
              <a:t>r</a:t>
            </a:r>
            <a:r>
              <a:rPr lang="de-DE" sz="2400" dirty="0" err="1"/>
              <a:t>ole</a:t>
            </a:r>
            <a:r>
              <a:rPr lang="de-DE" sz="2400" dirty="0"/>
              <a:t> </a:t>
            </a:r>
            <a:r>
              <a:rPr lang="de-DE" sz="2400" dirty="0" err="1"/>
              <a:t>assignment</a:t>
            </a:r>
            <a:r>
              <a:rPr lang="de-DE" sz="2400" dirty="0"/>
              <a:t> and </a:t>
            </a:r>
            <a:r>
              <a:rPr lang="de-DE" sz="2400" dirty="0" err="1"/>
              <a:t>audience</a:t>
            </a:r>
            <a:r>
              <a:rPr lang="de-DE" sz="2400" dirty="0"/>
              <a:t> </a:t>
            </a:r>
            <a:r>
              <a:rPr lang="de-DE" sz="2400" dirty="0" err="1"/>
              <a:t>specification</a:t>
            </a:r>
            <a:r>
              <a:rPr lang="de-DE" sz="2400" dirty="0"/>
              <a:t> </a:t>
            </a:r>
            <a:r>
              <a:rPr lang="de-DE" sz="2400" dirty="0" err="1"/>
              <a:t>steer</a:t>
            </a:r>
            <a:r>
              <a:rPr lang="de-DE" sz="2400" dirty="0"/>
              <a:t> tone and </a:t>
            </a:r>
            <a:r>
              <a:rPr lang="de-DE" sz="2400" dirty="0" err="1"/>
              <a:t>depth</a:t>
            </a:r>
            <a:endParaRPr lang="de-DE" sz="2400" dirty="0"/>
          </a:p>
          <a:p>
            <a:endParaRPr lang="de-DE" sz="2400" i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C22F84-7F27-624B-DA34-5C79395A5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175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CDEDD-8550-D6CF-270E-FA8E675B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Aka </a:t>
            </a:r>
            <a:r>
              <a:rPr lang="de-DE" dirty="0" err="1"/>
              <a:t>Role</a:t>
            </a:r>
            <a:r>
              <a:rPr lang="de-DE" dirty="0"/>
              <a:t> </a:t>
            </a:r>
            <a:r>
              <a:rPr lang="de-DE" dirty="0" err="1"/>
              <a:t>Prompting</a:t>
            </a:r>
            <a:endParaRPr lang="de-DE" dirty="0"/>
          </a:p>
        </p:txBody>
      </p:sp>
      <p:pic>
        <p:nvPicPr>
          <p:cNvPr id="7" name="Grafik 6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2587BFA8-4331-F6AF-FB91-2CE925ACF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135559"/>
            <a:ext cx="7772400" cy="3257219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78342ED-09AA-307C-9DDA-D725611A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585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8DAB8-9DA1-67B2-4A4F-CF05DE75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49CED6C4-7BF0-A7DF-0559-67F1A4267173}"/>
              </a:ext>
            </a:extLst>
          </p:cNvPr>
          <p:cNvSpPr/>
          <p:nvPr/>
        </p:nvSpPr>
        <p:spPr>
          <a:xfrm>
            <a:off x="838199" y="4393327"/>
            <a:ext cx="10515600" cy="956439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8D0F1424-1E4A-AFD2-CA47-1C51C465F2C4}"/>
              </a:ext>
            </a:extLst>
          </p:cNvPr>
          <p:cNvSpPr/>
          <p:nvPr/>
        </p:nvSpPr>
        <p:spPr>
          <a:xfrm>
            <a:off x="838199" y="2336778"/>
            <a:ext cx="10515600" cy="49244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65CC02-51D4-8D58-FEF1-605BED83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 Practices: </a:t>
            </a:r>
            <a:r>
              <a:rPr lang="de-DE" dirty="0" err="1"/>
              <a:t>Specify</a:t>
            </a:r>
            <a:r>
              <a:rPr lang="de-DE" dirty="0"/>
              <a:t> Constraints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91E9D0-9A7D-9C1D-E557-E9EBE8C3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List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facts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Mars.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better</a:t>
            </a:r>
            <a:r>
              <a:rPr lang="de-DE" dirty="0"/>
              <a:t> (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want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 </a:t>
            </a:r>
            <a:r>
              <a:rPr lang="de-DE" dirty="0" err="1"/>
              <a:t>outputs</a:t>
            </a:r>
            <a:r>
              <a:rPr lang="de-DE" dirty="0"/>
              <a:t>):</a:t>
            </a:r>
          </a:p>
          <a:p>
            <a:pPr marL="0" indent="0">
              <a:buNone/>
            </a:pPr>
            <a:r>
              <a:rPr lang="de-DE" dirty="0"/>
              <a:t>List </a:t>
            </a:r>
            <a:r>
              <a:rPr lang="de-DE" dirty="0" err="1"/>
              <a:t>exactly</a:t>
            </a:r>
            <a:r>
              <a:rPr lang="de-DE" dirty="0"/>
              <a:t> 3 </a:t>
            </a:r>
            <a:r>
              <a:rPr lang="de-DE" dirty="0" err="1"/>
              <a:t>scientifically</a:t>
            </a:r>
            <a:r>
              <a:rPr lang="de-DE" dirty="0"/>
              <a:t> </a:t>
            </a:r>
            <a:r>
              <a:rPr lang="de-DE" dirty="0" err="1"/>
              <a:t>verified</a:t>
            </a:r>
            <a:r>
              <a:rPr lang="de-DE" dirty="0"/>
              <a:t> </a:t>
            </a:r>
            <a:r>
              <a:rPr lang="de-DE" dirty="0" err="1"/>
              <a:t>facts</a:t>
            </a:r>
            <a:r>
              <a:rPr lang="de-DE" dirty="0"/>
              <a:t> </a:t>
            </a:r>
            <a:r>
              <a:rPr lang="de-DE" dirty="0" err="1"/>
              <a:t>about</a:t>
            </a:r>
            <a:r>
              <a:rPr lang="de-DE" dirty="0"/>
              <a:t> Mars.  </a:t>
            </a:r>
          </a:p>
          <a:p>
            <a:pPr marL="0" indent="0">
              <a:buNone/>
            </a:pPr>
            <a:r>
              <a:rPr lang="de-DE" dirty="0"/>
              <a:t>Output </a:t>
            </a:r>
            <a:r>
              <a:rPr lang="de-DE" dirty="0" err="1"/>
              <a:t>them</a:t>
            </a:r>
            <a:r>
              <a:rPr lang="de-DE" dirty="0"/>
              <a:t> in JSON </a:t>
            </a:r>
            <a:r>
              <a:rPr lang="de-DE" dirty="0" err="1"/>
              <a:t>format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keys</a:t>
            </a:r>
            <a:r>
              <a:rPr lang="de-DE" dirty="0"/>
              <a:t>: "fact1", "fact2", "fact3".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4B2FE1-1564-7812-9F77-B45517E1C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777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024EBFDC-E086-A9AA-85E7-5CAF6A312FFB}"/>
              </a:ext>
            </a:extLst>
          </p:cNvPr>
          <p:cNvSpPr/>
          <p:nvPr/>
        </p:nvSpPr>
        <p:spPr>
          <a:xfrm>
            <a:off x="4456387" y="4995901"/>
            <a:ext cx="1502979" cy="3748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7F5E1FEF-1C4F-6880-09E5-0A68FA234BE9}"/>
              </a:ext>
            </a:extLst>
          </p:cNvPr>
          <p:cNvSpPr/>
          <p:nvPr/>
        </p:nvSpPr>
        <p:spPr>
          <a:xfrm>
            <a:off x="4456386" y="5432158"/>
            <a:ext cx="1502979" cy="37489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59F767-E1B6-EAA9-F808-9BEE49DA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Output </a:t>
            </a:r>
            <a:r>
              <a:rPr lang="de-DE" dirty="0" err="1"/>
              <a:t>Indicators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25631A-3A6E-8990-98F1-919FF539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14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599227-2235-2E9A-B97E-E00320085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600" dirty="0" err="1"/>
              <a:t>earlier</a:t>
            </a:r>
            <a:r>
              <a:rPr lang="de-DE" sz="2600" dirty="0"/>
              <a:t> </a:t>
            </a:r>
            <a:r>
              <a:rPr lang="de-DE" sz="2600" dirty="0" err="1"/>
              <a:t>models</a:t>
            </a:r>
            <a:r>
              <a:rPr lang="de-DE" sz="2600" dirty="0"/>
              <a:t> (</a:t>
            </a:r>
            <a:r>
              <a:rPr lang="de-DE" sz="2600" dirty="0" err="1"/>
              <a:t>pre</a:t>
            </a:r>
            <a:r>
              <a:rPr lang="de-DE" sz="2600" dirty="0"/>
              <a:t>-ChatGPT) </a:t>
            </a:r>
            <a:r>
              <a:rPr lang="de-DE" sz="2600" dirty="0" err="1"/>
              <a:t>were</a:t>
            </a:r>
            <a:r>
              <a:rPr lang="de-DE" sz="2600" dirty="0"/>
              <a:t> </a:t>
            </a:r>
            <a:r>
              <a:rPr lang="de-DE" sz="2600" dirty="0" err="1"/>
              <a:t>very</a:t>
            </a:r>
            <a:r>
              <a:rPr lang="de-DE" sz="2600" dirty="0"/>
              <a:t> sensitive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formatting</a:t>
            </a:r>
            <a:r>
              <a:rPr lang="de-DE" sz="2600" dirty="0"/>
              <a:t> (</a:t>
            </a:r>
            <a:r>
              <a:rPr lang="de-DE" sz="2600" dirty="0" err="1"/>
              <a:t>training</a:t>
            </a:r>
            <a:r>
              <a:rPr lang="de-DE" sz="2600" dirty="0"/>
              <a:t> </a:t>
            </a:r>
            <a:r>
              <a:rPr lang="de-DE" sz="2600" dirty="0" err="1"/>
              <a:t>datasets</a:t>
            </a:r>
            <a:r>
              <a:rPr lang="de-DE" sz="2600" dirty="0"/>
              <a:t> </a:t>
            </a:r>
            <a:r>
              <a:rPr lang="de-DE" sz="2600" dirty="0" err="1"/>
              <a:t>contained</a:t>
            </a:r>
            <a:r>
              <a:rPr lang="de-DE" sz="2600" dirty="0"/>
              <a:t> </a:t>
            </a:r>
            <a:r>
              <a:rPr lang="de-DE" sz="2600" dirty="0" err="1"/>
              <a:t>clear</a:t>
            </a:r>
            <a:r>
              <a:rPr lang="de-DE" sz="2600" dirty="0"/>
              <a:t> </a:t>
            </a:r>
            <a:r>
              <a:rPr lang="de-DE" sz="2600" dirty="0" err="1"/>
              <a:t>separators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r>
              <a:rPr lang="de-DE" sz="2600" dirty="0">
                <a:sym typeface="Wingdings" pitchFamily="2" charset="2"/>
              </a:rPr>
              <a:t> </a:t>
            </a:r>
            <a:r>
              <a:rPr lang="de-DE" sz="2600" dirty="0" err="1">
                <a:sym typeface="Wingdings" pitchFamily="2" charset="2"/>
              </a:rPr>
              <a:t>c</a:t>
            </a:r>
            <a:r>
              <a:rPr lang="de-DE" sz="2600" dirty="0" err="1"/>
              <a:t>ertain</a:t>
            </a:r>
            <a:r>
              <a:rPr lang="de-DE" sz="2600" dirty="0"/>
              <a:t> </a:t>
            </a:r>
            <a:r>
              <a:rPr lang="de-DE" sz="2600" dirty="0" err="1"/>
              <a:t>cues</a:t>
            </a:r>
            <a:r>
              <a:rPr lang="de-DE" sz="2600" dirty="0"/>
              <a:t> like </a:t>
            </a:r>
            <a:r>
              <a:rPr lang="de-DE" sz="2600" i="1" dirty="0" err="1"/>
              <a:t>Answer</a:t>
            </a:r>
            <a:r>
              <a:rPr lang="de-DE" sz="2600" i="1" dirty="0"/>
              <a:t>:</a:t>
            </a:r>
            <a:r>
              <a:rPr lang="de-DE" sz="2600" dirty="0"/>
              <a:t>, </a:t>
            </a:r>
            <a:r>
              <a:rPr lang="de-DE" sz="2600" i="1" dirty="0"/>
              <a:t>A:</a:t>
            </a:r>
            <a:r>
              <a:rPr lang="de-DE" sz="2600" dirty="0"/>
              <a:t>, </a:t>
            </a:r>
            <a:r>
              <a:rPr lang="de-DE" sz="2600" i="1" dirty="0"/>
              <a:t>Response:</a:t>
            </a:r>
            <a:r>
              <a:rPr lang="de-DE" sz="2600" dirty="0"/>
              <a:t>,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even</a:t>
            </a:r>
            <a:r>
              <a:rPr lang="de-DE" sz="2600" dirty="0"/>
              <a:t> </a:t>
            </a:r>
            <a:r>
              <a:rPr lang="de-DE" sz="2600" i="1" dirty="0"/>
              <a:t>###</a:t>
            </a:r>
            <a:r>
              <a:rPr lang="de-DE" sz="2600" dirty="0"/>
              <a:t> </a:t>
            </a:r>
            <a:r>
              <a:rPr lang="de-DE" sz="2600" dirty="0" err="1"/>
              <a:t>dramatically</a:t>
            </a:r>
            <a:r>
              <a:rPr lang="de-DE" sz="2600" dirty="0"/>
              <a:t> </a:t>
            </a:r>
            <a:r>
              <a:rPr lang="de-DE" sz="2600" dirty="0" err="1"/>
              <a:t>affected</a:t>
            </a:r>
            <a:r>
              <a:rPr lang="de-DE" sz="2600" dirty="0"/>
              <a:t> </a:t>
            </a:r>
            <a:r>
              <a:rPr lang="de-DE" sz="2600" dirty="0" err="1"/>
              <a:t>performance</a:t>
            </a:r>
            <a:r>
              <a:rPr lang="de-DE" sz="2600" dirty="0"/>
              <a:t> (</a:t>
            </a:r>
            <a:r>
              <a:rPr lang="de-DE" sz="2600" dirty="0" err="1"/>
              <a:t>better</a:t>
            </a:r>
            <a:r>
              <a:rPr lang="de-DE" sz="2600" dirty="0"/>
              <a:t> </a:t>
            </a:r>
            <a:r>
              <a:rPr lang="de-DE" sz="2600" dirty="0" err="1"/>
              <a:t>alignment</a:t>
            </a:r>
            <a:r>
              <a:rPr lang="de-DE" sz="2600" dirty="0"/>
              <a:t> </a:t>
            </a:r>
            <a:r>
              <a:rPr lang="de-DE" sz="2600" dirty="0" err="1"/>
              <a:t>with</a:t>
            </a:r>
            <a:r>
              <a:rPr lang="de-DE" sz="2600" dirty="0"/>
              <a:t> </a:t>
            </a:r>
            <a:r>
              <a:rPr lang="de-DE" sz="2600" dirty="0" err="1"/>
              <a:t>training</a:t>
            </a:r>
            <a:r>
              <a:rPr lang="de-DE" sz="2600" dirty="0"/>
              <a:t> </a:t>
            </a:r>
            <a:r>
              <a:rPr lang="de-DE" sz="2600" dirty="0" err="1"/>
              <a:t>data</a:t>
            </a:r>
            <a:r>
              <a:rPr lang="de-DE" sz="2600" dirty="0"/>
              <a:t>)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/>
              <a:t>not </a:t>
            </a:r>
            <a:r>
              <a:rPr lang="de-DE" sz="2600" dirty="0" err="1"/>
              <a:t>strictly</a:t>
            </a:r>
            <a:r>
              <a:rPr lang="de-DE" sz="2600" dirty="0"/>
              <a:t> </a:t>
            </a:r>
            <a:r>
              <a:rPr lang="de-DE" sz="2600" dirty="0" err="1"/>
              <a:t>required</a:t>
            </a:r>
            <a:r>
              <a:rPr lang="de-DE" sz="2600" dirty="0"/>
              <a:t> </a:t>
            </a:r>
            <a:r>
              <a:rPr lang="de-DE" sz="2600" dirty="0" err="1"/>
              <a:t>anymore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modern </a:t>
            </a:r>
            <a:r>
              <a:rPr lang="de-DE" sz="2600" dirty="0" err="1"/>
              <a:t>instruction-tuned</a:t>
            </a:r>
            <a:r>
              <a:rPr lang="de-DE" sz="2600" dirty="0"/>
              <a:t> LLMs</a:t>
            </a:r>
          </a:p>
          <a:p>
            <a:pPr marL="0" indent="0">
              <a:buNone/>
            </a:pPr>
            <a:r>
              <a:rPr lang="de-DE" sz="2600" dirty="0"/>
              <a:t>but </a:t>
            </a:r>
            <a:r>
              <a:rPr lang="de-DE" sz="2600" dirty="0" err="1"/>
              <a:t>can</a:t>
            </a:r>
            <a:r>
              <a:rPr lang="de-DE" sz="2600" dirty="0"/>
              <a:t> still </a:t>
            </a:r>
            <a:r>
              <a:rPr lang="de-DE" sz="2600" dirty="0" err="1"/>
              <a:t>be</a:t>
            </a:r>
            <a:r>
              <a:rPr lang="de-DE" sz="2600" dirty="0"/>
              <a:t> </a:t>
            </a:r>
            <a:r>
              <a:rPr lang="de-DE" sz="2600" dirty="0" err="1"/>
              <a:t>useful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automation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complex</a:t>
            </a:r>
            <a:r>
              <a:rPr lang="de-DE" sz="2600" dirty="0"/>
              <a:t> </a:t>
            </a:r>
            <a:r>
              <a:rPr lang="de-DE" sz="2600" dirty="0" err="1"/>
              <a:t>prompts</a:t>
            </a:r>
            <a:r>
              <a:rPr lang="de-DE" sz="2600" dirty="0"/>
              <a:t> (</a:t>
            </a:r>
            <a:r>
              <a:rPr lang="de-DE" sz="2600" dirty="0" err="1"/>
              <a:t>improve</a:t>
            </a:r>
            <a:r>
              <a:rPr lang="de-DE" sz="2600" dirty="0"/>
              <a:t> </a:t>
            </a:r>
            <a:r>
              <a:rPr lang="de-DE" sz="2600" dirty="0" err="1"/>
              <a:t>consistency</a:t>
            </a:r>
            <a:r>
              <a:rPr lang="de-DE" sz="2600" dirty="0"/>
              <a:t>, </a:t>
            </a:r>
            <a:r>
              <a:rPr lang="de-DE" sz="2600" dirty="0" err="1"/>
              <a:t>reduce</a:t>
            </a:r>
            <a:r>
              <a:rPr lang="de-DE" sz="2600" dirty="0"/>
              <a:t> </a:t>
            </a:r>
            <a:r>
              <a:rPr lang="de-DE" sz="2600" dirty="0" err="1"/>
              <a:t>ambiguity</a:t>
            </a:r>
            <a:r>
              <a:rPr lang="de-DE" sz="2600" dirty="0"/>
              <a:t>):</a:t>
            </a:r>
          </a:p>
          <a:p>
            <a:r>
              <a:rPr lang="de-DE" sz="2600" dirty="0" err="1"/>
              <a:t>classification</a:t>
            </a:r>
            <a:r>
              <a:rPr lang="de-DE" sz="2600" dirty="0"/>
              <a:t>:		Label:</a:t>
            </a:r>
          </a:p>
          <a:p>
            <a:r>
              <a:rPr lang="de-DE" sz="2600" dirty="0"/>
              <a:t>code </a:t>
            </a:r>
            <a:r>
              <a:rPr lang="de-DE" sz="2600" dirty="0" err="1"/>
              <a:t>generation</a:t>
            </a:r>
            <a:r>
              <a:rPr lang="de-DE" sz="2600" dirty="0"/>
              <a:t>:		Code: </a:t>
            </a:r>
          </a:p>
          <a:p>
            <a:pPr marL="0" indent="0">
              <a:buNone/>
            </a:pPr>
            <a:endParaRPr lang="de-DE" sz="2600" dirty="0"/>
          </a:p>
        </p:txBody>
      </p:sp>
    </p:spTree>
    <p:extLst>
      <p:ext uri="{BB962C8B-B14F-4D97-AF65-F5344CB8AC3E}">
        <p14:creationId xmlns:p14="http://schemas.microsoft.com/office/powerpoint/2010/main" val="191491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075B8CC5-D62E-7ACE-5B02-6C722D3D9E85}"/>
              </a:ext>
            </a:extLst>
          </p:cNvPr>
          <p:cNvSpPr/>
          <p:nvPr/>
        </p:nvSpPr>
        <p:spPr>
          <a:xfrm>
            <a:off x="764627" y="3699640"/>
            <a:ext cx="10250214" cy="3000815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E2AD3139-6A6C-7DF5-8EDD-5CDEF96932FC}"/>
              </a:ext>
            </a:extLst>
          </p:cNvPr>
          <p:cNvSpPr/>
          <p:nvPr/>
        </p:nvSpPr>
        <p:spPr>
          <a:xfrm>
            <a:off x="764627" y="1825625"/>
            <a:ext cx="10250214" cy="896554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578DC69-3B87-11D7-4D90-DC9CD35C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Examples</a:t>
            </a:r>
            <a:r>
              <a:rPr lang="de-DE" dirty="0"/>
              <a:t>/</a:t>
            </a:r>
            <a:r>
              <a:rPr lang="de-DE" dirty="0" err="1"/>
              <a:t>Demonstrations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EDB2AD-88C8-5EE7-15A9-8444661C3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600" dirty="0" err="1"/>
              <a:t>Convert</a:t>
            </a:r>
            <a:r>
              <a:rPr lang="de-DE" sz="2600" dirty="0"/>
              <a:t> </a:t>
            </a:r>
            <a:r>
              <a:rPr lang="de-DE" sz="2600" dirty="0" err="1"/>
              <a:t>these</a:t>
            </a:r>
            <a:r>
              <a:rPr lang="de-DE" sz="2600" dirty="0"/>
              <a:t> </a:t>
            </a:r>
            <a:r>
              <a:rPr lang="de-DE" sz="2600" dirty="0" err="1"/>
              <a:t>temperatures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Celsius </a:t>
            </a:r>
            <a:r>
              <a:rPr lang="de-DE" sz="2600" dirty="0" err="1"/>
              <a:t>to</a:t>
            </a:r>
            <a:r>
              <a:rPr lang="de-DE" sz="2600" dirty="0"/>
              <a:t> Fahrenheit:  </a:t>
            </a:r>
          </a:p>
          <a:p>
            <a:pPr marL="0" indent="0">
              <a:buNone/>
            </a:pPr>
            <a:r>
              <a:rPr lang="de-DE" sz="2600" dirty="0"/>
              <a:t>25, 30, 35</a:t>
            </a:r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few-shot</a:t>
            </a:r>
            <a:r>
              <a:rPr lang="de-DE" sz="2600" dirty="0"/>
              <a:t> </a:t>
            </a:r>
            <a:r>
              <a:rPr lang="de-DE" sz="2600" dirty="0" err="1"/>
              <a:t>examples</a:t>
            </a:r>
            <a:r>
              <a:rPr lang="de-DE" sz="2600" dirty="0"/>
              <a:t> </a:t>
            </a:r>
            <a:r>
              <a:rPr lang="de-DE" sz="2400" dirty="0" err="1"/>
              <a:t>help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</a:t>
            </a:r>
            <a:r>
              <a:rPr lang="de-DE" sz="2400" dirty="0" err="1"/>
              <a:t>unusual</a:t>
            </a:r>
            <a:r>
              <a:rPr lang="de-DE" sz="2400" dirty="0"/>
              <a:t>, </a:t>
            </a:r>
            <a:r>
              <a:rPr lang="de-DE" sz="2400" dirty="0" err="1"/>
              <a:t>complex</a:t>
            </a:r>
            <a:r>
              <a:rPr lang="de-DE" sz="2400" dirty="0"/>
              <a:t>, </a:t>
            </a:r>
            <a:r>
              <a:rPr lang="de-DE" sz="2400" dirty="0" err="1"/>
              <a:t>or</a:t>
            </a:r>
            <a:r>
              <a:rPr lang="de-DE" sz="2400" dirty="0"/>
              <a:t> </a:t>
            </a:r>
            <a:r>
              <a:rPr lang="de-DE" sz="2400" dirty="0" err="1"/>
              <a:t>under-specified</a:t>
            </a:r>
            <a:r>
              <a:rPr lang="de-DE" sz="2400" dirty="0"/>
              <a:t> </a:t>
            </a:r>
            <a:r>
              <a:rPr lang="de-DE" sz="2400" dirty="0" err="1"/>
              <a:t>tasks</a:t>
            </a:r>
            <a:r>
              <a:rPr lang="de-DE" sz="2600" dirty="0"/>
              <a:t>:</a:t>
            </a:r>
          </a:p>
          <a:p>
            <a:pPr marL="0" indent="0">
              <a:buNone/>
            </a:pPr>
            <a:r>
              <a:rPr lang="de-DE" sz="2600" dirty="0" err="1"/>
              <a:t>Convert</a:t>
            </a:r>
            <a:r>
              <a:rPr lang="de-DE" sz="2600" dirty="0"/>
              <a:t> </a:t>
            </a:r>
            <a:r>
              <a:rPr lang="de-DE" sz="2600" dirty="0" err="1"/>
              <a:t>these</a:t>
            </a:r>
            <a:r>
              <a:rPr lang="de-DE" sz="2600" dirty="0"/>
              <a:t> </a:t>
            </a:r>
            <a:r>
              <a:rPr lang="de-DE" sz="2600" dirty="0" err="1"/>
              <a:t>temperatures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Celsius </a:t>
            </a:r>
            <a:r>
              <a:rPr lang="de-DE" sz="2600" dirty="0" err="1"/>
              <a:t>to</a:t>
            </a:r>
            <a:r>
              <a:rPr lang="de-DE" sz="2600" dirty="0"/>
              <a:t> Fahrenheit:  </a:t>
            </a:r>
          </a:p>
          <a:p>
            <a:pPr marL="0" indent="0">
              <a:buNone/>
            </a:pPr>
            <a:r>
              <a:rPr lang="de-DE" sz="2600" dirty="0"/>
              <a:t>C: 0 → F: 32  </a:t>
            </a:r>
          </a:p>
          <a:p>
            <a:pPr marL="0" indent="0">
              <a:buNone/>
            </a:pPr>
            <a:r>
              <a:rPr lang="de-DE" sz="2600" dirty="0"/>
              <a:t>C: 10 → F: 50  </a:t>
            </a:r>
          </a:p>
          <a:p>
            <a:pPr marL="0" indent="0">
              <a:buNone/>
            </a:pPr>
            <a:r>
              <a:rPr lang="de-DE" sz="2600" dirty="0"/>
              <a:t>C: 20 → F: 68  </a:t>
            </a:r>
          </a:p>
          <a:p>
            <a:pPr marL="0" indent="0">
              <a:buNone/>
            </a:pPr>
            <a:r>
              <a:rPr lang="de-DE" sz="2600" dirty="0" err="1"/>
              <a:t>Now</a:t>
            </a:r>
            <a:r>
              <a:rPr lang="de-DE" sz="2600" dirty="0"/>
              <a:t> </a:t>
            </a:r>
            <a:r>
              <a:rPr lang="de-DE" sz="2600" dirty="0" err="1"/>
              <a:t>continue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:  </a:t>
            </a:r>
          </a:p>
          <a:p>
            <a:pPr marL="0" indent="0">
              <a:buNone/>
            </a:pPr>
            <a:r>
              <a:rPr lang="de-DE" sz="2600" dirty="0"/>
              <a:t>C: 25, 30, 35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13E4A9-39F3-83A4-C573-8464A844E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873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D09A-1C84-0324-9185-2E4835047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ABC2AD-A426-14B9-2B2D-B82C94AC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Important</a:t>
            </a:r>
            <a:r>
              <a:rPr lang="de-DE" dirty="0"/>
              <a:t> </a:t>
            </a:r>
            <a:r>
              <a:rPr lang="de-DE" dirty="0" err="1"/>
              <a:t>Subtlety</a:t>
            </a:r>
            <a:r>
              <a:rPr lang="de-DE" dirty="0"/>
              <a:t>: </a:t>
            </a:r>
            <a:r>
              <a:rPr lang="de-DE" dirty="0" err="1"/>
              <a:t>Formatting</a:t>
            </a:r>
            <a:r>
              <a:rPr lang="de-DE" dirty="0"/>
              <a:t> &amp; </a:t>
            </a:r>
            <a:r>
              <a:rPr lang="de-DE" dirty="0" err="1"/>
              <a:t>Abstraction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F91A4DAF-92FC-887F-698F-920CAA5773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minimum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effect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examples</a:t>
                </a:r>
                <a:r>
                  <a:rPr lang="de-DE" sz="2400" dirty="0"/>
                  <a:t>: </a:t>
                </a:r>
                <a:r>
                  <a:rPr lang="de-DE" sz="2400" dirty="0" err="1"/>
                  <a:t>enforce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formatting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patterns</a:t>
                </a:r>
                <a:r>
                  <a:rPr lang="de-DE" sz="2400" dirty="0"/>
                  <a:t> (</a:t>
                </a:r>
                <a:r>
                  <a:rPr lang="de-DE" sz="2400" dirty="0" err="1"/>
                  <a:t>small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models</a:t>
                </a:r>
                <a:r>
                  <a:rPr lang="de-DE" sz="2400" dirty="0"/>
                  <a:t>)</a:t>
                </a:r>
              </a:p>
              <a:p>
                <a:pPr marL="0" indent="0" algn="ctr">
                  <a:buNone/>
                </a:pPr>
                <a:r>
                  <a:rPr lang="de-DE" sz="2400" dirty="0"/>
                  <a:t>C: 25 → F: 666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maximum: </a:t>
                </a:r>
                <a:r>
                  <a:rPr lang="de-DE" sz="2400" dirty="0" err="1"/>
                  <a:t>approximate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transformation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rule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behind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examples</a:t>
                </a:r>
                <a:r>
                  <a:rPr lang="de-DE" sz="2400" dirty="0"/>
                  <a:t> (large </a:t>
                </a:r>
                <a:r>
                  <a:rPr lang="de-DE" sz="2400" dirty="0" err="1"/>
                  <a:t>models</a:t>
                </a:r>
                <a:r>
                  <a:rPr lang="de-DE" sz="2400" dirty="0"/>
                  <a:t>)</a:t>
                </a:r>
              </a:p>
              <a:p>
                <a:pPr marL="0" indent="0" algn="ctr">
                  <a:buNone/>
                </a:pPr>
                <a:r>
                  <a:rPr lang="de-DE" sz="2400" dirty="0"/>
                  <a:t>C: 25 → F: 77</a:t>
                </a:r>
              </a:p>
              <a:p>
                <a:pPr marL="0" indent="0">
                  <a:buNone/>
                </a:pPr>
                <a:r>
                  <a:rPr lang="de-DE" sz="2400" dirty="0"/>
                  <a:t>But not </a:t>
                </a:r>
                <a:r>
                  <a:rPr lang="de-DE" sz="2400" dirty="0" err="1"/>
                  <a:t>even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largest</a:t>
                </a:r>
                <a:r>
                  <a:rPr lang="de-DE" sz="2400" dirty="0"/>
                  <a:t> LLMs </a:t>
                </a:r>
                <a:r>
                  <a:rPr lang="de-DE" sz="2400" dirty="0" err="1"/>
                  <a:t>actually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derive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∙1.8+32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.</a:t>
                </a:r>
              </a:p>
              <a:p>
                <a:pPr marL="0" indent="0">
                  <a:buNone/>
                </a:pPr>
                <a:r>
                  <a:rPr lang="de-DE" sz="2400" dirty="0"/>
                  <a:t>instead: </a:t>
                </a:r>
                <a:r>
                  <a:rPr lang="de-DE" sz="2400" dirty="0" err="1"/>
                  <a:t>interpolation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from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similar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training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cases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memorized</a:t>
                </a:r>
                <a:r>
                  <a:rPr lang="de-DE" sz="2400" dirty="0"/>
                  <a:t> in </a:t>
                </a:r>
                <a:r>
                  <a:rPr lang="de-DE" sz="2400" dirty="0" err="1"/>
                  <a:t>model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weights</a:t>
                </a:r>
                <a:r>
                  <a:rPr lang="de-DE" sz="2400" dirty="0"/>
                  <a:t> (not </a:t>
                </a:r>
                <a:r>
                  <a:rPr lang="de-DE" sz="2400" dirty="0" err="1"/>
                  <a:t>directly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interpolating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numerical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values</a:t>
                </a:r>
                <a:r>
                  <a:rPr lang="de-DE" sz="2400" dirty="0"/>
                  <a:t>, but </a:t>
                </a:r>
                <a:r>
                  <a:rPr lang="de-DE" sz="2400" dirty="0" err="1"/>
                  <a:t>its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vector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representations</a:t>
                </a:r>
                <a:r>
                  <a:rPr lang="de-DE" sz="2400" dirty="0"/>
                  <a:t>)</a:t>
                </a:r>
                <a:endParaRPr lang="de-DE" sz="24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/>
                  <a:t>looks</a:t>
                </a:r>
                <a:r>
                  <a:rPr lang="de-DE" sz="2400" dirty="0"/>
                  <a:t> like </a:t>
                </a:r>
                <a:r>
                  <a:rPr lang="de-DE" sz="2400" dirty="0" err="1"/>
                  <a:t>reasoning</a:t>
                </a:r>
                <a:r>
                  <a:rPr lang="de-DE" sz="2400" dirty="0"/>
                  <a:t>, but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just </a:t>
                </a:r>
                <a:r>
                  <a:rPr lang="de-DE" sz="2400" dirty="0" err="1"/>
                  <a:t>probabilistic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pattern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completion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no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algorithmic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guarantee</a:t>
                </a:r>
                <a:r>
                  <a:rPr lang="de-DE" sz="2400" dirty="0">
                    <a:sym typeface="Wingdings" pitchFamily="2" charset="2"/>
                  </a:rPr>
                  <a:t> (</a:t>
                </a:r>
                <a:r>
                  <a:rPr lang="de-DE" sz="2400" dirty="0" err="1">
                    <a:sym typeface="Wingdings" pitchFamily="2" charset="2"/>
                  </a:rPr>
                  <a:t>typically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breaks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for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unusual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inputs</a:t>
                </a:r>
                <a:r>
                  <a:rPr lang="de-DE" sz="2400" dirty="0">
                    <a:sym typeface="Wingdings" pitchFamily="2" charset="2"/>
                  </a:rPr>
                  <a:t>)</a:t>
                </a:r>
                <a:endParaRPr lang="de-DE" sz="2400" dirty="0"/>
              </a:p>
            </p:txBody>
          </p:sp>
        </mc:Choice>
        <mc:Fallback xmlns="">
          <p:sp>
            <p:nvSpPr>
              <p:cNvPr id="9" name="Inhaltsplatzhalter 8">
                <a:extLst>
                  <a:ext uri="{FF2B5EF4-FFF2-40B4-BE49-F238E27FC236}">
                    <a16:creationId xmlns:a16="http://schemas.microsoft.com/office/drawing/2014/main" id="{F91A4DAF-92FC-887F-698F-920CAA5773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ED89167-2885-A812-CC4E-6B6A9F27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16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8DF028D-DB54-0FFE-11ED-063E5A1B5563}"/>
              </a:ext>
            </a:extLst>
          </p:cNvPr>
          <p:cNvSpPr txBox="1"/>
          <p:nvPr/>
        </p:nvSpPr>
        <p:spPr>
          <a:xfrm>
            <a:off x="3577427" y="6308209"/>
            <a:ext cx="5033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modern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rescue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1290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553A29-FCA0-1607-F335-BB9C0771F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Structured Design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F4969D2-87D9-7BDA-B432-D53B78DA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So, </a:t>
            </a:r>
            <a:r>
              <a:rPr lang="de-DE" dirty="0" err="1"/>
              <a:t>prompts</a:t>
            </a:r>
            <a:r>
              <a:rPr lang="de-DE" dirty="0"/>
              <a:t> </a:t>
            </a:r>
            <a:r>
              <a:rPr lang="de-DE" dirty="0" err="1"/>
              <a:t>aren’t</a:t>
            </a:r>
            <a:r>
              <a:rPr lang="de-DE" dirty="0"/>
              <a:t> </a:t>
            </a:r>
            <a:r>
              <a:rPr lang="de-DE" dirty="0" err="1"/>
              <a:t>random</a:t>
            </a:r>
            <a:r>
              <a:rPr lang="de-DE" dirty="0"/>
              <a:t> — </a:t>
            </a: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designable</a:t>
            </a:r>
            <a:r>
              <a:rPr lang="de-DE" dirty="0"/>
              <a:t> </a:t>
            </a:r>
            <a:r>
              <a:rPr lang="de-DE" dirty="0" err="1"/>
              <a:t>components</a:t>
            </a:r>
            <a:r>
              <a:rPr lang="de-DE" dirty="0"/>
              <a:t>.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different </a:t>
            </a:r>
            <a:r>
              <a:rPr lang="de-DE" dirty="0" err="1"/>
              <a:t>tasks</a:t>
            </a:r>
            <a:r>
              <a:rPr lang="de-DE" dirty="0"/>
              <a:t> </a:t>
            </a:r>
            <a:r>
              <a:rPr lang="de-DE" dirty="0" err="1"/>
              <a:t>emphasize</a:t>
            </a:r>
            <a:r>
              <a:rPr lang="de-DE" dirty="0"/>
              <a:t> different </a:t>
            </a:r>
            <a:r>
              <a:rPr lang="de-DE" dirty="0" err="1"/>
              <a:t>sections</a:t>
            </a:r>
            <a:r>
              <a:rPr lang="de-DE" dirty="0"/>
              <a:t>:</a:t>
            </a:r>
          </a:p>
          <a:p>
            <a:r>
              <a:rPr lang="de-DE" dirty="0" err="1"/>
              <a:t>creative</a:t>
            </a:r>
            <a:r>
              <a:rPr lang="de-DE" dirty="0"/>
              <a:t> </a:t>
            </a:r>
            <a:r>
              <a:rPr lang="de-DE" dirty="0" err="1"/>
              <a:t>writing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role</a:t>
            </a:r>
            <a:r>
              <a:rPr lang="de-DE" dirty="0"/>
              <a:t>/</a:t>
            </a:r>
            <a:r>
              <a:rPr lang="de-DE" dirty="0" err="1"/>
              <a:t>context</a:t>
            </a:r>
            <a:endParaRPr lang="de-DE" dirty="0"/>
          </a:p>
          <a:p>
            <a:r>
              <a:rPr lang="de-DE" dirty="0"/>
              <a:t>(</a:t>
            </a:r>
            <a:r>
              <a:rPr lang="de-DE" dirty="0" err="1"/>
              <a:t>approximate</a:t>
            </a:r>
            <a:r>
              <a:rPr lang="de-DE" dirty="0"/>
              <a:t>)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examples</a:t>
            </a:r>
            <a:endParaRPr lang="de-DE" dirty="0"/>
          </a:p>
          <a:p>
            <a:r>
              <a:rPr lang="de-DE" dirty="0" err="1"/>
              <a:t>structured</a:t>
            </a:r>
            <a:r>
              <a:rPr lang="de-DE" dirty="0"/>
              <a:t> </a:t>
            </a:r>
            <a:r>
              <a:rPr lang="de-DE" dirty="0" err="1"/>
              <a:t>output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</a:t>
            </a:r>
            <a:r>
              <a:rPr lang="de-DE" dirty="0"/>
              <a:t> </a:t>
            </a:r>
            <a:r>
              <a:rPr lang="de-DE" dirty="0" err="1"/>
              <a:t>constraints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A425DFF-B163-C70C-5368-352AFC76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13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233482-1D73-9C1F-9322-CC9277D4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Advanced</a:t>
            </a:r>
            <a:r>
              <a:rPr lang="de-DE" dirty="0"/>
              <a:t> </a:t>
            </a:r>
            <a:r>
              <a:rPr lang="de-DE" dirty="0" err="1"/>
              <a:t>Prompting</a:t>
            </a:r>
            <a:r>
              <a:rPr lang="de-DE" dirty="0"/>
              <a:t> </a:t>
            </a:r>
            <a:r>
              <a:rPr lang="de-DE" dirty="0" err="1"/>
              <a:t>Paradigms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FB2620-B248-BF07-BF71-C32F7502B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 err="1"/>
              <a:t>chain-of-thought</a:t>
            </a:r>
            <a:r>
              <a:rPr lang="de-DE" dirty="0"/>
              <a:t> </a:t>
            </a:r>
            <a:r>
              <a:rPr lang="de-DE" dirty="0" err="1"/>
              <a:t>prompting</a:t>
            </a:r>
            <a:r>
              <a:rPr lang="de-DE" dirty="0"/>
              <a:t> (explicit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steps</a:t>
            </a:r>
            <a:r>
              <a:rPr lang="de-DE" dirty="0"/>
              <a:t>)</a:t>
            </a:r>
          </a:p>
          <a:p>
            <a:r>
              <a:rPr lang="de-DE" dirty="0" err="1"/>
              <a:t>self-consistency</a:t>
            </a:r>
            <a:r>
              <a:rPr lang="de-DE" dirty="0"/>
              <a:t> (</a:t>
            </a:r>
            <a:r>
              <a:rPr lang="de-DE" dirty="0" err="1"/>
              <a:t>aggregation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multiple </a:t>
            </a:r>
            <a:r>
              <a:rPr lang="de-DE" dirty="0" err="1"/>
              <a:t>sampled</a:t>
            </a:r>
            <a:r>
              <a:rPr lang="de-DE" dirty="0"/>
              <a:t>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paths</a:t>
            </a:r>
            <a:r>
              <a:rPr lang="de-DE" dirty="0"/>
              <a:t>) and </a:t>
            </a:r>
            <a:r>
              <a:rPr lang="de-DE" dirty="0" err="1"/>
              <a:t>sampling</a:t>
            </a:r>
            <a:r>
              <a:rPr lang="de-DE" dirty="0"/>
              <a:t> </a:t>
            </a:r>
            <a:r>
              <a:rPr lang="de-DE" dirty="0" err="1"/>
              <a:t>strategies</a:t>
            </a:r>
            <a:r>
              <a:rPr lang="de-DE" dirty="0"/>
              <a:t> (</a:t>
            </a:r>
            <a:r>
              <a:rPr lang="de-DE" dirty="0" err="1"/>
              <a:t>determine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diverse </a:t>
            </a:r>
            <a:r>
              <a:rPr lang="de-DE" dirty="0" err="1"/>
              <a:t>those</a:t>
            </a:r>
            <a:r>
              <a:rPr lang="de-DE" dirty="0"/>
              <a:t> </a:t>
            </a:r>
            <a:r>
              <a:rPr lang="de-DE" dirty="0" err="1"/>
              <a:t>paths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)</a:t>
            </a:r>
          </a:p>
          <a:p>
            <a:r>
              <a:rPr lang="de-DE" dirty="0" err="1"/>
              <a:t>role-playing</a:t>
            </a:r>
            <a:r>
              <a:rPr lang="de-DE" dirty="0"/>
              <a:t> and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prompts</a:t>
            </a:r>
            <a:r>
              <a:rPr lang="de-DE" dirty="0"/>
              <a:t> (e.g., </a:t>
            </a:r>
            <a:r>
              <a:rPr lang="de-DE" dirty="0" err="1"/>
              <a:t>teacher</a:t>
            </a:r>
            <a:r>
              <a:rPr lang="de-DE" dirty="0"/>
              <a:t>, </a:t>
            </a:r>
            <a:r>
              <a:rPr lang="de-DE" dirty="0" err="1"/>
              <a:t>critic</a:t>
            </a:r>
            <a:r>
              <a:rPr lang="de-DE" dirty="0"/>
              <a:t>, </a:t>
            </a:r>
            <a:r>
              <a:rPr lang="de-DE" dirty="0" err="1"/>
              <a:t>planner</a:t>
            </a:r>
            <a:r>
              <a:rPr lang="de-DE" dirty="0"/>
              <a:t>)</a:t>
            </a:r>
          </a:p>
          <a:p>
            <a:r>
              <a:rPr lang="de-DE" dirty="0" err="1"/>
              <a:t>scaffolding</a:t>
            </a:r>
            <a:r>
              <a:rPr lang="de-DE" dirty="0"/>
              <a:t>: multi-turn prompt </a:t>
            </a:r>
            <a:r>
              <a:rPr lang="de-DE" dirty="0" err="1"/>
              <a:t>orchestration</a:t>
            </a:r>
            <a:r>
              <a:rPr lang="de-DE" dirty="0"/>
              <a:t>, </a:t>
            </a:r>
            <a:r>
              <a:rPr lang="de-DE" dirty="0" err="1"/>
              <a:t>planning</a:t>
            </a:r>
            <a:r>
              <a:rPr lang="de-DE" dirty="0"/>
              <a:t>, </a:t>
            </a:r>
            <a:r>
              <a:rPr lang="de-DE" dirty="0" err="1"/>
              <a:t>subtask</a:t>
            </a:r>
            <a:r>
              <a:rPr lang="de-DE" dirty="0"/>
              <a:t> </a:t>
            </a:r>
            <a:r>
              <a:rPr lang="de-DE" dirty="0" err="1"/>
              <a:t>decomposition</a:t>
            </a:r>
            <a:endParaRPr lang="de-DE" dirty="0"/>
          </a:p>
          <a:p>
            <a:r>
              <a:rPr lang="de-DE" dirty="0"/>
              <a:t>meta-prompts / prompt </a:t>
            </a:r>
            <a:r>
              <a:rPr lang="de-DE" dirty="0" err="1"/>
              <a:t>templates</a:t>
            </a:r>
            <a:r>
              <a:rPr lang="de-DE" dirty="0"/>
              <a:t> (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prompt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another</a:t>
            </a:r>
            <a:r>
              <a:rPr lang="de-DE" dirty="0"/>
              <a:t>)</a:t>
            </a:r>
          </a:p>
          <a:p>
            <a:r>
              <a:rPr lang="de-DE" dirty="0"/>
              <a:t>prompt </a:t>
            </a:r>
            <a:r>
              <a:rPr lang="de-DE" dirty="0" err="1"/>
              <a:t>chaining</a:t>
            </a:r>
            <a:r>
              <a:rPr lang="de-DE" dirty="0"/>
              <a:t> (e.g., </a:t>
            </a:r>
            <a:r>
              <a:rPr lang="de-DE" dirty="0" err="1"/>
              <a:t>step</a:t>
            </a:r>
            <a:r>
              <a:rPr lang="de-DE" dirty="0"/>
              <a:t> 1: </a:t>
            </a:r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facts</a:t>
            </a:r>
            <a:r>
              <a:rPr lang="de-DE" dirty="0"/>
              <a:t> → </a:t>
            </a:r>
            <a:r>
              <a:rPr lang="de-DE" dirty="0" err="1"/>
              <a:t>step</a:t>
            </a:r>
            <a:r>
              <a:rPr lang="de-DE" dirty="0"/>
              <a:t> 2: </a:t>
            </a:r>
            <a:r>
              <a:rPr lang="de-DE" dirty="0" err="1"/>
              <a:t>summarize</a:t>
            </a:r>
            <a:r>
              <a:rPr lang="de-DE" dirty="0"/>
              <a:t> → </a:t>
            </a:r>
            <a:r>
              <a:rPr lang="de-DE" dirty="0" err="1"/>
              <a:t>step</a:t>
            </a:r>
            <a:r>
              <a:rPr lang="de-DE" dirty="0"/>
              <a:t> 3: </a:t>
            </a:r>
            <a:r>
              <a:rPr lang="de-DE" dirty="0" err="1"/>
              <a:t>critique</a:t>
            </a:r>
            <a:r>
              <a:rPr lang="de-DE" dirty="0"/>
              <a:t>)</a:t>
            </a:r>
          </a:p>
          <a:p>
            <a:r>
              <a:rPr lang="de-DE" dirty="0" err="1"/>
              <a:t>automated</a:t>
            </a:r>
            <a:r>
              <a:rPr lang="de-DE" dirty="0"/>
              <a:t> prompt </a:t>
            </a:r>
            <a:r>
              <a:rPr lang="de-DE" dirty="0" err="1"/>
              <a:t>generation</a:t>
            </a:r>
            <a:r>
              <a:rPr lang="de-DE" dirty="0"/>
              <a:t> and </a:t>
            </a:r>
            <a:r>
              <a:rPr lang="de-DE" dirty="0" err="1"/>
              <a:t>optimization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34D5F7-BD71-8004-DA10-A80E1B01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049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51E18BDB-D1F8-24A3-147D-7572292B9C57}"/>
              </a:ext>
            </a:extLst>
          </p:cNvPr>
          <p:cNvSpPr/>
          <p:nvPr/>
        </p:nvSpPr>
        <p:spPr>
          <a:xfrm>
            <a:off x="357352" y="2944989"/>
            <a:ext cx="11466786" cy="156394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ADA32-BF06-BFF5-75BE-84612B699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8F654-8684-E5BA-6A19-1DB6137B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de-DE" sz="2600" dirty="0" err="1"/>
              <a:t>knowledge</a:t>
            </a:r>
            <a:r>
              <a:rPr lang="de-DE" sz="2600" dirty="0"/>
              <a:t> </a:t>
            </a:r>
            <a:r>
              <a:rPr lang="de-DE" sz="2600" dirty="0" err="1"/>
              <a:t>encoded</a:t>
            </a:r>
            <a:r>
              <a:rPr lang="de-DE" sz="2600" dirty="0"/>
              <a:t> </a:t>
            </a:r>
            <a:r>
              <a:rPr lang="de-DE" sz="2600" dirty="0" err="1"/>
              <a:t>implicitly</a:t>
            </a:r>
            <a:r>
              <a:rPr lang="de-DE" sz="2600" dirty="0"/>
              <a:t> in </a:t>
            </a:r>
            <a:r>
              <a:rPr lang="de-DE" sz="2600" dirty="0" err="1"/>
              <a:t>weights</a:t>
            </a:r>
            <a:r>
              <a:rPr lang="de-DE" sz="2600" dirty="0"/>
              <a:t> </a:t>
            </a:r>
            <a:r>
              <a:rPr lang="de-DE" sz="2600" dirty="0" err="1"/>
              <a:t>rather</a:t>
            </a:r>
            <a:r>
              <a:rPr lang="de-DE" sz="2600" dirty="0"/>
              <a:t> </a:t>
            </a:r>
            <a:r>
              <a:rPr lang="de-DE" sz="2600" dirty="0" err="1"/>
              <a:t>than</a:t>
            </a:r>
            <a:r>
              <a:rPr lang="de-DE" sz="2600" dirty="0"/>
              <a:t> </a:t>
            </a:r>
            <a:r>
              <a:rPr lang="de-DE" sz="2600" dirty="0" err="1"/>
              <a:t>as</a:t>
            </a:r>
            <a:r>
              <a:rPr lang="de-DE" sz="2600" dirty="0"/>
              <a:t> explicit </a:t>
            </a:r>
            <a:r>
              <a:rPr lang="de-DE" sz="2600" dirty="0" err="1"/>
              <a:t>facts</a:t>
            </a:r>
            <a:endParaRPr lang="en-GB" sz="2600" dirty="0">
              <a:solidFill>
                <a:srgbClr val="212529"/>
              </a:solidFill>
              <a:sym typeface="Wingdings" pitchFamily="2" charset="2"/>
            </a:endParaRPr>
          </a:p>
          <a:p>
            <a:pPr marL="0" indent="0">
              <a:buNone/>
            </a:pPr>
            <a:r>
              <a:rPr lang="en-GB" sz="2600" dirty="0">
                <a:solidFill>
                  <a:srgbClr val="212529"/>
                </a:solidFill>
                <a:sym typeface="Wingdings" pitchFamily="2" charset="2"/>
              </a:rPr>
              <a:t> probabilistic pattern completion can produce hallucinated facts</a:t>
            </a: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can be mitigated by retrieving the corresponding information from an external knowledge base and pasting it in context</a:t>
            </a:r>
          </a:p>
          <a:p>
            <a:pPr marL="0" indent="0">
              <a:buNone/>
            </a:pPr>
            <a:r>
              <a:rPr lang="en-GB" sz="2600" dirty="0"/>
              <a:t>(prompt engineering </a:t>
            </a:r>
            <a:r>
              <a:rPr lang="en-GB" sz="2600" dirty="0">
                <a:sym typeface="Wingdings" pitchFamily="2" charset="2"/>
              </a:rPr>
              <a:t> context engineering</a:t>
            </a:r>
            <a:r>
              <a:rPr lang="en-GB" sz="26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EE5B-5F3A-A11E-C13B-66F632A7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19</a:t>
            </a:fld>
            <a:endParaRPr lang="en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DFB9742-025E-F658-2D84-3FC6A9913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38" y="3069416"/>
            <a:ext cx="11271123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3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C5049-4F96-3D54-33C3-284B0E367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Retrieval Augmented Generation (</a:t>
            </a:r>
            <a:r>
              <a:rPr lang="en-GB" dirty="0">
                <a:hlinkClick r:id="rId2"/>
              </a:rPr>
              <a:t>RAG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48EF6-25B5-BBF4-9EA0-78548009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20</a:t>
            </a:fld>
            <a:endParaRPr lang="en-DE" dirty="0"/>
          </a:p>
        </p:txBody>
      </p:sp>
      <p:pic>
        <p:nvPicPr>
          <p:cNvPr id="9" name="Grafik 8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D4BFBD0-5908-E4F1-2226-98B6F9A59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8566" y="1690688"/>
            <a:ext cx="7992761" cy="4735132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45732C97-B823-B047-550B-2D4A316A91B0}"/>
              </a:ext>
            </a:extLst>
          </p:cNvPr>
          <p:cNvSpPr txBox="1"/>
          <p:nvPr/>
        </p:nvSpPr>
        <p:spPr>
          <a:xfrm>
            <a:off x="7123205" y="3690395"/>
            <a:ext cx="5016245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/>
              <a:t>private </a:t>
            </a:r>
            <a:r>
              <a:rPr lang="de-DE" sz="2200" dirty="0" err="1"/>
              <a:t>data</a:t>
            </a:r>
            <a:r>
              <a:rPr lang="de-DE" sz="2200" dirty="0"/>
              <a:t> (alternative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finetuning</a:t>
            </a:r>
            <a:r>
              <a:rPr lang="de-DE" sz="2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 err="1"/>
              <a:t>internet</a:t>
            </a:r>
            <a:r>
              <a:rPr lang="de-DE" sz="2200" dirty="0"/>
              <a:t> (</a:t>
            </a:r>
            <a:r>
              <a:rPr lang="de-DE" sz="2200" dirty="0" err="1"/>
              <a:t>browser</a:t>
            </a:r>
            <a:r>
              <a:rPr lang="de-DE" sz="2200" dirty="0"/>
              <a:t> </a:t>
            </a:r>
            <a:r>
              <a:rPr lang="de-DE" sz="2200" dirty="0" err="1"/>
              <a:t>as</a:t>
            </a:r>
            <a:r>
              <a:rPr lang="de-DE" sz="2200" dirty="0"/>
              <a:t> </a:t>
            </a:r>
            <a:r>
              <a:rPr lang="de-DE" sz="2200" dirty="0" err="1"/>
              <a:t>tool</a:t>
            </a:r>
            <a:r>
              <a:rPr lang="de-DE" sz="22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 err="1"/>
              <a:t>structured</a:t>
            </a:r>
            <a:r>
              <a:rPr lang="de-DE" sz="2200" dirty="0"/>
              <a:t> APIs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B4E4F17-72E5-5655-78C9-4CB7DFE2CF2D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9207062" y="2816772"/>
            <a:ext cx="424266" cy="873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ABD54DB9-8E77-C2F1-75CB-5818AF160F1D}"/>
              </a:ext>
            </a:extLst>
          </p:cNvPr>
          <p:cNvSpPr txBox="1"/>
          <p:nvPr/>
        </p:nvSpPr>
        <p:spPr>
          <a:xfrm>
            <a:off x="838200" y="1582545"/>
            <a:ext cx="2411942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 err="1"/>
              <a:t>vector</a:t>
            </a:r>
            <a:r>
              <a:rPr lang="de-DE" sz="2200" dirty="0"/>
              <a:t> </a:t>
            </a:r>
            <a:r>
              <a:rPr lang="de-DE" sz="2200" dirty="0" err="1"/>
              <a:t>similarity</a:t>
            </a:r>
            <a:endParaRPr lang="de-DE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 err="1"/>
              <a:t>keyword</a:t>
            </a:r>
            <a:endParaRPr lang="de-DE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200" dirty="0"/>
              <a:t>hybrid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58FD4F1-069F-F8C8-4A5F-359590684C1B}"/>
              </a:ext>
            </a:extLst>
          </p:cNvPr>
          <p:cNvCxnSpPr/>
          <p:nvPr/>
        </p:nvCxnSpPr>
        <p:spPr>
          <a:xfrm>
            <a:off x="3268717" y="2165131"/>
            <a:ext cx="1587062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DBE0ADB-E83B-6515-D96A-B308063FC9E2}"/>
              </a:ext>
            </a:extLst>
          </p:cNvPr>
          <p:cNvSpPr txBox="1"/>
          <p:nvPr/>
        </p:nvSpPr>
        <p:spPr>
          <a:xfrm>
            <a:off x="7841963" y="4797980"/>
            <a:ext cx="4350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typically</a:t>
            </a:r>
            <a:r>
              <a:rPr lang="de-DE" dirty="0"/>
              <a:t>,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wasn‘t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on</a:t>
            </a:r>
          </a:p>
        </p:txBody>
      </p:sp>
    </p:spTree>
    <p:extLst>
      <p:ext uri="{BB962C8B-B14F-4D97-AF65-F5344CB8AC3E}">
        <p14:creationId xmlns:p14="http://schemas.microsoft.com/office/powerpoint/2010/main" val="14008636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9072146-2187-D889-C620-00826A65B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21</a:t>
            </a:fld>
            <a:endParaRPr lang="de-DE"/>
          </a:p>
        </p:txBody>
      </p:sp>
      <p:pic>
        <p:nvPicPr>
          <p:cNvPr id="6" name="Grafik 5" descr="Ein Bild, das Text, Screenshot, Schrift, parallel enthält.&#10;&#10;KI-generierte Inhalte können fehlerhaft sein.">
            <a:extLst>
              <a:ext uri="{FF2B5EF4-FFF2-40B4-BE49-F238E27FC236}">
                <a16:creationId xmlns:a16="http://schemas.microsoft.com/office/drawing/2014/main" id="{47D227A8-0208-97A5-8970-75E44555F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310" y="480102"/>
            <a:ext cx="10037380" cy="5897795"/>
          </a:xfrm>
          <a:prstGeom prst="rect">
            <a:avLst/>
          </a:prstGeom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DDC497ED-6CF5-F21F-D75A-6EE1CEA1C93E}"/>
              </a:ext>
            </a:extLst>
          </p:cNvPr>
          <p:cNvSpPr txBox="1"/>
          <p:nvPr/>
        </p:nvSpPr>
        <p:spPr>
          <a:xfrm>
            <a:off x="9414416" y="6377897"/>
            <a:ext cx="5677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1579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Macintosh PowerPoint</Application>
  <PresentationFormat>Breitbild</PresentationFormat>
  <Paragraphs>175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Wingdings</vt:lpstr>
      <vt:lpstr>Office</vt:lpstr>
      <vt:lpstr>Context Engineering</vt:lpstr>
      <vt:lpstr>Course Contents</vt:lpstr>
      <vt:lpstr>This Part: Context Engineering</vt:lpstr>
      <vt:lpstr>In-Context Learning (ICL)</vt:lpstr>
      <vt:lpstr>Few-Shot ICL</vt:lpstr>
      <vt:lpstr>Prompt Engineering</vt:lpstr>
      <vt:lpstr>Typical Prompt Structure</vt:lpstr>
      <vt:lpstr>Example Prompt</vt:lpstr>
      <vt:lpstr>Simplest Possible Prompt</vt:lpstr>
      <vt:lpstr>Best Practices: Clear Instruction &amp; Query</vt:lpstr>
      <vt:lpstr>Best Practices: Give Context</vt:lpstr>
      <vt:lpstr>Aka Role Prompting</vt:lpstr>
      <vt:lpstr>Best Practices: Specify Constraints</vt:lpstr>
      <vt:lpstr>Output Indicators</vt:lpstr>
      <vt:lpstr>Examples/Demonstrations</vt:lpstr>
      <vt:lpstr>Important Subtlety: Formatting &amp; Abstraction</vt:lpstr>
      <vt:lpstr>Structured Design</vt:lpstr>
      <vt:lpstr>Advanced Prompting Paradigms</vt:lpstr>
      <vt:lpstr>Hallucinations</vt:lpstr>
      <vt:lpstr>Retrieval Augmented Generation (RAG)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128</cp:revision>
  <dcterms:created xsi:type="dcterms:W3CDTF">2025-07-07T13:23:51Z</dcterms:created>
  <dcterms:modified xsi:type="dcterms:W3CDTF">2025-09-16T20:20:08Z</dcterms:modified>
</cp:coreProperties>
</file>