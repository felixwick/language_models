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792" r:id="rId3"/>
    <p:sldId id="790" r:id="rId4"/>
    <p:sldId id="343" r:id="rId5"/>
    <p:sldId id="814" r:id="rId6"/>
    <p:sldId id="827" r:id="rId7"/>
    <p:sldId id="828" r:id="rId8"/>
    <p:sldId id="803" r:id="rId9"/>
    <p:sldId id="799" r:id="rId10"/>
    <p:sldId id="807" r:id="rId11"/>
    <p:sldId id="806" r:id="rId12"/>
    <p:sldId id="831" r:id="rId13"/>
    <p:sldId id="830" r:id="rId14"/>
    <p:sldId id="285" r:id="rId15"/>
    <p:sldId id="809" r:id="rId16"/>
    <p:sldId id="804" r:id="rId17"/>
    <p:sldId id="81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60"/>
    <p:restoredTop sz="94648"/>
  </p:normalViewPr>
  <p:slideViewPr>
    <p:cSldViewPr snapToGrid="0">
      <p:cViewPr varScale="1">
        <p:scale>
          <a:sx n="107" d="100"/>
          <a:sy n="107" d="100"/>
        </p:scale>
        <p:origin x="101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1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machine-learning/gan/generative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15556" TargetMode="External"/><Relationship Id="rId2" Type="http://schemas.openxmlformats.org/officeDocument/2006/relationships/hyperlink" Target="https://arxiv.org/abs/2001.0836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leuret.org/public/lbdl.pdf" TargetMode="Externa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onshotAI/Kimi-K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oonshotai.github.io/Kimi-K2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508.10925" TargetMode="External"/><Relationship Id="rId3" Type="http://schemas.openxmlformats.org/officeDocument/2006/relationships/hyperlink" Target="https://cdn.openai.com/better-language-models/language_models_are_unsupervised_multitask_learners.pdf" TargetMode="External"/><Relationship Id="rId7" Type="http://schemas.openxmlformats.org/officeDocument/2006/relationships/hyperlink" Target="https://openai.com/index/openai-o1-system-card/" TargetMode="External"/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303.12712" TargetMode="External"/><Relationship Id="rId5" Type="http://schemas.openxmlformats.org/officeDocument/2006/relationships/hyperlink" Target="https://cdn.openai.com/papers/gpt-4.pdf" TargetMode="External"/><Relationship Id="rId4" Type="http://schemas.openxmlformats.org/officeDocument/2006/relationships/hyperlink" Target="https://arxiv.org/abs/2005.14165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lmarena.ai/leaderboard/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4.14219" TargetMode="External"/><Relationship Id="rId2" Type="http://schemas.openxmlformats.org/officeDocument/2006/relationships/hyperlink" Target="https://arxiv.org/abs/2403.08295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i.meta.com/blog/meta-llama-3/" TargetMode="External"/><Relationship Id="rId4" Type="http://schemas.openxmlformats.org/officeDocument/2006/relationships/hyperlink" Target="https://arxiv.org/abs/2310.06825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LLMs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5168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LLMs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generative AI</a:t>
            </a:r>
          </a:p>
          <a:p>
            <a:pPr marL="0" indent="0">
              <a:buNone/>
            </a:pPr>
            <a:endParaRPr lang="de-DE" dirty="0"/>
          </a:p>
          <a:p>
            <a:r>
              <a:rPr lang="en-GB" dirty="0"/>
              <a:t>a</a:t>
            </a:r>
            <a:r>
              <a:rPr lang="en-DE"/>
              <a:t>utoregressive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LLM </a:t>
            </a:r>
            <a:r>
              <a:rPr lang="de-DE" dirty="0" err="1"/>
              <a:t>zoo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8D56-2C17-0071-998B-2AC3465CE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4300" dirty="0"/>
              <a:t>Generative vs </a:t>
            </a:r>
            <a:r>
              <a:rPr lang="en-GB" sz="4300" dirty="0"/>
              <a:t>Predictive/</a:t>
            </a:r>
            <a:r>
              <a:rPr lang="en-DE" sz="4300" dirty="0"/>
              <a:t>Discriminative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discriminative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conditional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joint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b="1" dirty="0"/>
              </a:p>
              <a:p>
                <a:pPr marL="0" indent="0">
                  <a:buNone/>
                </a:pPr>
                <a:r>
                  <a:rPr lang="en-GB" sz="2400" dirty="0"/>
                  <a:t>(or just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en-GB" sz="2400" b="1" dirty="0">
                    <a:sym typeface="Wingdings" panose="05000000000000000000" pitchFamily="2" charset="2"/>
                  </a:rPr>
                  <a:t> </a:t>
                </a:r>
                <a:r>
                  <a:rPr lang="en-GB" sz="2400" dirty="0">
                    <a:sym typeface="Wingdings" panose="05000000000000000000" pitchFamily="2" charset="2"/>
                  </a:rPr>
                  <a:t></a:t>
                </a:r>
                <a:r>
                  <a:rPr lang="en-GB" sz="2400" dirty="0"/>
                  <a:t> unsupervised learning)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anose="05000000000000000000" pitchFamily="2" charset="2"/>
                  </a:rPr>
                  <a:t> </a:t>
                </a:r>
                <a:r>
                  <a:rPr lang="en-GB" sz="2400" dirty="0"/>
                  <a:t>allow to generate new data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  <a:blipFill>
                <a:blip r:embed="rId2"/>
                <a:stretch>
                  <a:fillRect l="-1573" t="-2597" b="-3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AAF07-FB21-CD30-E67D-9DAC73268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4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AE53A09-11A6-7D5D-5752-79C56178B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497" y="1938867"/>
            <a:ext cx="4977491" cy="2239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B7DFFE-3017-F778-312F-CE533FE365F9}"/>
              </a:ext>
            </a:extLst>
          </p:cNvPr>
          <p:cNvSpPr txBox="1"/>
          <p:nvPr/>
        </p:nvSpPr>
        <p:spPr>
          <a:xfrm>
            <a:off x="10821282" y="3788751"/>
            <a:ext cx="6481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682-5BEA-BBAD-A038-0421C08772E7}"/>
              </a:ext>
            </a:extLst>
          </p:cNvPr>
          <p:cNvSpPr txBox="1"/>
          <p:nvPr/>
        </p:nvSpPr>
        <p:spPr>
          <a:xfrm>
            <a:off x="7160497" y="1434598"/>
            <a:ext cx="2143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iscriminative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C9F72-7BD7-E913-FC6F-BB09F8C18FD1}"/>
              </a:ext>
            </a:extLst>
          </p:cNvPr>
          <p:cNvSpPr txBox="1"/>
          <p:nvPr/>
        </p:nvSpPr>
        <p:spPr>
          <a:xfrm>
            <a:off x="9644682" y="1428767"/>
            <a:ext cx="182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generative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DFC40-2123-31B5-7B07-7C24DA60F552}"/>
              </a:ext>
            </a:extLst>
          </p:cNvPr>
          <p:cNvSpPr txBox="1"/>
          <p:nvPr/>
        </p:nvSpPr>
        <p:spPr>
          <a:xfrm>
            <a:off x="838201" y="5563290"/>
            <a:ext cx="9602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Generative models can be used for predictive tasks (Bayes theorem).</a:t>
            </a:r>
          </a:p>
          <a:p>
            <a:r>
              <a:rPr lang="en-GB" sz="2400" dirty="0"/>
              <a:t>But predictive models are usually better at it.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DE10A-881C-D96E-639E-D4428BF368A7}"/>
              </a:ext>
            </a:extLst>
          </p:cNvPr>
          <p:cNvSpPr txBox="1"/>
          <p:nvPr/>
        </p:nvSpPr>
        <p:spPr>
          <a:xfrm>
            <a:off x="6946003" y="4227883"/>
            <a:ext cx="51919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task of g</a:t>
            </a:r>
            <a:r>
              <a:rPr lang="en-DE" sz="1800" dirty="0"/>
              <a:t>enerative models more difficult: </a:t>
            </a:r>
            <a:r>
              <a:rPr lang="en-GB" sz="1800" dirty="0"/>
              <a:t>need to </a:t>
            </a:r>
            <a:r>
              <a:rPr lang="en-DE" sz="1800" dirty="0"/>
              <a:t>model full data distribution rather than merely find patterns in inputs to distinguish outputs</a:t>
            </a:r>
          </a:p>
        </p:txBody>
      </p:sp>
    </p:spTree>
    <p:extLst>
      <p:ext uri="{BB962C8B-B14F-4D97-AF65-F5344CB8AC3E}">
        <p14:creationId xmlns:p14="http://schemas.microsoft.com/office/powerpoint/2010/main" val="2882629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CC447E-0429-2D97-567A-FF3AB92BB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Autoregressive Text Generation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0B0DCB-4295-F0FB-A4D6-FB056FA7F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LLMs (autoregressive </a:t>
            </a:r>
            <a:r>
              <a:rPr lang="de-DE" dirty="0" err="1"/>
              <a:t>transformers</a:t>
            </a:r>
            <a:r>
              <a:rPr lang="de-DE" dirty="0"/>
              <a:t>) </a:t>
            </a:r>
            <a:r>
              <a:rPr lang="de-DE" dirty="0" err="1">
                <a:sym typeface="Wingdings" pitchFamily="2" charset="2"/>
              </a:rPr>
              <a:t>generate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en-DE">
                <a:sym typeface="Wingdings" pitchFamily="2" charset="2"/>
              </a:rPr>
              <a:t>one output token </a:t>
            </a:r>
            <a:r>
              <a:rPr lang="de-DE" dirty="0">
                <a:sym typeface="Wingdings" pitchFamily="2" charset="2"/>
              </a:rPr>
              <a:t>at a time (</a:t>
            </a:r>
            <a:r>
              <a:rPr lang="de-DE" dirty="0" err="1">
                <a:sym typeface="Wingdings" pitchFamily="2" charset="2"/>
              </a:rPr>
              <a:t>according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then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add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context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resulting</a:t>
            </a:r>
            <a:r>
              <a:rPr lang="de-DE" dirty="0">
                <a:sym typeface="Wingdings" pitchFamily="2" charset="2"/>
              </a:rPr>
              <a:t> in a </a:t>
            </a:r>
            <a:r>
              <a:rPr lang="de-DE" dirty="0" err="1">
                <a:sym typeface="Wingdings" pitchFamily="2" charset="2"/>
              </a:rPr>
              <a:t>full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text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sampled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from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endParaRPr lang="de-DE" dirty="0">
              <a:sym typeface="Wingdings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9B1226-05C9-DC10-1D27-CC1030463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0366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E5F3DB-B3C1-A7DB-3470-528028E1A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LLMs Generative Models </a:t>
            </a:r>
            <a:r>
              <a:rPr lang="de-DE" dirty="0" err="1"/>
              <a:t>then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at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take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previous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context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predict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conditional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sequences</a:t>
                </a:r>
                <a:r>
                  <a:rPr lang="de-DE" sz="2400" dirty="0"/>
                  <a:t> via </a:t>
                </a:r>
                <a:r>
                  <a:rPr lang="de-DE" sz="2400" dirty="0" err="1"/>
                  <a:t>chain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prediction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implicit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conditionals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4B76C-4C90-7EEE-3784-1A1B3489F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1857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B2A7F-D706-126A-8733-B64202ABB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Prompting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ABA11-6D27-64D9-CFC3-94B012C10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feed information into decoder-only transformer via input prompt</a:t>
            </a:r>
          </a:p>
          <a:p>
            <a:pPr marL="0" indent="0">
              <a:buNone/>
            </a:pP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attention to context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using all the knowledge acquired during internet-scale pretraining and stored in weights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kind of programmable neural network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a new paradigm: </a:t>
            </a:r>
            <a:r>
              <a:rPr lang="en-GB" b="1" dirty="0"/>
              <a:t>one model for many tasks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2EB15C-8815-C83D-8F45-1E72CC59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9064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18D8-662F-8E62-9266-15406EC25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Size Matters</a:t>
            </a:r>
            <a:r>
              <a:rPr lang="en-GB" dirty="0"/>
              <a:t>: </a:t>
            </a:r>
            <a:r>
              <a:rPr lang="en-GB" b="1" dirty="0"/>
              <a:t>LARGE</a:t>
            </a:r>
            <a:r>
              <a:rPr lang="en-GB" dirty="0"/>
              <a:t> Language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F4078-2FDF-FC34-76CD-ACB22B479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89361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>
                <a:hlinkClick r:id="rId2"/>
              </a:rPr>
              <a:t>scaling laws</a:t>
            </a:r>
            <a:r>
              <a:rPr lang="en-GB" sz="2600" dirty="0"/>
              <a:t>, </a:t>
            </a:r>
            <a:r>
              <a:rPr lang="en-GB" sz="2600" dirty="0">
                <a:hlinkClick r:id="rId3"/>
              </a:rPr>
              <a:t>Chinchilla</a:t>
            </a:r>
            <a:r>
              <a:rPr lang="en-GB" sz="2600" dirty="0"/>
              <a:t>: coupled performance power laws with model size, amount of training data, and compute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era of large-scale models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emergent abilities of LLMs:</a:t>
            </a:r>
          </a:p>
          <a:p>
            <a:r>
              <a:rPr lang="en-GB" sz="2600" dirty="0"/>
              <a:t>multi-task learning: perform new tasks at test time without task-specific training (via </a:t>
            </a:r>
            <a:r>
              <a:rPr lang="en-GB" sz="2600" dirty="0">
                <a:sym typeface="Wingdings" pitchFamily="2" charset="2"/>
              </a:rPr>
              <a:t>p</a:t>
            </a:r>
            <a:r>
              <a:rPr lang="en-GB" sz="2600" dirty="0"/>
              <a:t>rompting)</a:t>
            </a:r>
          </a:p>
          <a:p>
            <a:r>
              <a:rPr lang="en-GB" sz="2600" dirty="0">
                <a:solidFill>
                  <a:srgbClr val="212529"/>
                </a:solidFill>
              </a:rPr>
              <a:t>reasoning capabilities</a:t>
            </a:r>
            <a:endParaRPr lang="en-GB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F0045-E4C4-0C38-5A9B-7A5BA0214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8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71ACDA-58DE-C671-C490-9A25C570A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395" y="1005021"/>
            <a:ext cx="2390243" cy="5344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67208A-C2CD-8126-638D-2517BFC96589}"/>
              </a:ext>
            </a:extLst>
          </p:cNvPr>
          <p:cNvSpPr txBox="1"/>
          <p:nvPr/>
        </p:nvSpPr>
        <p:spPr>
          <a:xfrm>
            <a:off x="11632120" y="634956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839114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368-8592-0C01-7155-B0402DBC5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LLM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96AE7-65B2-BDAA-9CB1-106D3E0C6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example </a:t>
            </a:r>
            <a:r>
              <a:rPr lang="en-GB" dirty="0">
                <a:hlinkClick r:id="rId2"/>
              </a:rPr>
              <a:t>Kimi K2</a:t>
            </a:r>
            <a:r>
              <a:rPr lang="en-GB" dirty="0"/>
              <a:t> (Mixture-of-Experts model):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vocabulary size (tokens):		160K</a:t>
            </a:r>
          </a:p>
          <a:p>
            <a:r>
              <a:rPr lang="en-GB" dirty="0"/>
              <a:t>embedding dimension:		7,168</a:t>
            </a:r>
          </a:p>
          <a:p>
            <a:r>
              <a:rPr lang="en-GB" dirty="0"/>
              <a:t>context length (tokens):		128K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parameters:			1T</a:t>
            </a:r>
          </a:p>
          <a:p>
            <a:r>
              <a:rPr lang="en-GB" dirty="0"/>
              <a:t>training tokens:			15.5T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number of layers:			61</a:t>
            </a:r>
          </a:p>
          <a:p>
            <a:r>
              <a:rPr lang="en-GB" dirty="0"/>
              <a:t>number of attention heads:		64</a:t>
            </a:r>
          </a:p>
          <a:p>
            <a:r>
              <a:rPr lang="en-GB" dirty="0"/>
              <a:t>number of experts:			384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7305-36A6-E37E-39C3-03F1C64BB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47AE09-0CE7-F2EF-E282-E7D203CB2794}"/>
              </a:ext>
            </a:extLst>
          </p:cNvPr>
          <p:cNvSpPr txBox="1"/>
          <p:nvPr/>
        </p:nvSpPr>
        <p:spPr>
          <a:xfrm flipH="1">
            <a:off x="7780863" y="4061832"/>
            <a:ext cx="3055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a lot of memorizing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98ABD0-40ED-3A92-2AD6-EEEFFF673542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6411310" y="4292665"/>
            <a:ext cx="13695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B3AA4BA7-5487-6DD2-189C-F68C512D6F35}"/>
              </a:ext>
            </a:extLst>
          </p:cNvPr>
          <p:cNvSpPr txBox="1"/>
          <p:nvPr/>
        </p:nvSpPr>
        <p:spPr>
          <a:xfrm>
            <a:off x="7797362" y="4672114"/>
            <a:ext cx="38152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compression of the internet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1AAA22A-780F-765B-ED5D-8C5F6DBB657A}"/>
              </a:ext>
            </a:extLst>
          </p:cNvPr>
          <p:cNvSpPr txBox="1"/>
          <p:nvPr/>
        </p:nvSpPr>
        <p:spPr>
          <a:xfrm>
            <a:off x="8008735" y="1690688"/>
            <a:ext cx="3345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usual</a:t>
            </a:r>
            <a:r>
              <a:rPr lang="de-DE" sz="2400" dirty="0"/>
              <a:t>, </a:t>
            </a:r>
            <a:r>
              <a:rPr lang="de-DE" sz="2400" dirty="0" err="1"/>
              <a:t>comes</a:t>
            </a:r>
            <a:r>
              <a:rPr lang="de-DE" sz="2400" dirty="0"/>
              <a:t> in </a:t>
            </a:r>
            <a:r>
              <a:rPr lang="de-DE" sz="2400" dirty="0" err="1"/>
              <a:t>base</a:t>
            </a:r>
            <a:r>
              <a:rPr lang="de-DE" sz="2400" dirty="0"/>
              <a:t> and </a:t>
            </a:r>
            <a:r>
              <a:rPr lang="de-DE" sz="2400" dirty="0" err="1"/>
              <a:t>instruct</a:t>
            </a:r>
            <a:r>
              <a:rPr lang="de-DE" sz="2400" dirty="0"/>
              <a:t> </a:t>
            </a:r>
            <a:r>
              <a:rPr lang="de-DE" sz="2400" dirty="0" err="1"/>
              <a:t>variants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135530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C49767A-2E15-165D-D997-E5D752EC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3B750F-F14C-12D4-7DCC-7B2905B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430" y="310758"/>
            <a:ext cx="9691139" cy="604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6">
            <a:extLst>
              <a:ext uri="{FF2B5EF4-FFF2-40B4-BE49-F238E27FC236}">
                <a16:creationId xmlns:a16="http://schemas.microsoft.com/office/drawing/2014/main" id="{14EA65BE-46E9-FF4E-46BF-296B8C3044C6}"/>
              </a:ext>
            </a:extLst>
          </p:cNvPr>
          <p:cNvSpPr txBox="1"/>
          <p:nvPr/>
        </p:nvSpPr>
        <p:spPr>
          <a:xfrm>
            <a:off x="10941569" y="544583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00366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EAD6B4-651B-644D-52EC-1596AE49F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Mixture-of-Experts (</a:t>
            </a:r>
            <a:r>
              <a:rPr lang="en-GB" dirty="0" err="1"/>
              <a:t>MoE</a:t>
            </a:r>
            <a:r>
              <a:rPr lang="en-GB" dirty="0"/>
              <a:t>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FF8B6C6-1CA1-F2B6-F9FC-88AC607A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pic>
        <p:nvPicPr>
          <p:cNvPr id="6" name="Grafik 5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3F18497A-B5E7-77E2-1AC8-0090A6A9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9" y="1695242"/>
            <a:ext cx="4027466" cy="2388703"/>
          </a:xfrm>
          <a:prstGeom prst="rect">
            <a:avLst/>
          </a:prstGeom>
        </p:spPr>
      </p:pic>
      <p:pic>
        <p:nvPicPr>
          <p:cNvPr id="12" name="Grafik 11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D5668014-FFBE-AEF7-7D0B-C34D3710A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32344"/>
            <a:ext cx="5833240" cy="2557037"/>
          </a:xfrm>
          <a:prstGeom prst="rect">
            <a:avLst/>
          </a:prstGeom>
        </p:spPr>
      </p:pic>
      <p:pic>
        <p:nvPicPr>
          <p:cNvPr id="14" name="Grafik 13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A45987D-4A1C-9D5E-CDE0-DA8F170815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40" y="5556737"/>
            <a:ext cx="4971393" cy="858076"/>
          </a:xfrm>
          <a:prstGeom prst="rect">
            <a:avLst/>
          </a:prstGeom>
        </p:spPr>
      </p:pic>
      <p:pic>
        <p:nvPicPr>
          <p:cNvPr id="16" name="Grafik 15" descr="Ein Bild, das Text, Screenshot, Diagramm, Plan enthält.&#10;&#10;KI-generierte Inhalte können fehlerhaft sein.">
            <a:extLst>
              <a:ext uri="{FF2B5EF4-FFF2-40B4-BE49-F238E27FC236}">
                <a16:creationId xmlns:a16="http://schemas.microsoft.com/office/drawing/2014/main" id="{A7FC819F-00B5-E029-3603-667BB46CF5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8940" y="1029875"/>
            <a:ext cx="3554860" cy="3828311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3FC9B594-3082-E9CC-A16C-E2108E7775E4}"/>
              </a:ext>
            </a:extLst>
          </p:cNvPr>
          <p:cNvSpPr txBox="1"/>
          <p:nvPr/>
        </p:nvSpPr>
        <p:spPr>
          <a:xfrm>
            <a:off x="10898954" y="875812"/>
            <a:ext cx="1293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FFNN </a:t>
            </a:r>
            <a:r>
              <a:rPr lang="de-DE" dirty="0" err="1"/>
              <a:t>itself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EC8727B-1DC1-C78D-8CF6-F414C899A7F9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10058400" y="1060478"/>
            <a:ext cx="840554" cy="526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2C44EF57-8C0D-815E-A98F-21AE49749D13}"/>
              </a:ext>
            </a:extLst>
          </p:cNvPr>
          <p:cNvSpPr txBox="1"/>
          <p:nvPr/>
        </p:nvSpPr>
        <p:spPr>
          <a:xfrm>
            <a:off x="210207" y="1950997"/>
            <a:ext cx="29975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idea</a:t>
            </a:r>
            <a:r>
              <a:rPr lang="de-DE" sz="2000" dirty="0"/>
              <a:t>: </a:t>
            </a:r>
            <a:r>
              <a:rPr lang="de-DE" sz="2000" dirty="0" err="1"/>
              <a:t>replace</a:t>
            </a:r>
            <a:r>
              <a:rPr lang="de-DE" sz="2000" dirty="0"/>
              <a:t> </a:t>
            </a:r>
            <a:r>
              <a:rPr lang="de-DE" sz="2000" dirty="0" err="1"/>
              <a:t>big</a:t>
            </a:r>
            <a:r>
              <a:rPr lang="de-DE" sz="2000" dirty="0"/>
              <a:t> FFNN </a:t>
            </a:r>
            <a:r>
              <a:rPr lang="de-DE" sz="2000" dirty="0" err="1"/>
              <a:t>with</a:t>
            </a:r>
            <a:r>
              <a:rPr lang="de-DE" sz="2000" dirty="0"/>
              <a:t> </a:t>
            </a:r>
            <a:r>
              <a:rPr lang="de-DE" sz="2000" dirty="0" err="1"/>
              <a:t>several</a:t>
            </a:r>
            <a:r>
              <a:rPr lang="de-DE" sz="2000" dirty="0"/>
              <a:t> </a:t>
            </a:r>
            <a:r>
              <a:rPr lang="de-DE" sz="2000" dirty="0" err="1"/>
              <a:t>smaller</a:t>
            </a:r>
            <a:r>
              <a:rPr lang="de-DE" sz="2000" dirty="0"/>
              <a:t> </a:t>
            </a:r>
            <a:r>
              <a:rPr lang="de-DE" sz="2000" dirty="0" err="1"/>
              <a:t>ones</a:t>
            </a:r>
            <a:r>
              <a:rPr lang="de-DE" sz="2000" dirty="0"/>
              <a:t> and </a:t>
            </a:r>
            <a:r>
              <a:rPr lang="de-DE" sz="2000" dirty="0" err="1"/>
              <a:t>activate</a:t>
            </a:r>
            <a:r>
              <a:rPr lang="de-DE" sz="2000" dirty="0"/>
              <a:t> </a:t>
            </a:r>
            <a:r>
              <a:rPr lang="de-DE" sz="2000" dirty="0" err="1"/>
              <a:t>only</a:t>
            </a:r>
            <a:r>
              <a:rPr lang="de-DE" sz="2000" dirty="0"/>
              <a:t> </a:t>
            </a:r>
            <a:r>
              <a:rPr lang="de-DE" sz="2000" dirty="0" err="1"/>
              <a:t>few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less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active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parameters</a:t>
            </a:r>
            <a:endParaRPr lang="de-DE" sz="2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6E2279A-5EDE-233C-29AF-1C06782B0E1F}"/>
              </a:ext>
            </a:extLst>
          </p:cNvPr>
          <p:cNvSpPr txBox="1"/>
          <p:nvPr/>
        </p:nvSpPr>
        <p:spPr>
          <a:xfrm>
            <a:off x="7416490" y="5141530"/>
            <a:ext cx="35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 (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abstract</a:t>
            </a:r>
            <a:r>
              <a:rPr lang="de-DE" dirty="0"/>
              <a:t>):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D62DF5D-EF8F-9F4C-DDC4-97639D1E6E42}"/>
              </a:ext>
            </a:extLst>
          </p:cNvPr>
          <p:cNvSpPr txBox="1"/>
          <p:nvPr/>
        </p:nvSpPr>
        <p:spPr>
          <a:xfrm>
            <a:off x="48013" y="4232344"/>
            <a:ext cx="3159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different </a:t>
            </a:r>
            <a:r>
              <a:rPr lang="de-DE" dirty="0" err="1"/>
              <a:t>paths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66209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D6321F3-DC05-6B7F-9E51-4ECD9C5A6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1C4E7D4-BC9A-C42E-CF08-D3814073013F}"/>
              </a:ext>
            </a:extLst>
          </p:cNvPr>
          <p:cNvCxnSpPr>
            <a:cxnSpLocks/>
            <a:stCxn id="5" idx="0"/>
            <a:endCxn id="12" idx="0"/>
          </p:cNvCxnSpPr>
          <p:nvPr/>
        </p:nvCxnSpPr>
        <p:spPr>
          <a:xfrm flipV="1">
            <a:off x="572220" y="4175665"/>
            <a:ext cx="11047560" cy="4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8E20F93-502D-86D5-695F-4EC5CB765914}"/>
              </a:ext>
            </a:extLst>
          </p:cNvPr>
          <p:cNvSpPr txBox="1"/>
          <p:nvPr/>
        </p:nvSpPr>
        <p:spPr>
          <a:xfrm>
            <a:off x="274702" y="4180187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2017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CFD01B5-3CAE-F82B-8CBC-3DEA93D9313E}"/>
              </a:ext>
            </a:extLst>
          </p:cNvPr>
          <p:cNvSpPr txBox="1"/>
          <p:nvPr/>
        </p:nvSpPr>
        <p:spPr>
          <a:xfrm>
            <a:off x="2115962" y="4180187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2018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C0AE14-E90E-1BB4-DEC4-AE2AE8C7F8B2}"/>
              </a:ext>
            </a:extLst>
          </p:cNvPr>
          <p:cNvSpPr txBox="1"/>
          <p:nvPr/>
        </p:nvSpPr>
        <p:spPr>
          <a:xfrm>
            <a:off x="7639742" y="4175664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2021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E178230-E2E0-E0F3-2EC1-24BF60661F8A}"/>
              </a:ext>
            </a:extLst>
          </p:cNvPr>
          <p:cNvSpPr txBox="1"/>
          <p:nvPr/>
        </p:nvSpPr>
        <p:spPr>
          <a:xfrm>
            <a:off x="9481002" y="4172868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2022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9E93289-3009-CBA0-D947-2F7D2494B07B}"/>
              </a:ext>
            </a:extLst>
          </p:cNvPr>
          <p:cNvSpPr txBox="1"/>
          <p:nvPr/>
        </p:nvSpPr>
        <p:spPr>
          <a:xfrm>
            <a:off x="11322262" y="4175665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2023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140E18C-C3F7-F0A2-B53F-199A6812B133}"/>
              </a:ext>
            </a:extLst>
          </p:cNvPr>
          <p:cNvSpPr txBox="1"/>
          <p:nvPr/>
        </p:nvSpPr>
        <p:spPr>
          <a:xfrm>
            <a:off x="1032956" y="2917117"/>
            <a:ext cx="1247649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Transformer</a:t>
            </a:r>
          </a:p>
          <a:p>
            <a:r>
              <a:rPr lang="de-DE" sz="1200" dirty="0"/>
              <a:t>Google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A797B9C7-8AEE-CF01-0255-B7EB76B1BF9C}"/>
              </a:ext>
            </a:extLst>
          </p:cNvPr>
          <p:cNvSpPr txBox="1"/>
          <p:nvPr/>
        </p:nvSpPr>
        <p:spPr>
          <a:xfrm>
            <a:off x="2640658" y="4930904"/>
            <a:ext cx="1181093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GPT-1</a:t>
            </a:r>
            <a:r>
              <a:rPr lang="de-DE" sz="1500" dirty="0"/>
              <a:t> 117M</a:t>
            </a:r>
          </a:p>
          <a:p>
            <a:r>
              <a:rPr lang="de-DE" sz="1200" dirty="0"/>
              <a:t>OpenAI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85A2A19-3F30-D5E7-58B7-3E3D25C73E61}"/>
              </a:ext>
            </a:extLst>
          </p:cNvPr>
          <p:cNvSpPr txBox="1"/>
          <p:nvPr/>
        </p:nvSpPr>
        <p:spPr>
          <a:xfrm>
            <a:off x="3163214" y="2917117"/>
            <a:ext cx="1128835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BERT</a:t>
            </a:r>
            <a:r>
              <a:rPr lang="de-DE" sz="1500" dirty="0"/>
              <a:t> 340M</a:t>
            </a:r>
          </a:p>
          <a:p>
            <a:r>
              <a:rPr lang="de-DE" sz="1200" dirty="0"/>
              <a:t>Google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B7A298-BD28-B716-1B5A-58D625B313FF}"/>
              </a:ext>
            </a:extLst>
          </p:cNvPr>
          <p:cNvSpPr txBox="1"/>
          <p:nvPr/>
        </p:nvSpPr>
        <p:spPr>
          <a:xfrm>
            <a:off x="3957222" y="4180187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2019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6BA4051-49A7-85BD-7B7A-8C1725F1E068}"/>
              </a:ext>
            </a:extLst>
          </p:cNvPr>
          <p:cNvSpPr txBox="1"/>
          <p:nvPr/>
        </p:nvSpPr>
        <p:spPr>
          <a:xfrm>
            <a:off x="4034177" y="4930904"/>
            <a:ext cx="1108701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GPT-2</a:t>
            </a:r>
            <a:r>
              <a:rPr lang="de-DE" sz="1500" dirty="0"/>
              <a:t> 1.5B</a:t>
            </a:r>
          </a:p>
          <a:p>
            <a:r>
              <a:rPr lang="de-DE" sz="1200" dirty="0"/>
              <a:t>OpenAI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44AEC4D-81D4-CD3F-4E7B-001F1A7DDF5B}"/>
              </a:ext>
            </a:extLst>
          </p:cNvPr>
          <p:cNvSpPr txBox="1"/>
          <p:nvPr/>
        </p:nvSpPr>
        <p:spPr>
          <a:xfrm>
            <a:off x="5798482" y="4172868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4FC7F55-2311-81C0-92D2-5F55D24F41DC}"/>
              </a:ext>
            </a:extLst>
          </p:cNvPr>
          <p:cNvSpPr txBox="1"/>
          <p:nvPr/>
        </p:nvSpPr>
        <p:spPr>
          <a:xfrm>
            <a:off x="4286632" y="3645613"/>
            <a:ext cx="11820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200" dirty="0" err="1"/>
              <a:t>used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Google </a:t>
            </a:r>
            <a:r>
              <a:rPr lang="de-DE" sz="1200" dirty="0" err="1"/>
              <a:t>search</a:t>
            </a:r>
            <a:r>
              <a:rPr lang="de-DE" sz="1200" dirty="0"/>
              <a:t> 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DA44139-7181-CA1B-C56F-18A940D986C6}"/>
              </a:ext>
            </a:extLst>
          </p:cNvPr>
          <p:cNvSpPr txBox="1"/>
          <p:nvPr/>
        </p:nvSpPr>
        <p:spPr>
          <a:xfrm>
            <a:off x="6322123" y="4930904"/>
            <a:ext cx="1156792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GPT-3</a:t>
            </a:r>
            <a:r>
              <a:rPr lang="de-DE" sz="1500" dirty="0"/>
              <a:t> 175B</a:t>
            </a:r>
          </a:p>
          <a:p>
            <a:r>
              <a:rPr lang="de-DE" sz="1200" dirty="0"/>
              <a:t>OpenAI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0657232-07AA-DC00-2DFD-16084FD9BB46}"/>
              </a:ext>
            </a:extLst>
          </p:cNvPr>
          <p:cNvSpPr txBox="1"/>
          <p:nvPr/>
        </p:nvSpPr>
        <p:spPr>
          <a:xfrm>
            <a:off x="5362908" y="2914320"/>
            <a:ext cx="660758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b="1" dirty="0"/>
              <a:t>T5</a:t>
            </a:r>
          </a:p>
          <a:p>
            <a:r>
              <a:rPr lang="de-DE" sz="1200" dirty="0"/>
              <a:t>Google</a:t>
            </a:r>
          </a:p>
        </p:txBody>
      </p:sp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8567E9D-C6B1-D5B7-3044-9A74F52C3241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656781" y="3424948"/>
            <a:ext cx="0" cy="755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40">
            <a:extLst>
              <a:ext uri="{FF2B5EF4-FFF2-40B4-BE49-F238E27FC236}">
                <a16:creationId xmlns:a16="http://schemas.microsoft.com/office/drawing/2014/main" id="{BE2C1AF3-F033-8E18-E284-C59FF86649D8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3727632" y="3424948"/>
            <a:ext cx="0" cy="755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08F8CDAF-F838-5F92-BB26-28F768A36E75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3231205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47">
            <a:extLst>
              <a:ext uri="{FF2B5EF4-FFF2-40B4-BE49-F238E27FC236}">
                <a16:creationId xmlns:a16="http://schemas.microsoft.com/office/drawing/2014/main" id="{3D121997-E584-A491-75EB-E39D62750ED6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4588528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63CA038E-343E-6BBB-6907-A4FFC910B5F2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5693287" y="3422151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53C2B3BE-E07A-48FD-2CE7-F46F8C4F1889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6900519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78695298-F9DA-8B93-C5FD-933EF564A76F}"/>
              </a:ext>
            </a:extLst>
          </p:cNvPr>
          <p:cNvSpPr txBox="1"/>
          <p:nvPr/>
        </p:nvSpPr>
        <p:spPr>
          <a:xfrm>
            <a:off x="8444267" y="2914319"/>
            <a:ext cx="799642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 err="1"/>
              <a:t>LaMDA</a:t>
            </a:r>
            <a:endParaRPr lang="de-DE" sz="1500" dirty="0"/>
          </a:p>
          <a:p>
            <a:r>
              <a:rPr lang="de-DE" sz="1200" dirty="0"/>
              <a:t>Google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0F6BAA0B-793B-BDAE-FB20-7A1DF12938B4}"/>
              </a:ext>
            </a:extLst>
          </p:cNvPr>
          <p:cNvSpPr txBox="1"/>
          <p:nvPr/>
        </p:nvSpPr>
        <p:spPr>
          <a:xfrm>
            <a:off x="10754309" y="4930904"/>
            <a:ext cx="955903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ChatGPT</a:t>
            </a:r>
            <a:endParaRPr lang="de-DE" sz="1500" dirty="0"/>
          </a:p>
          <a:p>
            <a:r>
              <a:rPr lang="de-DE" sz="1200" dirty="0"/>
              <a:t>OpenAI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0B3BA1C9-2BAB-69E6-6683-B141AB1A194C}"/>
              </a:ext>
            </a:extLst>
          </p:cNvPr>
          <p:cNvSpPr txBox="1"/>
          <p:nvPr/>
        </p:nvSpPr>
        <p:spPr>
          <a:xfrm>
            <a:off x="9387247" y="4930904"/>
            <a:ext cx="1226426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 err="1"/>
              <a:t>InstructGPT</a:t>
            </a:r>
            <a:endParaRPr lang="de-DE" sz="1500" dirty="0"/>
          </a:p>
          <a:p>
            <a:r>
              <a:rPr lang="de-DE" sz="1200" dirty="0"/>
              <a:t>OpenAI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E3146616-71FB-D1D4-4C49-8B2E4D7A444E}"/>
              </a:ext>
            </a:extLst>
          </p:cNvPr>
          <p:cNvSpPr txBox="1"/>
          <p:nvPr/>
        </p:nvSpPr>
        <p:spPr>
          <a:xfrm>
            <a:off x="9753319" y="2914319"/>
            <a:ext cx="1117998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 err="1"/>
              <a:t>PaLM</a:t>
            </a:r>
            <a:r>
              <a:rPr lang="de-DE" sz="1500" dirty="0"/>
              <a:t> 540B</a:t>
            </a:r>
          </a:p>
          <a:p>
            <a:r>
              <a:rPr lang="de-DE" sz="1200" dirty="0"/>
              <a:t>Google</a:t>
            </a:r>
          </a:p>
        </p:txBody>
      </p: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FA4234F1-A1C0-50DD-3C19-BF38D1012D59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0312318" y="3422150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95">
            <a:extLst>
              <a:ext uri="{FF2B5EF4-FFF2-40B4-BE49-F238E27FC236}">
                <a16:creationId xmlns:a16="http://schemas.microsoft.com/office/drawing/2014/main" id="{82D474FD-4880-1661-AF73-3609669688D6}"/>
              </a:ext>
            </a:extLst>
          </p:cNvPr>
          <p:cNvCxnSpPr>
            <a:stCxn id="57" idx="0"/>
          </p:cNvCxnSpPr>
          <p:nvPr/>
        </p:nvCxnSpPr>
        <p:spPr>
          <a:xfrm flipH="1" flipV="1">
            <a:off x="11232260" y="4180187"/>
            <a:ext cx="1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C864265A-6F16-0BA8-F420-10FC9F47A5AD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8844088" y="3422150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0F5EA683-7FFF-3C62-E192-2B76C7D3CE6F}"/>
              </a:ext>
            </a:extLst>
          </p:cNvPr>
          <p:cNvCxnSpPr>
            <a:cxnSpLocks/>
            <a:stCxn id="16" idx="2"/>
            <a:endCxn id="20" idx="1"/>
          </p:cNvCxnSpPr>
          <p:nvPr/>
        </p:nvCxnSpPr>
        <p:spPr>
          <a:xfrm>
            <a:off x="3727632" y="3424948"/>
            <a:ext cx="559000" cy="451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661E45CE-254E-03FD-56F6-D4DD0537BFF7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10000460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34E7E7A8-81A3-FD64-014E-471C8A2049E7}"/>
              </a:ext>
            </a:extLst>
          </p:cNvPr>
          <p:cNvSpPr txBox="1"/>
          <p:nvPr/>
        </p:nvSpPr>
        <p:spPr>
          <a:xfrm>
            <a:off x="319763" y="2116918"/>
            <a:ext cx="26740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architecture</a:t>
            </a:r>
            <a:r>
              <a:rPr lang="de-DE" sz="1200" dirty="0"/>
              <a:t> </a:t>
            </a:r>
            <a:r>
              <a:rPr lang="de-DE" sz="1200" dirty="0" err="1"/>
              <a:t>everything</a:t>
            </a:r>
            <a:r>
              <a:rPr lang="de-DE" sz="1200" dirty="0"/>
              <a:t> </a:t>
            </a:r>
            <a:r>
              <a:rPr lang="de-DE" sz="1200" dirty="0" err="1"/>
              <a:t>is</a:t>
            </a:r>
            <a:r>
              <a:rPr lang="de-DE" sz="1200" dirty="0"/>
              <a:t> </a:t>
            </a:r>
            <a:r>
              <a:rPr lang="de-DE" sz="1200" dirty="0" err="1"/>
              <a:t>built</a:t>
            </a:r>
            <a:r>
              <a:rPr lang="de-DE" sz="1200" dirty="0"/>
              <a:t> on</a:t>
            </a:r>
          </a:p>
        </p:txBody>
      </p:sp>
      <p:cxnSp>
        <p:nvCxnSpPr>
          <p:cNvPr id="118" name="Gerade Verbindung 117">
            <a:extLst>
              <a:ext uri="{FF2B5EF4-FFF2-40B4-BE49-F238E27FC236}">
                <a16:creationId xmlns:a16="http://schemas.microsoft.com/office/drawing/2014/main" id="{ED628A0D-F8E1-2A93-6BC2-4E66C267FD2B}"/>
              </a:ext>
            </a:extLst>
          </p:cNvPr>
          <p:cNvCxnSpPr>
            <a:cxnSpLocks/>
            <a:stCxn id="14" idx="0"/>
            <a:endCxn id="112" idx="2"/>
          </p:cNvCxnSpPr>
          <p:nvPr/>
        </p:nvCxnSpPr>
        <p:spPr>
          <a:xfrm flipH="1" flipV="1">
            <a:off x="1656780" y="2393917"/>
            <a:ext cx="1" cy="523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feld 121">
            <a:extLst>
              <a:ext uri="{FF2B5EF4-FFF2-40B4-BE49-F238E27FC236}">
                <a16:creationId xmlns:a16="http://schemas.microsoft.com/office/drawing/2014/main" id="{16F6B474-2C3A-6F85-F70D-40EB038D802B}"/>
              </a:ext>
            </a:extLst>
          </p:cNvPr>
          <p:cNvSpPr txBox="1"/>
          <p:nvPr/>
        </p:nvSpPr>
        <p:spPr>
          <a:xfrm>
            <a:off x="4503553" y="2116918"/>
            <a:ext cx="23794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pioneered</a:t>
            </a:r>
            <a:r>
              <a:rPr lang="de-DE" sz="1200" dirty="0"/>
              <a:t> </a:t>
            </a:r>
            <a:r>
              <a:rPr lang="de-DE" sz="1200" dirty="0" err="1"/>
              <a:t>instruction</a:t>
            </a:r>
            <a:r>
              <a:rPr lang="de-DE" sz="1200" dirty="0"/>
              <a:t>-style </a:t>
            </a:r>
            <a:r>
              <a:rPr lang="de-DE" sz="1200" dirty="0" err="1"/>
              <a:t>tasks</a:t>
            </a:r>
            <a:endParaRPr lang="de-DE" sz="1200" dirty="0"/>
          </a:p>
        </p:txBody>
      </p:sp>
      <p:cxnSp>
        <p:nvCxnSpPr>
          <p:cNvPr id="124" name="Gerade Verbindung 123">
            <a:extLst>
              <a:ext uri="{FF2B5EF4-FFF2-40B4-BE49-F238E27FC236}">
                <a16:creationId xmlns:a16="http://schemas.microsoft.com/office/drawing/2014/main" id="{60DBCCE4-1737-1B58-0258-FE00598F30C2}"/>
              </a:ext>
            </a:extLst>
          </p:cNvPr>
          <p:cNvCxnSpPr>
            <a:cxnSpLocks/>
            <a:stCxn id="122" idx="2"/>
            <a:endCxn id="32" idx="0"/>
          </p:cNvCxnSpPr>
          <p:nvPr/>
        </p:nvCxnSpPr>
        <p:spPr>
          <a:xfrm>
            <a:off x="5693287" y="2393917"/>
            <a:ext cx="0" cy="5204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6DF839-D0EE-2942-1FF5-5C9434818069}"/>
              </a:ext>
            </a:extLst>
          </p:cNvPr>
          <p:cNvSpPr txBox="1"/>
          <p:nvPr/>
        </p:nvSpPr>
        <p:spPr>
          <a:xfrm>
            <a:off x="3733388" y="5866287"/>
            <a:ext cx="17102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showed</a:t>
            </a:r>
            <a:r>
              <a:rPr lang="de-DE" sz="1200" dirty="0"/>
              <a:t> </a:t>
            </a:r>
            <a:r>
              <a:rPr lang="de-DE" sz="1200" dirty="0" err="1"/>
              <a:t>coherent</a:t>
            </a:r>
            <a:r>
              <a:rPr lang="de-DE" sz="1200" dirty="0"/>
              <a:t> </a:t>
            </a:r>
            <a:r>
              <a:rPr lang="de-DE" sz="1200" dirty="0" err="1"/>
              <a:t>long</a:t>
            </a:r>
            <a:r>
              <a:rPr lang="de-DE" sz="1200" dirty="0"/>
              <a:t>-form </a:t>
            </a:r>
            <a:r>
              <a:rPr lang="de-DE" sz="1200" dirty="0" err="1"/>
              <a:t>text</a:t>
            </a:r>
            <a:r>
              <a:rPr lang="de-DE" sz="1200" dirty="0"/>
              <a:t> </a:t>
            </a:r>
            <a:r>
              <a:rPr lang="de-DE" sz="1200" dirty="0" err="1"/>
              <a:t>generation</a:t>
            </a:r>
            <a:endParaRPr lang="de-DE" sz="1200" dirty="0"/>
          </a:p>
        </p:txBody>
      </p:sp>
      <p:cxnSp>
        <p:nvCxnSpPr>
          <p:cNvPr id="131" name="Gerade Verbindung 130">
            <a:extLst>
              <a:ext uri="{FF2B5EF4-FFF2-40B4-BE49-F238E27FC236}">
                <a16:creationId xmlns:a16="http://schemas.microsoft.com/office/drawing/2014/main" id="{A3ED7754-9E7E-CE11-2E25-83990520CD5F}"/>
              </a:ext>
            </a:extLst>
          </p:cNvPr>
          <p:cNvCxnSpPr>
            <a:stCxn id="18" idx="2"/>
            <a:endCxn id="127" idx="0"/>
          </p:cNvCxnSpPr>
          <p:nvPr/>
        </p:nvCxnSpPr>
        <p:spPr>
          <a:xfrm flipH="1">
            <a:off x="4588527" y="5438735"/>
            <a:ext cx="1" cy="4275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feld 138">
            <a:extLst>
              <a:ext uri="{FF2B5EF4-FFF2-40B4-BE49-F238E27FC236}">
                <a16:creationId xmlns:a16="http://schemas.microsoft.com/office/drawing/2014/main" id="{FDE22367-DFA9-FF09-309B-B11C166AE83B}"/>
              </a:ext>
            </a:extLst>
          </p:cNvPr>
          <p:cNvSpPr txBox="1"/>
          <p:nvPr/>
        </p:nvSpPr>
        <p:spPr>
          <a:xfrm>
            <a:off x="6002880" y="5866286"/>
            <a:ext cx="17952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proved</a:t>
            </a:r>
            <a:r>
              <a:rPr lang="de-DE" sz="1200" dirty="0"/>
              <a:t> general-</a:t>
            </a:r>
            <a:r>
              <a:rPr lang="de-DE" sz="1200" dirty="0" err="1"/>
              <a:t>purpose</a:t>
            </a:r>
            <a:r>
              <a:rPr lang="de-DE" sz="1200" dirty="0"/>
              <a:t> </a:t>
            </a:r>
            <a:r>
              <a:rPr lang="de-DE" sz="1200" dirty="0" err="1"/>
              <a:t>language</a:t>
            </a:r>
            <a:r>
              <a:rPr lang="de-DE" sz="1200" dirty="0"/>
              <a:t> </a:t>
            </a:r>
            <a:r>
              <a:rPr lang="de-DE" sz="1200" dirty="0" err="1"/>
              <a:t>generation</a:t>
            </a:r>
            <a:endParaRPr lang="de-DE" sz="1200" dirty="0"/>
          </a:p>
        </p:txBody>
      </p:sp>
      <p:cxnSp>
        <p:nvCxnSpPr>
          <p:cNvPr id="141" name="Gerade Verbindung 140">
            <a:extLst>
              <a:ext uri="{FF2B5EF4-FFF2-40B4-BE49-F238E27FC236}">
                <a16:creationId xmlns:a16="http://schemas.microsoft.com/office/drawing/2014/main" id="{09ACFD4C-35C6-5813-822C-947026DFC369}"/>
              </a:ext>
            </a:extLst>
          </p:cNvPr>
          <p:cNvCxnSpPr>
            <a:stCxn id="25" idx="2"/>
            <a:endCxn id="139" idx="0"/>
          </p:cNvCxnSpPr>
          <p:nvPr/>
        </p:nvCxnSpPr>
        <p:spPr>
          <a:xfrm>
            <a:off x="6900519" y="5438735"/>
            <a:ext cx="0" cy="42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Geschweifte Klammer links 142">
            <a:extLst>
              <a:ext uri="{FF2B5EF4-FFF2-40B4-BE49-F238E27FC236}">
                <a16:creationId xmlns:a16="http://schemas.microsoft.com/office/drawing/2014/main" id="{B4E4A90A-7C90-AF95-240F-E3A2887ADF22}"/>
              </a:ext>
            </a:extLst>
          </p:cNvPr>
          <p:cNvSpPr/>
          <p:nvPr/>
        </p:nvSpPr>
        <p:spPr>
          <a:xfrm rot="5400000">
            <a:off x="3962790" y="-2275202"/>
            <a:ext cx="584836" cy="7365979"/>
          </a:xfrm>
          <a:prstGeom prst="leftBrac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54430635-226F-A2A0-A18D-57C587383950}"/>
              </a:ext>
            </a:extLst>
          </p:cNvPr>
          <p:cNvSpPr txBox="1"/>
          <p:nvPr/>
        </p:nvSpPr>
        <p:spPr>
          <a:xfrm>
            <a:off x="3257671" y="646872"/>
            <a:ext cx="1994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foundational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era</a:t>
            </a:r>
            <a:endParaRPr lang="de-DE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6" name="Textfeld 145">
            <a:extLst>
              <a:ext uri="{FF2B5EF4-FFF2-40B4-BE49-F238E27FC236}">
                <a16:creationId xmlns:a16="http://schemas.microsoft.com/office/drawing/2014/main" id="{003BD321-60DB-460B-2CCE-C3A88854EC4E}"/>
              </a:ext>
            </a:extLst>
          </p:cNvPr>
          <p:cNvSpPr txBox="1"/>
          <p:nvPr/>
        </p:nvSpPr>
        <p:spPr>
          <a:xfrm>
            <a:off x="8527675" y="339096"/>
            <a:ext cx="2532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dialogue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 &amp; </a:t>
            </a:r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alignment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breakthroughs</a:t>
            </a:r>
            <a:endParaRPr lang="de-DE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7" name="Geschweifte Klammer links 146">
            <a:extLst>
              <a:ext uri="{FF2B5EF4-FFF2-40B4-BE49-F238E27FC236}">
                <a16:creationId xmlns:a16="http://schemas.microsoft.com/office/drawing/2014/main" id="{059F32D6-BF49-B594-29A1-B4AEAA25896F}"/>
              </a:ext>
            </a:extLst>
          </p:cNvPr>
          <p:cNvSpPr/>
          <p:nvPr/>
        </p:nvSpPr>
        <p:spPr>
          <a:xfrm rot="5400000">
            <a:off x="9486572" y="-433005"/>
            <a:ext cx="584836" cy="3681583"/>
          </a:xfrm>
          <a:prstGeom prst="leftBrac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E33AE0C6-26B1-1A7E-F556-E0B3737CD4C1}"/>
              </a:ext>
            </a:extLst>
          </p:cNvPr>
          <p:cNvSpPr txBox="1"/>
          <p:nvPr/>
        </p:nvSpPr>
        <p:spPr>
          <a:xfrm>
            <a:off x="8229563" y="2027452"/>
            <a:ext cx="12331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dialogue</a:t>
            </a:r>
            <a:r>
              <a:rPr lang="de-DE" sz="1200" dirty="0"/>
              <a:t> </a:t>
            </a:r>
            <a:r>
              <a:rPr lang="de-DE" sz="1200" dirty="0" err="1"/>
              <a:t>model</a:t>
            </a:r>
            <a:r>
              <a:rPr lang="de-DE" sz="1200" dirty="0"/>
              <a:t> (</a:t>
            </a:r>
            <a:r>
              <a:rPr lang="de-DE" sz="1200" dirty="0" err="1"/>
              <a:t>powered</a:t>
            </a:r>
            <a:r>
              <a:rPr lang="de-DE" sz="1200" dirty="0"/>
              <a:t> Bard)</a:t>
            </a:r>
          </a:p>
        </p:txBody>
      </p:sp>
      <p:cxnSp>
        <p:nvCxnSpPr>
          <p:cNvPr id="151" name="Gerade Verbindung 150">
            <a:extLst>
              <a:ext uri="{FF2B5EF4-FFF2-40B4-BE49-F238E27FC236}">
                <a16:creationId xmlns:a16="http://schemas.microsoft.com/office/drawing/2014/main" id="{512B832A-1E95-8D55-AEB5-2C1D07CE4501}"/>
              </a:ext>
            </a:extLst>
          </p:cNvPr>
          <p:cNvCxnSpPr>
            <a:cxnSpLocks/>
            <a:stCxn id="149" idx="2"/>
            <a:endCxn id="56" idx="0"/>
          </p:cNvCxnSpPr>
          <p:nvPr/>
        </p:nvCxnSpPr>
        <p:spPr>
          <a:xfrm flipH="1">
            <a:off x="8844088" y="2489117"/>
            <a:ext cx="2029" cy="4252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F407F7FB-308F-E953-1DF3-4B9977082ECF}"/>
              </a:ext>
            </a:extLst>
          </p:cNvPr>
          <p:cNvSpPr txBox="1"/>
          <p:nvPr/>
        </p:nvSpPr>
        <p:spPr>
          <a:xfrm>
            <a:off x="9619480" y="1932253"/>
            <a:ext cx="13770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reasoning</a:t>
            </a:r>
            <a:r>
              <a:rPr lang="de-DE" sz="1200" dirty="0"/>
              <a:t> + </a:t>
            </a:r>
            <a:r>
              <a:rPr lang="de-DE" sz="1200" dirty="0" err="1"/>
              <a:t>chain-of-thought</a:t>
            </a:r>
            <a:r>
              <a:rPr lang="de-DE" sz="1200" dirty="0"/>
              <a:t> </a:t>
            </a:r>
            <a:r>
              <a:rPr lang="de-DE" sz="1200" dirty="0" err="1"/>
              <a:t>prompting</a:t>
            </a:r>
            <a:endParaRPr lang="de-DE" sz="1200" dirty="0"/>
          </a:p>
        </p:txBody>
      </p:sp>
      <p:cxnSp>
        <p:nvCxnSpPr>
          <p:cNvPr id="157" name="Gerade Verbindung 156">
            <a:extLst>
              <a:ext uri="{FF2B5EF4-FFF2-40B4-BE49-F238E27FC236}">
                <a16:creationId xmlns:a16="http://schemas.microsoft.com/office/drawing/2014/main" id="{38B03CF6-C55F-3182-61B9-CB0D515149D1}"/>
              </a:ext>
            </a:extLst>
          </p:cNvPr>
          <p:cNvCxnSpPr>
            <a:cxnSpLocks/>
            <a:stCxn id="155" idx="2"/>
            <a:endCxn id="63" idx="0"/>
          </p:cNvCxnSpPr>
          <p:nvPr/>
        </p:nvCxnSpPr>
        <p:spPr>
          <a:xfrm>
            <a:off x="10308023" y="2578584"/>
            <a:ext cx="4295" cy="3357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1AAA2001-1C35-EA9D-9B75-F0C286CA463C}"/>
              </a:ext>
            </a:extLst>
          </p:cNvPr>
          <p:cNvSpPr txBox="1"/>
          <p:nvPr/>
        </p:nvSpPr>
        <p:spPr>
          <a:xfrm>
            <a:off x="9263474" y="5866286"/>
            <a:ext cx="14797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introduced</a:t>
            </a:r>
            <a:r>
              <a:rPr lang="de-DE" sz="1200" dirty="0"/>
              <a:t> RLHF </a:t>
            </a:r>
            <a:r>
              <a:rPr lang="de-DE" sz="1200" dirty="0" err="1"/>
              <a:t>to</a:t>
            </a:r>
            <a:r>
              <a:rPr lang="de-DE" sz="1200" dirty="0"/>
              <a:t> </a:t>
            </a:r>
            <a:r>
              <a:rPr lang="de-DE" sz="1200" dirty="0" err="1"/>
              <a:t>align</a:t>
            </a:r>
            <a:r>
              <a:rPr lang="de-DE" sz="1200" dirty="0"/>
              <a:t> </a:t>
            </a:r>
            <a:r>
              <a:rPr lang="de-DE" sz="1200" dirty="0" err="1"/>
              <a:t>models</a:t>
            </a:r>
            <a:r>
              <a:rPr lang="de-DE" sz="1200" dirty="0"/>
              <a:t> </a:t>
            </a:r>
            <a:r>
              <a:rPr lang="de-DE" sz="1200" dirty="0" err="1"/>
              <a:t>with</a:t>
            </a:r>
            <a:r>
              <a:rPr lang="de-DE" sz="1200" dirty="0"/>
              <a:t> human </a:t>
            </a:r>
            <a:r>
              <a:rPr lang="de-DE" sz="1200" dirty="0" err="1"/>
              <a:t>intent</a:t>
            </a:r>
            <a:r>
              <a:rPr lang="de-DE" sz="1200" dirty="0"/>
              <a:t> (</a:t>
            </a:r>
            <a:r>
              <a:rPr lang="de-DE" sz="1200" dirty="0" err="1"/>
              <a:t>basis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ChatGPT)</a:t>
            </a:r>
          </a:p>
        </p:txBody>
      </p:sp>
      <p:cxnSp>
        <p:nvCxnSpPr>
          <p:cNvPr id="162" name="Gerade Verbindung 161">
            <a:extLst>
              <a:ext uri="{FF2B5EF4-FFF2-40B4-BE49-F238E27FC236}">
                <a16:creationId xmlns:a16="http://schemas.microsoft.com/office/drawing/2014/main" id="{99DA6A61-ECEE-75E6-F951-69A00BB37AEB}"/>
              </a:ext>
            </a:extLst>
          </p:cNvPr>
          <p:cNvCxnSpPr>
            <a:cxnSpLocks/>
            <a:stCxn id="160" idx="0"/>
            <a:endCxn id="58" idx="2"/>
          </p:cNvCxnSpPr>
          <p:nvPr/>
        </p:nvCxnSpPr>
        <p:spPr>
          <a:xfrm flipH="1" flipV="1">
            <a:off x="10000460" y="5438735"/>
            <a:ext cx="2875" cy="42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feld 178">
            <a:extLst>
              <a:ext uri="{FF2B5EF4-FFF2-40B4-BE49-F238E27FC236}">
                <a16:creationId xmlns:a16="http://schemas.microsoft.com/office/drawing/2014/main" id="{CCE28247-7215-1CCD-5D40-108191F7A5FC}"/>
              </a:ext>
            </a:extLst>
          </p:cNvPr>
          <p:cNvSpPr txBox="1"/>
          <p:nvPr/>
        </p:nvSpPr>
        <p:spPr>
          <a:xfrm>
            <a:off x="10875150" y="5866286"/>
            <a:ext cx="11769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/>
              <a:t>mass</a:t>
            </a:r>
            <a:r>
              <a:rPr lang="de-DE" sz="1200" dirty="0"/>
              <a:t> </a:t>
            </a:r>
            <a:r>
              <a:rPr lang="de-DE" sz="1200" dirty="0" err="1"/>
              <a:t>adoption</a:t>
            </a:r>
            <a:endParaRPr lang="de-DE" sz="1200" dirty="0"/>
          </a:p>
        </p:txBody>
      </p: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F13D89EB-214A-CF87-EC50-B5E45C55DA93}"/>
              </a:ext>
            </a:extLst>
          </p:cNvPr>
          <p:cNvCxnSpPr>
            <a:stCxn id="57" idx="2"/>
            <a:endCxn id="179" idx="0"/>
          </p:cNvCxnSpPr>
          <p:nvPr/>
        </p:nvCxnSpPr>
        <p:spPr>
          <a:xfrm>
            <a:off x="11232261" y="5438735"/>
            <a:ext cx="231352" cy="427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2" name="Picture 2" descr="Logo">
            <a:extLst>
              <a:ext uri="{FF2B5EF4-FFF2-40B4-BE49-F238E27FC236}">
                <a16:creationId xmlns:a16="http://schemas.microsoft.com/office/drawing/2014/main" id="{D9AA4957-0F37-91D8-C876-4DE55406E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448" y="4930904"/>
            <a:ext cx="511623" cy="511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" name="Grafik 183">
            <a:extLst>
              <a:ext uri="{FF2B5EF4-FFF2-40B4-BE49-F238E27FC236}">
                <a16:creationId xmlns:a16="http://schemas.microsoft.com/office/drawing/2014/main" id="{DC5FDFC1-961A-43AC-5753-CD38171ED6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783" y="3029734"/>
            <a:ext cx="818954" cy="27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442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D1BFCA3-4D5B-CAB6-12DC-91C0E69140D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8738135" y="545563"/>
            <a:ext cx="1818291" cy="1085289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799323-1E7F-2898-4ABB-FD71CBFDA6D6}"/>
              </a:ext>
            </a:extLst>
          </p:cNvPr>
          <p:cNvCxnSpPr>
            <a:stCxn id="4" idx="2"/>
            <a:endCxn id="9" idx="0"/>
          </p:cNvCxnSpPr>
          <p:nvPr/>
        </p:nvCxnSpPr>
        <p:spPr>
          <a:xfrm flipH="1">
            <a:off x="8713664" y="545563"/>
            <a:ext cx="1842762" cy="5393117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63486D2-05EC-8924-7361-2719D6E03BED}"/>
              </a:ext>
            </a:extLst>
          </p:cNvPr>
          <p:cNvCxnSpPr>
            <a:stCxn id="4" idx="2"/>
            <a:endCxn id="18" idx="0"/>
          </p:cNvCxnSpPr>
          <p:nvPr/>
        </p:nvCxnSpPr>
        <p:spPr>
          <a:xfrm flipH="1">
            <a:off x="9595869" y="545563"/>
            <a:ext cx="960557" cy="4496244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9139DBF-D8F4-87E8-3E78-4326B3F0C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3" name="Grafik 2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0C94742E-2061-688F-477E-A7B11B236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8" y="550940"/>
            <a:ext cx="8079009" cy="5987972"/>
          </a:xfrm>
          <a:prstGeom prst="rect">
            <a:avLst/>
          </a:prstGeom>
        </p:spPr>
      </p:pic>
      <p:pic>
        <p:nvPicPr>
          <p:cNvPr id="7" name="Picture 4" descr="undefined">
            <a:extLst>
              <a:ext uri="{FF2B5EF4-FFF2-40B4-BE49-F238E27FC236}">
                <a16:creationId xmlns:a16="http://schemas.microsoft.com/office/drawing/2014/main" id="{AD175A73-1B04-6CFF-950E-2B455B99F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749" y="1630852"/>
            <a:ext cx="988771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BE4204A6-07B9-1D82-F6B4-A44FC7EED5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3845" y="5938680"/>
            <a:ext cx="899638" cy="193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undefined">
            <a:extLst>
              <a:ext uri="{FF2B5EF4-FFF2-40B4-BE49-F238E27FC236}">
                <a16:creationId xmlns:a16="http://schemas.microsoft.com/office/drawing/2014/main" id="{521DA02E-9AA8-D536-CAD4-C83A18212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85" y="3827838"/>
            <a:ext cx="963238" cy="218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1115F0B-ED47-186B-7892-27463A66AF2E}"/>
              </a:ext>
            </a:extLst>
          </p:cNvPr>
          <p:cNvSpPr txBox="1"/>
          <p:nvPr/>
        </p:nvSpPr>
        <p:spPr>
          <a:xfrm>
            <a:off x="9645134" y="3752539"/>
            <a:ext cx="22320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open-source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7721EC8-553E-0665-9829-4238F329E3AB}"/>
              </a:ext>
            </a:extLst>
          </p:cNvPr>
          <p:cNvSpPr txBox="1"/>
          <p:nvPr/>
        </p:nvSpPr>
        <p:spPr>
          <a:xfrm>
            <a:off x="7852745" y="4949474"/>
            <a:ext cx="80361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GPT-5</a:t>
            </a:r>
          </a:p>
          <a:p>
            <a:r>
              <a:rPr lang="de-DE" sz="1500" dirty="0" err="1"/>
              <a:t>gpt-oss</a:t>
            </a:r>
            <a:endParaRPr lang="de-DE" sz="15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CAA80F0-12DB-9CEA-C1B7-92C23D722825}"/>
              </a:ext>
            </a:extLst>
          </p:cNvPr>
          <p:cNvSpPr txBox="1"/>
          <p:nvPr/>
        </p:nvSpPr>
        <p:spPr>
          <a:xfrm>
            <a:off x="7942654" y="2803490"/>
            <a:ext cx="65428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MAI-1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EE47A6C-787C-E84E-7057-003590A9FAC0}"/>
              </a:ext>
            </a:extLst>
          </p:cNvPr>
          <p:cNvSpPr txBox="1"/>
          <p:nvPr/>
        </p:nvSpPr>
        <p:spPr>
          <a:xfrm>
            <a:off x="9318302" y="5758439"/>
            <a:ext cx="2743200" cy="55399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/>
              <a:t>different </a:t>
            </a:r>
            <a:r>
              <a:rPr lang="de-DE" sz="1500" dirty="0" err="1"/>
              <a:t>alignment</a:t>
            </a:r>
            <a:r>
              <a:rPr lang="de-DE" sz="1500" dirty="0"/>
              <a:t> </a:t>
            </a:r>
            <a:r>
              <a:rPr lang="de-DE" sz="1500" dirty="0" err="1"/>
              <a:t>strategy</a:t>
            </a:r>
            <a:endParaRPr lang="de-DE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 err="1"/>
              <a:t>tailored</a:t>
            </a:r>
            <a:r>
              <a:rPr lang="de-DE" sz="1500" dirty="0"/>
              <a:t> </a:t>
            </a:r>
            <a:r>
              <a:rPr lang="de-DE" sz="1500" dirty="0" err="1"/>
              <a:t>for</a:t>
            </a:r>
            <a:r>
              <a:rPr lang="de-DE" sz="1500" dirty="0"/>
              <a:t> </a:t>
            </a:r>
            <a:r>
              <a:rPr lang="de-DE" sz="1500" dirty="0" err="1"/>
              <a:t>business</a:t>
            </a:r>
            <a:r>
              <a:rPr lang="de-DE" sz="1500" dirty="0"/>
              <a:t> </a:t>
            </a:r>
            <a:r>
              <a:rPr lang="de-DE" sz="1500" dirty="0" err="1"/>
              <a:t>users</a:t>
            </a:r>
            <a:endParaRPr lang="de-DE" sz="15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E8C932C-A41A-8941-560A-AA637E8E8006}"/>
              </a:ext>
            </a:extLst>
          </p:cNvPr>
          <p:cNvSpPr txBox="1"/>
          <p:nvPr/>
        </p:nvSpPr>
        <p:spPr>
          <a:xfrm>
            <a:off x="9318302" y="1605185"/>
            <a:ext cx="2873697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 err="1"/>
              <a:t>evolved</a:t>
            </a:r>
            <a:r>
              <a:rPr lang="de-DE" sz="1500" dirty="0"/>
              <a:t> </a:t>
            </a:r>
            <a:r>
              <a:rPr lang="de-DE" sz="1500" dirty="0" err="1"/>
              <a:t>from</a:t>
            </a:r>
            <a:r>
              <a:rPr lang="de-DE" sz="1500" dirty="0"/>
              <a:t> </a:t>
            </a:r>
            <a:r>
              <a:rPr lang="de-DE" sz="1500" dirty="0" err="1"/>
              <a:t>LaMDA</a:t>
            </a:r>
            <a:r>
              <a:rPr lang="de-DE" sz="1500" dirty="0"/>
              <a:t> &amp; </a:t>
            </a:r>
            <a:r>
              <a:rPr lang="de-DE" sz="1500" dirty="0" err="1"/>
              <a:t>PaLM</a:t>
            </a:r>
            <a:endParaRPr lang="de-DE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 err="1"/>
              <a:t>integrated</a:t>
            </a:r>
            <a:r>
              <a:rPr lang="de-DE" sz="1500" dirty="0"/>
              <a:t> Google </a:t>
            </a:r>
            <a:r>
              <a:rPr lang="de-DE" sz="1500" dirty="0" err="1"/>
              <a:t>ecosystem</a:t>
            </a:r>
            <a:endParaRPr lang="de-DE" sz="15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F00942C-2688-C72B-582D-FC2D017DDDA6}"/>
              </a:ext>
            </a:extLst>
          </p:cNvPr>
          <p:cNvSpPr txBox="1"/>
          <p:nvPr/>
        </p:nvSpPr>
        <p:spPr>
          <a:xfrm>
            <a:off x="9062999" y="5041807"/>
            <a:ext cx="106573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/>
              <a:t>ChatGPT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CBDA52C-D99A-E52B-7632-9D8D36E44EAA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450664" y="5094514"/>
            <a:ext cx="612335" cy="13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5AC45EE-E4C9-2925-8577-DA3897F1499F}"/>
              </a:ext>
            </a:extLst>
          </p:cNvPr>
          <p:cNvSpPr txBox="1"/>
          <p:nvPr/>
        </p:nvSpPr>
        <p:spPr>
          <a:xfrm>
            <a:off x="9483728" y="176231"/>
            <a:ext cx="2145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generative </a:t>
            </a:r>
            <a:r>
              <a:rPr lang="de-DE" dirty="0" err="1"/>
              <a:t>chatbots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3337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4BCA-6F2E-E1E0-5E78-C602E733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OpenAI’s</a:t>
            </a:r>
            <a:r>
              <a:rPr lang="de-DE" dirty="0"/>
              <a:t> GPT Series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8DA15-F9B0-18B3-B458-752CD40FD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59"/>
            <a:ext cx="10515600" cy="4351338"/>
          </a:xfrm>
        </p:spPr>
        <p:txBody>
          <a:bodyPr>
            <a:noAutofit/>
          </a:bodyPr>
          <a:lstStyle/>
          <a:p>
            <a:r>
              <a:rPr lang="de-DE" sz="2400" dirty="0">
                <a:hlinkClick r:id="rId2"/>
              </a:rPr>
              <a:t>GPT-1</a:t>
            </a:r>
            <a:r>
              <a:rPr lang="en-DE" sz="2400"/>
              <a:t>: </a:t>
            </a:r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en-DE" sz="2400"/>
              <a:t>discriminative finetuning </a:t>
            </a:r>
            <a:r>
              <a:rPr lang="en-DE" sz="2400" dirty="0"/>
              <a:t>on specific </a:t>
            </a:r>
            <a:r>
              <a:rPr lang="en-DE" sz="2400"/>
              <a:t>tasks (summarization</a:t>
            </a:r>
            <a:r>
              <a:rPr lang="en-DE" sz="2400" dirty="0"/>
              <a:t>, translation</a:t>
            </a:r>
            <a:r>
              <a:rPr lang="en-DE" sz="2400"/>
              <a:t>, question-answering</a:t>
            </a:r>
            <a:r>
              <a:rPr lang="de-DE" sz="2400" dirty="0"/>
              <a:t>, …</a:t>
            </a:r>
            <a:r>
              <a:rPr lang="en-DE" sz="2400"/>
              <a:t>)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BERT</a:t>
            </a:r>
            <a:endParaRPr lang="en-DE" sz="2400" dirty="0"/>
          </a:p>
          <a:p>
            <a:r>
              <a:rPr lang="en-GB" sz="2400" dirty="0">
                <a:hlinkClick r:id="rId3"/>
              </a:rPr>
              <a:t>GPT-2</a:t>
            </a:r>
            <a:r>
              <a:rPr lang="en-DE" sz="2400"/>
              <a:t>: zero- </a:t>
            </a:r>
            <a:r>
              <a:rPr lang="en-DE" sz="2400" dirty="0"/>
              <a:t>or </a:t>
            </a:r>
            <a:r>
              <a:rPr lang="en-DE" sz="2400"/>
              <a:t>few-shot learning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prompting</a:t>
            </a:r>
            <a:endParaRPr lang="de-DE" sz="2400" dirty="0"/>
          </a:p>
          <a:p>
            <a:r>
              <a:rPr lang="en-GB" sz="2400" dirty="0">
                <a:hlinkClick r:id="rId4"/>
              </a:rPr>
              <a:t>GPT-3</a:t>
            </a:r>
            <a:r>
              <a:rPr lang="en-GB" sz="2400" dirty="0"/>
              <a:t>: scaling (</a:t>
            </a:r>
            <a:r>
              <a:rPr lang="en-DE" sz="2400"/>
              <a:t>175 billion parameters</a:t>
            </a:r>
            <a:r>
              <a:rPr lang="de-DE" sz="2400" dirty="0"/>
              <a:t>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en-GB" sz="2400" dirty="0"/>
              <a:t>much increased capabilities</a:t>
            </a:r>
            <a:endParaRPr lang="en-DE" sz="2400" dirty="0"/>
          </a:p>
          <a:p>
            <a:r>
              <a:rPr lang="en-GB" sz="2400" dirty="0">
                <a:hlinkClick r:id="rId5"/>
              </a:rPr>
              <a:t>GPT-4</a:t>
            </a:r>
            <a:r>
              <a:rPr lang="en-GB" sz="2400" dirty="0"/>
              <a:t>: more scaling </a:t>
            </a:r>
            <a:r>
              <a:rPr lang="de-DE" sz="2400" dirty="0"/>
              <a:t>(</a:t>
            </a:r>
            <a:r>
              <a:rPr lang="en-DE" sz="2400">
                <a:hlinkClick r:id="rId6"/>
              </a:rPr>
              <a:t>capabilities</a:t>
            </a:r>
            <a:r>
              <a:rPr lang="de-DE" sz="2400" dirty="0"/>
              <a:t>)</a:t>
            </a:r>
            <a:endParaRPr lang="en-GB" sz="2400" dirty="0"/>
          </a:p>
          <a:p>
            <a:r>
              <a:rPr lang="en-GB" sz="2400" dirty="0"/>
              <a:t>GPT-4o</a:t>
            </a:r>
            <a:r>
              <a:rPr lang="en-DE" sz="2400"/>
              <a:t>: multimodal model</a:t>
            </a:r>
            <a:endParaRPr lang="de-DE" sz="2400" dirty="0"/>
          </a:p>
          <a:p>
            <a:r>
              <a:rPr lang="de-DE" sz="2400" dirty="0">
                <a:hlinkClick r:id="rId7"/>
              </a:rPr>
              <a:t>o1</a:t>
            </a:r>
            <a:r>
              <a:rPr lang="de-DE" sz="2400" dirty="0"/>
              <a:t>: </a:t>
            </a:r>
            <a:r>
              <a:rPr lang="de-DE" sz="2400" dirty="0" err="1"/>
              <a:t>reasoning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r>
              <a:rPr lang="de-DE" sz="2400" dirty="0"/>
              <a:t>GPT-5: </a:t>
            </a:r>
            <a:r>
              <a:rPr lang="de-DE" sz="2400" dirty="0" err="1"/>
              <a:t>automatic</a:t>
            </a:r>
            <a:r>
              <a:rPr lang="de-DE" sz="2400" dirty="0"/>
              <a:t> </a:t>
            </a:r>
            <a:r>
              <a:rPr lang="de-DE" sz="2400" dirty="0" err="1"/>
              <a:t>activation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reasoning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depending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task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DF1F-CE76-8FAE-EDB4-4B22AB609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BC30593-1ED7-77C6-7F4A-A0F827C03CFE}"/>
              </a:ext>
            </a:extLst>
          </p:cNvPr>
          <p:cNvSpPr txBox="1"/>
          <p:nvPr/>
        </p:nvSpPr>
        <p:spPr>
          <a:xfrm>
            <a:off x="838200" y="5799165"/>
            <a:ext cx="952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>
                <a:hlinkClick r:id="rId8"/>
              </a:rPr>
              <a:t>gpt-oss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0466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BC5A5AD-9682-566E-A0E7-1FF021B73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992BEDA-AAD0-0BE4-DB45-81FC80BDD380}"/>
              </a:ext>
            </a:extLst>
          </p:cNvPr>
          <p:cNvSpPr txBox="1"/>
          <p:nvPr/>
        </p:nvSpPr>
        <p:spPr>
          <a:xfrm>
            <a:off x="546538" y="2936557"/>
            <a:ext cx="145770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>
                <a:hlinkClick r:id="rId2"/>
              </a:rPr>
              <a:t>LMArena</a:t>
            </a:r>
            <a:endParaRPr lang="de-DE" sz="2600" dirty="0"/>
          </a:p>
        </p:txBody>
      </p:sp>
      <p:pic>
        <p:nvPicPr>
          <p:cNvPr id="6" name="Grafik 5" descr="Ein Bild, das Text, Screenshot, Zahl, Dokument enthält.&#10;&#10;KI-generierte Inhalte können fehlerhaft sein.">
            <a:extLst>
              <a:ext uri="{FF2B5EF4-FFF2-40B4-BE49-F238E27FC236}">
                <a16:creationId xmlns:a16="http://schemas.microsoft.com/office/drawing/2014/main" id="{1C8EDB32-B071-B136-B60D-35BBB7E9C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226415"/>
            <a:ext cx="7772400" cy="6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031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43561-528E-5056-1EE8-977C6F127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Another Trend: Small Language Models (SLM)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BA4CD-1995-5EAA-EEA3-F6FDCF1DC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most powerful LLMs keep getting bigger (&gt; 1 trillion parameters)</a:t>
            </a:r>
          </a:p>
          <a:p>
            <a:pPr marL="0" indent="0">
              <a:buNone/>
            </a:pPr>
            <a:r>
              <a:rPr lang="en-GB" dirty="0"/>
              <a:t>GPT, Claude, Gemini, 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slimmed-down (yet still strong) versions get smaller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Gemma</a:t>
            </a:r>
            <a:r>
              <a:rPr lang="en-GB" dirty="0"/>
              <a:t> (2B), </a:t>
            </a:r>
            <a:r>
              <a:rPr lang="en-GB" dirty="0">
                <a:hlinkClick r:id="rId3"/>
              </a:rPr>
              <a:t>Phi-3</a:t>
            </a:r>
            <a:r>
              <a:rPr lang="en-GB" dirty="0"/>
              <a:t> (3.8B), </a:t>
            </a:r>
            <a:r>
              <a:rPr lang="en-GB" dirty="0">
                <a:hlinkClick r:id="rId4"/>
              </a:rPr>
              <a:t>Mistral 7B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Llama3</a:t>
            </a:r>
            <a:r>
              <a:rPr lang="en-GB" dirty="0"/>
              <a:t> (8B), …</a:t>
            </a:r>
          </a:p>
          <a:p>
            <a:pPr marL="0" indent="0">
              <a:buNone/>
            </a:pPr>
            <a:r>
              <a:rPr lang="en-GB" dirty="0"/>
              <a:t>can run (inference) on laptops, smartphones, etc.</a:t>
            </a:r>
          </a:p>
          <a:p>
            <a:pPr marL="0" indent="0">
              <a:buNone/>
            </a:pPr>
            <a:r>
              <a:rPr lang="en-GB" dirty="0"/>
              <a:t>easier finetuning </a:t>
            </a:r>
            <a:r>
              <a:rPr lang="en-GB" dirty="0">
                <a:sym typeface="Wingdings" panose="05000000000000000000" pitchFamily="2" charset="2"/>
              </a:rPr>
              <a:t> specific tasks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EE0D7-0AED-8609-28A0-820B83EE7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615750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out </a:t>
            </a:r>
            <a:r>
              <a:rPr lang="de-DE" dirty="0" err="1"/>
              <a:t>of</a:t>
            </a:r>
            <a:r>
              <a:rPr lang="de-DE" dirty="0"/>
              <a:t> LLMs,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prompt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p</a:t>
            </a:r>
            <a:r>
              <a:rPr lang="de-DE" dirty="0"/>
              <a:t>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Furthermore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LLMs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enhanced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additional </a:t>
            </a:r>
            <a:r>
              <a:rPr lang="de-DE" dirty="0" err="1"/>
              <a:t>information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prompt.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engineering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760</Words>
  <Application>Microsoft Macintosh PowerPoint</Application>
  <PresentationFormat>Breitbild</PresentationFormat>
  <Paragraphs>174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Office Theme</vt:lpstr>
      <vt:lpstr>LLMs</vt:lpstr>
      <vt:lpstr>Course Contents</vt:lpstr>
      <vt:lpstr>This Part: LLMs</vt:lpstr>
      <vt:lpstr>Generative vs Predictive/Discriminative Models</vt:lpstr>
      <vt:lpstr>Autoregressive Text Generation</vt:lpstr>
      <vt:lpstr>How are LLMs Generative Models then?</vt:lpstr>
      <vt:lpstr>Prompting</vt:lpstr>
      <vt:lpstr>Size Matters: LARGE Language Models</vt:lpstr>
      <vt:lpstr>Some LLM Numbers</vt:lpstr>
      <vt:lpstr>PowerPoint-Präsentation</vt:lpstr>
      <vt:lpstr>Mixture-of-Experts (MoE)</vt:lpstr>
      <vt:lpstr>PowerPoint-Präsentation</vt:lpstr>
      <vt:lpstr>PowerPoint-Präsentation</vt:lpstr>
      <vt:lpstr>OpenAI’s GPT Series</vt:lpstr>
      <vt:lpstr>PowerPoint-Präsentation</vt:lpstr>
      <vt:lpstr>Another Trend: Small Language Models (SLM)</vt:lpstr>
      <vt:lpstr>Next: Context Engineering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143</cp:revision>
  <dcterms:created xsi:type="dcterms:W3CDTF">2025-01-09T11:24:27Z</dcterms:created>
  <dcterms:modified xsi:type="dcterms:W3CDTF">2025-11-03T12:05:45Z</dcterms:modified>
</cp:coreProperties>
</file>