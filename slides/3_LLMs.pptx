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sldIdLst>
    <p:sldId id="256" r:id="rId2"/>
    <p:sldId id="792" r:id="rId3"/>
    <p:sldId id="790" r:id="rId4"/>
    <p:sldId id="696" r:id="rId5"/>
    <p:sldId id="309" r:id="rId6"/>
    <p:sldId id="802" r:id="rId7"/>
    <p:sldId id="814" r:id="rId8"/>
    <p:sldId id="813" r:id="rId9"/>
    <p:sldId id="285" r:id="rId10"/>
    <p:sldId id="803" r:id="rId11"/>
    <p:sldId id="799" r:id="rId12"/>
    <p:sldId id="807" r:id="rId13"/>
    <p:sldId id="806" r:id="rId14"/>
    <p:sldId id="810" r:id="rId15"/>
    <p:sldId id="797" r:id="rId16"/>
    <p:sldId id="809" r:id="rId17"/>
    <p:sldId id="808" r:id="rId18"/>
    <p:sldId id="804" r:id="rId19"/>
    <p:sldId id="81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86"/>
    <p:restoredTop sz="94694"/>
  </p:normalViewPr>
  <p:slideViewPr>
    <p:cSldViewPr snapToGrid="0">
      <p:cViewPr varScale="1">
        <p:scale>
          <a:sx n="121" d="100"/>
          <a:sy n="121" d="100"/>
        </p:scale>
        <p:origin x="9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769F0AC1-E7CF-C944-B9AF-EA28932D2656}">
      <dgm:prSet/>
      <dgm:spPr/>
      <dgm:t>
        <a:bodyPr/>
        <a:lstStyle/>
        <a:p>
          <a:r>
            <a:rPr lang="en-US" b="0" dirty="0"/>
            <a:t>Instruction Tuning</a:t>
          </a:r>
        </a:p>
      </dgm:t>
    </dgm:pt>
    <dgm:pt modelId="{8FBFB482-1FAC-2647-9582-FBF2BE51B42C}" type="parTrans" cxnId="{B2C31AC5-CC8D-7848-BF48-4E93CF15F78C}">
      <dgm:prSet/>
      <dgm:spPr/>
      <dgm:t>
        <a:bodyPr/>
        <a:lstStyle/>
        <a:p>
          <a:endParaRPr lang="de-DE"/>
        </a:p>
      </dgm:t>
    </dgm:pt>
    <dgm:pt modelId="{202C7746-1898-184B-8901-869D8C7ADB05}" type="sibTrans" cxnId="{B2C31AC5-CC8D-7848-BF48-4E93CF15F78C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1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8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8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8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8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8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8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8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8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8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8"/>
      <dgm:spPr/>
    </dgm:pt>
    <dgm:pt modelId="{7F071049-5D5A-2445-8B31-652B1063C281}" type="pres">
      <dgm:prSet presAssocID="{288D3E87-5781-4F83-84CB-1610EAD21773}" presName="vert1" presStyleCnt="0"/>
      <dgm:spPr/>
    </dgm:pt>
    <dgm:pt modelId="{322460D7-6763-F646-87E9-10A1FE9FDC20}" type="pres">
      <dgm:prSet presAssocID="{769F0AC1-E7CF-C944-B9AF-EA28932D2656}" presName="thickLine" presStyleLbl="alignNode1" presStyleIdx="5" presStyleCnt="8"/>
      <dgm:spPr/>
    </dgm:pt>
    <dgm:pt modelId="{2E474F08-D54F-E14D-9A99-2C037C893DD5}" type="pres">
      <dgm:prSet presAssocID="{769F0AC1-E7CF-C944-B9AF-EA28932D2656}" presName="horz1" presStyleCnt="0"/>
      <dgm:spPr/>
    </dgm:pt>
    <dgm:pt modelId="{9B5DA0EB-3C02-EE40-A02E-5B28D39BEF31}" type="pres">
      <dgm:prSet presAssocID="{769F0AC1-E7CF-C944-B9AF-EA28932D2656}" presName="tx1" presStyleLbl="revTx" presStyleIdx="5" presStyleCnt="8"/>
      <dgm:spPr/>
    </dgm:pt>
    <dgm:pt modelId="{062608B4-F5A4-C943-8091-EEFBA40E325A}" type="pres">
      <dgm:prSet presAssocID="{769F0AC1-E7CF-C944-B9AF-EA28932D2656}" presName="vert1" presStyleCnt="0"/>
      <dgm:spPr/>
    </dgm:pt>
    <dgm:pt modelId="{3D5DC94A-13EE-9348-AB63-BA6D7AB77EF3}" type="pres">
      <dgm:prSet presAssocID="{DDA901FD-5C05-41F1-A824-5C833C35698E}" presName="thickLine" presStyleLbl="alignNode1" presStyleIdx="6" presStyleCnt="8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6" presStyleCnt="8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7" presStyleCnt="8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7" presStyleCnt="8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6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5E824FB9-2CC4-6F45-B749-FE401FFAEECB}" type="presOf" srcId="{769F0AC1-E7CF-C944-B9AF-EA28932D2656}" destId="{9B5DA0EB-3C02-EE40-A02E-5B28D39BEF31}" srcOrd="0" destOrd="0" presId="urn:microsoft.com/office/officeart/2008/layout/LinedList"/>
    <dgm:cxn modelId="{B2C31AC5-CC8D-7848-BF48-4E93CF15F78C}" srcId="{56648FB5-C09B-4C87-AEF3-A553C798BCF5}" destId="{769F0AC1-E7CF-C944-B9AF-EA28932D2656}" srcOrd="5" destOrd="0" parTransId="{8FBFB482-1FAC-2647-9582-FBF2BE51B42C}" sibTransId="{202C7746-1898-184B-8901-869D8C7ADB05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7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9A7F5AD0-DD95-3843-95C2-CCB3573D0F7B}" type="presParOf" srcId="{7852B3C2-A44C-F446-9060-CA21A0D28991}" destId="{322460D7-6763-F646-87E9-10A1FE9FDC20}" srcOrd="10" destOrd="0" presId="urn:microsoft.com/office/officeart/2008/layout/LinedList"/>
    <dgm:cxn modelId="{0F8C97D4-B05E-6947-AB11-E0CE7BA1FBBB}" type="presParOf" srcId="{7852B3C2-A44C-F446-9060-CA21A0D28991}" destId="{2E474F08-D54F-E14D-9A99-2C037C893DD5}" srcOrd="11" destOrd="0" presId="urn:microsoft.com/office/officeart/2008/layout/LinedList"/>
    <dgm:cxn modelId="{24B86091-C966-5641-9975-3A18E8CC2451}" type="presParOf" srcId="{2E474F08-D54F-E14D-9A99-2C037C893DD5}" destId="{9B5DA0EB-3C02-EE40-A02E-5B28D39BEF31}" srcOrd="0" destOrd="0" presId="urn:microsoft.com/office/officeart/2008/layout/LinedList"/>
    <dgm:cxn modelId="{C6076B37-8BDA-7348-B420-D00A46E8547E}" type="presParOf" srcId="{2E474F08-D54F-E14D-9A99-2C037C893DD5}" destId="{062608B4-F5A4-C943-8091-EEFBA40E325A}" srcOrd="1" destOrd="0" presId="urn:microsoft.com/office/officeart/2008/layout/LinedList"/>
    <dgm:cxn modelId="{7A9EE529-C307-D440-8910-336F08C35B83}" type="presParOf" srcId="{7852B3C2-A44C-F446-9060-CA21A0D28991}" destId="{3D5DC94A-13EE-9348-AB63-BA6D7AB77EF3}" srcOrd="12" destOrd="0" presId="urn:microsoft.com/office/officeart/2008/layout/LinedList"/>
    <dgm:cxn modelId="{B6134942-BB7E-6A49-B625-7DF71CC12E8A}" type="presParOf" srcId="{7852B3C2-A44C-F446-9060-CA21A0D28991}" destId="{27EB4548-6597-7A48-B8EB-8D5D075E0879}" srcOrd="13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4" destOrd="0" presId="urn:microsoft.com/office/officeart/2008/layout/LinedList"/>
    <dgm:cxn modelId="{3CB3EB14-3FB4-7040-B2C6-572E38DFBAF8}" type="presParOf" srcId="{7852B3C2-A44C-F446-9060-CA21A0D28991}" destId="{FE30EA44-022B-FF41-BE9E-EF735E26A50E}" srcOrd="15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Deep Learning</a:t>
          </a:r>
          <a:endParaRPr lang="en-US" sz="2500" b="0" kern="1200" dirty="0"/>
        </a:p>
      </dsp:txBody>
      <dsp:txXfrm>
        <a:off x="0" y="0"/>
        <a:ext cx="10515600" cy="543917"/>
      </dsp:txXfrm>
    </dsp:sp>
    <dsp:sp modelId="{A11F9CE2-7889-D042-B67A-3B946F072596}">
      <dsp:nvSpPr>
        <dsp:cNvPr id="0" name=""/>
        <dsp:cNvSpPr/>
      </dsp:nvSpPr>
      <dsp:spPr>
        <a:xfrm>
          <a:off x="0" y="54391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543917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Transformer</a:t>
          </a:r>
          <a:endParaRPr lang="en-US" sz="2500" b="0" kern="1200" dirty="0"/>
        </a:p>
      </dsp:txBody>
      <dsp:txXfrm>
        <a:off x="0" y="543917"/>
        <a:ext cx="10515600" cy="543917"/>
      </dsp:txXfrm>
    </dsp:sp>
    <dsp:sp modelId="{9D950D6B-5C89-8A48-9960-CA8B4C499A1A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087834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LLMs</a:t>
          </a:r>
        </a:p>
      </dsp:txBody>
      <dsp:txXfrm>
        <a:off x="0" y="1087834"/>
        <a:ext cx="10515600" cy="543917"/>
      </dsp:txXfrm>
    </dsp:sp>
    <dsp:sp modelId="{34CF0AAF-5C3E-5349-AD9D-2034F634313C}">
      <dsp:nvSpPr>
        <dsp:cNvPr id="0" name=""/>
        <dsp:cNvSpPr/>
      </dsp:nvSpPr>
      <dsp:spPr>
        <a:xfrm>
          <a:off x="0" y="163175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631751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Context Engineering</a:t>
          </a:r>
        </a:p>
      </dsp:txBody>
      <dsp:txXfrm>
        <a:off x="0" y="1631751"/>
        <a:ext cx="10515600" cy="543917"/>
      </dsp:txXfrm>
    </dsp:sp>
    <dsp:sp modelId="{8A505F94-65E4-9D41-AC2C-CCE8BD4C175F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175669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Finetuning</a:t>
          </a:r>
          <a:endParaRPr lang="en-US" sz="2500" b="0" kern="1200" dirty="0"/>
        </a:p>
      </dsp:txBody>
      <dsp:txXfrm>
        <a:off x="0" y="2175669"/>
        <a:ext cx="10515600" cy="543917"/>
      </dsp:txXfrm>
    </dsp:sp>
    <dsp:sp modelId="{322460D7-6763-F646-87E9-10A1FE9FDC20}">
      <dsp:nvSpPr>
        <dsp:cNvPr id="0" name=""/>
        <dsp:cNvSpPr/>
      </dsp:nvSpPr>
      <dsp:spPr>
        <a:xfrm>
          <a:off x="0" y="2719586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5DA0EB-3C02-EE40-A02E-5B28D39BEF31}">
      <dsp:nvSpPr>
        <dsp:cNvPr id="0" name=""/>
        <dsp:cNvSpPr/>
      </dsp:nvSpPr>
      <dsp:spPr>
        <a:xfrm>
          <a:off x="0" y="2719586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Instruction Tuning</a:t>
          </a:r>
        </a:p>
      </dsp:txBody>
      <dsp:txXfrm>
        <a:off x="0" y="2719586"/>
        <a:ext cx="10515600" cy="543917"/>
      </dsp:txXfrm>
    </dsp:sp>
    <dsp:sp modelId="{3D5DC94A-13EE-9348-AB63-BA6D7AB77EF3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263503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 err="1"/>
            <a:t>Agents</a:t>
          </a:r>
          <a:endParaRPr lang="en-US" sz="2500" kern="1200" dirty="0"/>
        </a:p>
      </dsp:txBody>
      <dsp:txXfrm>
        <a:off x="0" y="3263503"/>
        <a:ext cx="10515600" cy="543917"/>
      </dsp:txXfrm>
    </dsp:sp>
    <dsp:sp modelId="{20D72B1E-AD82-9E49-86D8-09A4DD4D6212}">
      <dsp:nvSpPr>
        <dsp:cNvPr id="0" name=""/>
        <dsp:cNvSpPr/>
      </dsp:nvSpPr>
      <dsp:spPr>
        <a:xfrm>
          <a:off x="0" y="380742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80742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The Bigger Picture</a:t>
          </a:r>
          <a:endParaRPr lang="en-US" sz="2500" b="0" kern="1200" dirty="0"/>
        </a:p>
      </dsp:txBody>
      <dsp:txXfrm>
        <a:off x="0" y="3807420"/>
        <a:ext cx="10515600" cy="5439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10/09/2025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10/09/2025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10/09/2025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10/09/2025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10/09/2025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10/09/2025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10/09/2025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10/09/2025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jalammar.github.io/illustrated-gpt2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transformer/" TargetMode="Externa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9/07/22/BERT-fine-tuning/" TargetMode="External"/><Relationship Id="rId2" Type="http://schemas.openxmlformats.org/officeDocument/2006/relationships/hyperlink" Target="https://arxiv.org/abs/1810.04805v2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0.01108" TargetMode="External"/><Relationship Id="rId2" Type="http://schemas.openxmlformats.org/officeDocument/2006/relationships/hyperlink" Target="https://arxiv.org/abs/1907.11692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rpathy/nanoGPT" TargetMode="External"/><Relationship Id="rId2" Type="http://schemas.openxmlformats.org/officeDocument/2006/relationships/hyperlink" Target="https://github.com/karpathy/minGP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ameronrwolfe.substack.com/p/language-model-training-and-inference" TargetMode="External"/><Relationship Id="rId5" Type="http://schemas.openxmlformats.org/officeDocument/2006/relationships/image" Target="../media/image6.png"/><Relationship Id="rId4" Type="http://schemas.openxmlformats.org/officeDocument/2006/relationships/hyperlink" Target="https://github.com/Lightning-AI/litgpt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dn.openai.com/better-language-models/language_models_are_unsupervised_multitask_learners.pdf" TargetMode="External"/><Relationship Id="rId2" Type="http://schemas.openxmlformats.org/officeDocument/2006/relationships/hyperlink" Target="https://cdn.openai.com/research-covers/language-unsupervised/language_understanding_paper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2303.12712" TargetMode="External"/><Relationship Id="rId5" Type="http://schemas.openxmlformats.org/officeDocument/2006/relationships/hyperlink" Target="https://cdn.openai.com/papers/gpt-4.pdf" TargetMode="External"/><Relationship Id="rId4" Type="http://schemas.openxmlformats.org/officeDocument/2006/relationships/hyperlink" Target="https://arxiv.org/abs/2005.14165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15556" TargetMode="External"/><Relationship Id="rId2" Type="http://schemas.openxmlformats.org/officeDocument/2006/relationships/hyperlink" Target="https://arxiv.org/abs/2001.0836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fleuret.org/public/lbdl.pdf" TargetMode="Externa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oonshotAI/Kimi-K2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oonshotai.github.io/Kimi-K2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fleuret.org/public/lbdl.pdf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ai.meta.com/research/publications/the-llama-3-herd-of-models/" TargetMode="Externa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lmarena.ai/leaderboard/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507.06261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ai.meta.com/blog/meta-llama-3/" TargetMode="External"/><Relationship Id="rId3" Type="http://schemas.openxmlformats.org/officeDocument/2006/relationships/hyperlink" Target="https://www.anthropic.com/news/claude-3-5-sonnet" TargetMode="External"/><Relationship Id="rId7" Type="http://schemas.openxmlformats.org/officeDocument/2006/relationships/hyperlink" Target="https://arxiv.org/abs/2310.06825" TargetMode="External"/><Relationship Id="rId2" Type="http://schemas.openxmlformats.org/officeDocument/2006/relationships/hyperlink" Target="https://openai.com/index/hello-gpt-4o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2404.14219" TargetMode="External"/><Relationship Id="rId5" Type="http://schemas.openxmlformats.org/officeDocument/2006/relationships/hyperlink" Target="https://arxiv.org/abs/2403.08295" TargetMode="External"/><Relationship Id="rId4" Type="http://schemas.openxmlformats.org/officeDocument/2006/relationships/hyperlink" Target="https://storage.googleapis.com/deepmind-media/gemini/gemini_v1_5_report.pdf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LLMs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456282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67049E-4AA0-8D84-7669-3EA68C9E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LLMs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19594E-42C7-982A-BCBD-45DEE050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encoder</a:t>
            </a:r>
            <a:r>
              <a:rPr lang="de-DE" dirty="0"/>
              <a:t> and </a:t>
            </a:r>
            <a:r>
              <a:rPr lang="de-DE" dirty="0" err="1"/>
              <a:t>decoder</a:t>
            </a:r>
            <a:r>
              <a:rPr lang="de-DE" dirty="0"/>
              <a:t> LLMs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scaling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LLM </a:t>
            </a:r>
            <a:r>
              <a:rPr lang="de-DE" dirty="0" err="1"/>
              <a:t>zoo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A4D195-B0D0-5BB8-D24F-20E2DFAAB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811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EFB21-2CCA-564A-D312-3A4B41E5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Transformer Architectures</a:t>
            </a:r>
            <a:r>
              <a:rPr lang="en-GB" dirty="0"/>
              <a:t> for LLMs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A853E-ED3E-6E47-BE06-20A4A0B493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265405"/>
            <a:ext cx="5181600" cy="248648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400" b="1" dirty="0"/>
              <a:t>encoder-only</a:t>
            </a:r>
            <a:r>
              <a:rPr lang="en-GB" sz="2400" dirty="0"/>
              <a:t> LLMs:</a:t>
            </a:r>
          </a:p>
          <a:p>
            <a:r>
              <a:rPr lang="en-GB" sz="2400" dirty="0"/>
              <a:t>learning of contextual embeddings (for subsequent fine-tuning)</a:t>
            </a:r>
          </a:p>
          <a:p>
            <a:r>
              <a:rPr lang="en-GB" sz="2400" dirty="0"/>
              <a:t>training: prediction of masked words</a:t>
            </a:r>
          </a:p>
          <a:p>
            <a:r>
              <a:rPr lang="en-GB" sz="2400" dirty="0"/>
              <a:t>can’t generate text, can’t be prompted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991A755-4AE3-485E-1F18-F18CA4061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265405"/>
            <a:ext cx="5181600" cy="248648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400" b="1" dirty="0"/>
              <a:t>decoder-only</a:t>
            </a:r>
            <a:r>
              <a:rPr lang="en-GB" sz="2400" dirty="0"/>
              <a:t> LLMs:</a:t>
            </a:r>
          </a:p>
          <a:p>
            <a:r>
              <a:rPr lang="en-GB" sz="2400" dirty="0"/>
              <a:t>text generation: e.g., chat bot (after instruction tuning)</a:t>
            </a:r>
          </a:p>
          <a:p>
            <a:r>
              <a:rPr lang="en-GB" sz="2400" dirty="0"/>
              <a:t>training: next-word prediction</a:t>
            </a:r>
          </a:p>
          <a:p>
            <a:r>
              <a:rPr lang="en-GB" sz="2400" dirty="0"/>
              <a:t>output one token at a time (auto-regressive: consuming its own output, potentially starting with prompts)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15F20-2568-EEBA-AF76-03A86D63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4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AF36F-30AB-F03C-EEDA-14C11DB27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992" y="4751888"/>
            <a:ext cx="6124016" cy="205222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014B46-C4F9-0DAE-FD32-807ACBBF4785}"/>
              </a:ext>
            </a:extLst>
          </p:cNvPr>
          <p:cNvSpPr txBox="1"/>
          <p:nvPr/>
        </p:nvSpPr>
        <p:spPr>
          <a:xfrm>
            <a:off x="5829740" y="6502032"/>
            <a:ext cx="5850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69F717-FB14-0FE7-4F5C-30954C7F0AE0}"/>
              </a:ext>
            </a:extLst>
          </p:cNvPr>
          <p:cNvSpPr txBox="1"/>
          <p:nvPr/>
        </p:nvSpPr>
        <p:spPr>
          <a:xfrm>
            <a:off x="838200" y="1579179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encoder-decoder</a:t>
            </a:r>
            <a:r>
              <a:rPr lang="en-GB" sz="2400" dirty="0"/>
              <a:t> LLMs: sequence-to-sequence, e.g., machine translation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6FAC6A-FEB5-ED22-6F4E-7015532B77F5}"/>
              </a:ext>
            </a:extLst>
          </p:cNvPr>
          <p:cNvSpPr txBox="1"/>
          <p:nvPr/>
        </p:nvSpPr>
        <p:spPr>
          <a:xfrm>
            <a:off x="1384752" y="5316334"/>
            <a:ext cx="145256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example: </a:t>
            </a:r>
            <a:r>
              <a:rPr lang="en-DE" sz="2200" dirty="0"/>
              <a:t>BERT</a:t>
            </a:r>
            <a:endParaRPr lang="en-GB" sz="2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C7CC66-9A7D-E61A-CC1D-388886D1504D}"/>
              </a:ext>
            </a:extLst>
          </p:cNvPr>
          <p:cNvSpPr txBox="1"/>
          <p:nvPr/>
        </p:nvSpPr>
        <p:spPr>
          <a:xfrm>
            <a:off x="9551365" y="5316334"/>
            <a:ext cx="148916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example: GPT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92F603-5333-9879-080E-7B3AE86BF4F1}"/>
              </a:ext>
            </a:extLst>
          </p:cNvPr>
          <p:cNvSpPr txBox="1"/>
          <p:nvPr/>
        </p:nvSpPr>
        <p:spPr>
          <a:xfrm>
            <a:off x="6502395" y="4947002"/>
            <a:ext cx="114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aka causal</a:t>
            </a:r>
          </a:p>
        </p:txBody>
      </p:sp>
    </p:spTree>
    <p:extLst>
      <p:ext uri="{BB962C8B-B14F-4D97-AF65-F5344CB8AC3E}">
        <p14:creationId xmlns:p14="http://schemas.microsoft.com/office/powerpoint/2010/main" val="1609967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1">
            <a:extLst>
              <a:ext uri="{FF2B5EF4-FFF2-40B4-BE49-F238E27FC236}">
                <a16:creationId xmlns:a16="http://schemas.microsoft.com/office/drawing/2014/main" id="{C95613AD-E005-497D-EB03-7E2F66A33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1954" y="3815869"/>
            <a:ext cx="4043487" cy="28845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2AC643-1392-D338-CC96-97F0A551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Encoder-Decoder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7768F7-8663-624F-0843-642682FAD6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464" y="1825625"/>
                <a:ext cx="6483753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popular use case: machine translation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aka cross-attention:</a:t>
                </a:r>
              </a:p>
              <a:p>
                <a:pPr marL="0" indent="0">
                  <a:buNone/>
                </a:pPr>
                <a:r>
                  <a:rPr lang="en-GB" dirty="0"/>
                  <a:t>connection between encoder and decoder, helping decoder to focus on relevant parts of input sentence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output of last encoder transformed into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en-GB" dirty="0">
                    <a:sym typeface="Wingdings" pitchFamily="2" charset="2"/>
                  </a:rPr>
                  <a:t> from </a:t>
                </a:r>
                <a:r>
                  <a:rPr lang="en-GB" dirty="0"/>
                  <a:t>each decoder’s cross-attention layer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7768F7-8663-624F-0843-642682FAD6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464" y="1825625"/>
                <a:ext cx="6483753" cy="4351338"/>
              </a:xfrm>
              <a:blipFill>
                <a:blip r:embed="rId3"/>
                <a:stretch>
                  <a:fillRect l="-1761" t="-2616" r="-58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98BBA-7090-7AEB-3E42-79B81AA3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9BAAB4-9057-2145-ACB4-054C604BB9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3578" y="41005"/>
            <a:ext cx="2566467" cy="3647085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B1A21D9-4A69-2CFC-CD45-9DB36AB5CD91}"/>
              </a:ext>
            </a:extLst>
          </p:cNvPr>
          <p:cNvSpPr/>
          <p:nvPr/>
        </p:nvSpPr>
        <p:spPr>
          <a:xfrm>
            <a:off x="8934771" y="1492469"/>
            <a:ext cx="829345" cy="40990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TextBox 15">
            <a:extLst>
              <a:ext uri="{FF2B5EF4-FFF2-40B4-BE49-F238E27FC236}">
                <a16:creationId xmlns:a16="http://schemas.microsoft.com/office/drawing/2014/main" id="{83C9C157-D468-BC5B-F9B7-69D715FF4CD3}"/>
              </a:ext>
            </a:extLst>
          </p:cNvPr>
          <p:cNvSpPr txBox="1"/>
          <p:nvPr/>
        </p:nvSpPr>
        <p:spPr>
          <a:xfrm>
            <a:off x="6726915" y="6515374"/>
            <a:ext cx="5950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94765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E34D-E690-5083-4D7A-A4FD8CBC0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for E</a:t>
            </a:r>
            <a:r>
              <a:rPr lang="en-DE" dirty="0"/>
              <a:t>ncoder-Only </a:t>
            </a:r>
            <a:r>
              <a:rPr lang="en-GB" dirty="0"/>
              <a:t>LLM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73BB1-039F-295B-E954-FC59DCCEB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06141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DE" sz="2400" dirty="0">
                <a:hlinkClick r:id="rId2"/>
              </a:rPr>
              <a:t>BERT</a:t>
            </a:r>
            <a:r>
              <a:rPr lang="en-DE" sz="2400" dirty="0"/>
              <a:t> (Bidirectional Encoder Representations from Transformers</a:t>
            </a:r>
            <a:r>
              <a:rPr lang="en-DE" sz="2400"/>
              <a:t>, Google):</a:t>
            </a:r>
            <a:endParaRPr lang="en-DE" sz="2400" dirty="0"/>
          </a:p>
          <a:p>
            <a:r>
              <a:rPr lang="en-GB" sz="2400" dirty="0"/>
              <a:t>stack of transformer e</a:t>
            </a:r>
            <a:r>
              <a:rPr lang="en-DE" sz="2400" dirty="0"/>
              <a:t>ncoders</a:t>
            </a:r>
          </a:p>
          <a:p>
            <a:r>
              <a:rPr lang="en-GB" sz="2400" dirty="0"/>
              <a:t>o</a:t>
            </a:r>
            <a:r>
              <a:rPr lang="en-DE" sz="2400" dirty="0"/>
              <a:t>utputting representation</a:t>
            </a:r>
            <a:r>
              <a:rPr lang="en-GB" sz="2400" dirty="0"/>
              <a:t> (contextual embeddings)</a:t>
            </a:r>
            <a:r>
              <a:rPr lang="en-DE" sz="2400" dirty="0"/>
              <a:t> to be used</a:t>
            </a:r>
            <a:r>
              <a:rPr lang="en-DE" sz="2400"/>
              <a:t>/finetuned </a:t>
            </a:r>
            <a:r>
              <a:rPr lang="en-DE" sz="2400" dirty="0"/>
              <a:t>in specific tasks and data sets</a:t>
            </a:r>
            <a:r>
              <a:rPr lang="en-GB" sz="2400" dirty="0"/>
              <a:t> (e.g., text classification)</a:t>
            </a:r>
            <a:endParaRPr lang="en-DE" sz="2400" dirty="0"/>
          </a:p>
          <a:p>
            <a:r>
              <a:rPr lang="en-GB" sz="2400" dirty="0"/>
              <a:t>b</a:t>
            </a:r>
            <a:r>
              <a:rPr lang="en-DE" sz="2400" dirty="0"/>
              <a:t>idirectional: </a:t>
            </a:r>
            <a:r>
              <a:rPr lang="en-GB" sz="2400" dirty="0"/>
              <a:t>jointly conditioning on both left and right context</a:t>
            </a:r>
            <a:endParaRPr lang="en-DE" sz="2400" dirty="0"/>
          </a:p>
          <a:p>
            <a:r>
              <a:rPr lang="en-GB" sz="2400" dirty="0"/>
              <a:t>pre-trained in self-supervised manner on massive data sets</a:t>
            </a:r>
          </a:p>
          <a:p>
            <a:pPr lvl="1"/>
            <a:r>
              <a:rPr lang="en-GB" dirty="0"/>
              <a:t>masked tokens to be predicted from context</a:t>
            </a:r>
          </a:p>
          <a:p>
            <a:pPr lvl="1"/>
            <a:r>
              <a:rPr lang="en-GB" dirty="0"/>
              <a:t>next sentence prediction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4DC41-7C26-D581-9A80-C62A60BF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6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233163-2EF1-7FE1-E697-7AB2C8677939}"/>
              </a:ext>
            </a:extLst>
          </p:cNvPr>
          <p:cNvSpPr txBox="1"/>
          <p:nvPr/>
        </p:nvSpPr>
        <p:spPr>
          <a:xfrm>
            <a:off x="11529848" y="4800045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8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AFC9E341-EA1C-F051-9371-1BA2FEBA28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933274"/>
            <a:ext cx="3581400" cy="28667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8F2A0D-16ED-38C8-6946-9993A4C44068}"/>
              </a:ext>
            </a:extLst>
          </p:cNvPr>
          <p:cNvSpPr txBox="1"/>
          <p:nvPr/>
        </p:nvSpPr>
        <p:spPr>
          <a:xfrm>
            <a:off x="8958029" y="5042630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88859D2-C2BC-2FBF-1B8D-C04C66C53D73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4478867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888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77014-5C9A-61F9-AEB0-5422FFC74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BERT </a:t>
            </a:r>
            <a:r>
              <a:rPr lang="de-DE" dirty="0" err="1"/>
              <a:t>Variants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2E57AC-9AEC-A942-0A0F-644BB5F97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b="1" dirty="0"/>
              <a:t>BERT</a:t>
            </a:r>
            <a:r>
              <a:rPr lang="de-DE" sz="2400" dirty="0"/>
              <a:t>: </a:t>
            </a:r>
            <a:r>
              <a:rPr lang="de-DE" sz="2400" dirty="0" err="1"/>
              <a:t>effective</a:t>
            </a:r>
            <a:r>
              <a:rPr lang="de-DE" sz="2400" dirty="0"/>
              <a:t> but </a:t>
            </a:r>
            <a:r>
              <a:rPr lang="de-DE" sz="2400" dirty="0" err="1"/>
              <a:t>computationally</a:t>
            </a:r>
            <a:r>
              <a:rPr lang="de-DE" sz="2400" dirty="0"/>
              <a:t> heavy (large </a:t>
            </a:r>
            <a:r>
              <a:rPr lang="de-DE" sz="2400" dirty="0" err="1"/>
              <a:t>models</a:t>
            </a:r>
            <a:r>
              <a:rPr lang="de-DE" sz="2400" dirty="0"/>
              <a:t>, slow </a:t>
            </a:r>
            <a:r>
              <a:rPr lang="de-DE" sz="2400" dirty="0" err="1"/>
              <a:t>inference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b="1" dirty="0">
                <a:hlinkClick r:id="rId2"/>
              </a:rPr>
              <a:t>RoBERTa</a:t>
            </a:r>
            <a:r>
              <a:rPr lang="de-DE" sz="2400" b="1" dirty="0"/>
              <a:t>: </a:t>
            </a:r>
            <a:r>
              <a:rPr lang="de-DE" sz="2400" dirty="0" err="1"/>
              <a:t>even</a:t>
            </a:r>
            <a:r>
              <a:rPr lang="de-DE" sz="2400" dirty="0"/>
              <a:t> </a:t>
            </a:r>
            <a:r>
              <a:rPr lang="de-DE" sz="2400" dirty="0" err="1"/>
              <a:t>better</a:t>
            </a:r>
            <a:r>
              <a:rPr lang="de-DE" sz="2400" dirty="0"/>
              <a:t> </a:t>
            </a:r>
            <a:r>
              <a:rPr lang="de-DE" sz="2400" dirty="0" err="1"/>
              <a:t>than</a:t>
            </a:r>
            <a:r>
              <a:rPr lang="de-DE" sz="2400" dirty="0"/>
              <a:t> BERT but still heavy</a:t>
            </a:r>
          </a:p>
          <a:p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endParaRPr lang="de-DE" sz="1800" dirty="0"/>
          </a:p>
          <a:p>
            <a:r>
              <a:rPr lang="de-DE" sz="1800" dirty="0"/>
              <a:t>~</a:t>
            </a:r>
            <a:r>
              <a:rPr lang="de-DE" sz="1800" dirty="0" err="1"/>
              <a:t>ten</a:t>
            </a:r>
            <a:r>
              <a:rPr lang="de-DE" sz="1800" dirty="0"/>
              <a:t> </a:t>
            </a:r>
            <a:r>
              <a:rPr lang="de-DE" sz="1800" dirty="0" err="1"/>
              <a:t>times</a:t>
            </a:r>
            <a:r>
              <a:rPr lang="de-DE" sz="1800" dirty="0"/>
              <a:t> </a:t>
            </a:r>
            <a:r>
              <a:rPr lang="de-DE" sz="1800" dirty="0" err="1"/>
              <a:t>more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, larger </a:t>
            </a:r>
            <a:r>
              <a:rPr lang="de-DE" sz="1800" dirty="0" err="1"/>
              <a:t>batches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sequences</a:t>
            </a:r>
            <a:endParaRPr lang="de-DE" sz="1800" dirty="0"/>
          </a:p>
          <a:p>
            <a:r>
              <a:rPr lang="de-DE" sz="1800" dirty="0" err="1"/>
              <a:t>dynamic</a:t>
            </a:r>
            <a:r>
              <a:rPr lang="de-DE" sz="1800" dirty="0"/>
              <a:t> </a:t>
            </a:r>
            <a:r>
              <a:rPr lang="de-DE" sz="1800" dirty="0" err="1"/>
              <a:t>masking</a:t>
            </a:r>
            <a:r>
              <a:rPr lang="de-DE" sz="1800" dirty="0"/>
              <a:t>: </a:t>
            </a:r>
            <a:r>
              <a:rPr lang="de-DE" sz="1800" dirty="0" err="1"/>
              <a:t>instead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fixed</a:t>
            </a:r>
            <a:r>
              <a:rPr lang="de-DE" sz="1800" dirty="0"/>
              <a:t> </a:t>
            </a:r>
            <a:r>
              <a:rPr lang="de-DE" sz="1800" dirty="0" err="1"/>
              <a:t>masked</a:t>
            </a:r>
            <a:r>
              <a:rPr lang="de-DE" sz="1800" dirty="0"/>
              <a:t> </a:t>
            </a:r>
            <a:r>
              <a:rPr lang="de-DE" sz="1800" dirty="0" err="1"/>
              <a:t>tokens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sequence</a:t>
            </a:r>
            <a:r>
              <a:rPr lang="de-DE" sz="1800" dirty="0"/>
              <a:t>, </a:t>
            </a:r>
            <a:r>
              <a:rPr lang="de-DE" sz="1800" dirty="0" err="1"/>
              <a:t>masks</a:t>
            </a:r>
            <a:r>
              <a:rPr lang="de-DE" sz="1800" dirty="0"/>
              <a:t> </a:t>
            </a:r>
            <a:r>
              <a:rPr lang="de-DE" sz="1800" dirty="0" err="1"/>
              <a:t>change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epoch</a:t>
            </a:r>
            <a:endParaRPr lang="de-DE" sz="18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b="1" dirty="0" err="1">
                <a:hlinkClick r:id="rId3"/>
              </a:rPr>
              <a:t>DistilBERT</a:t>
            </a:r>
            <a:r>
              <a:rPr lang="de-DE" sz="2400" dirty="0"/>
              <a:t>: </a:t>
            </a:r>
            <a:r>
              <a:rPr lang="de-DE" sz="2400" dirty="0" err="1"/>
              <a:t>much</a:t>
            </a:r>
            <a:r>
              <a:rPr lang="de-DE" sz="2400" dirty="0"/>
              <a:t> </a:t>
            </a:r>
            <a:r>
              <a:rPr lang="de-DE" sz="2400" dirty="0" err="1"/>
              <a:t>lighter</a:t>
            </a:r>
            <a:r>
              <a:rPr lang="de-DE" sz="2400" dirty="0"/>
              <a:t> and </a:t>
            </a:r>
            <a:r>
              <a:rPr lang="de-DE" sz="2400" dirty="0" err="1"/>
              <a:t>faster</a:t>
            </a:r>
            <a:r>
              <a:rPr lang="de-DE" sz="2400" dirty="0"/>
              <a:t>, </a:t>
            </a:r>
            <a:r>
              <a:rPr lang="de-DE" sz="2400" dirty="0" err="1"/>
              <a:t>retaining</a:t>
            </a:r>
            <a:r>
              <a:rPr lang="de-DE" sz="2400" dirty="0"/>
              <a:t> ~95%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BERT’s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endParaRPr lang="de-DE" sz="2400" dirty="0"/>
          </a:p>
          <a:p>
            <a:r>
              <a:rPr lang="de-DE" sz="1800" dirty="0"/>
              <a:t>a </a:t>
            </a:r>
            <a:r>
              <a:rPr lang="de-DE" sz="1800" dirty="0" err="1"/>
              <a:t>smaller</a:t>
            </a:r>
            <a:r>
              <a:rPr lang="de-DE" sz="1800" dirty="0"/>
              <a:t> “</a:t>
            </a:r>
            <a:r>
              <a:rPr lang="de-DE" sz="1800" dirty="0" err="1"/>
              <a:t>student</a:t>
            </a:r>
            <a:r>
              <a:rPr lang="de-DE" sz="1800" dirty="0"/>
              <a:t>” </a:t>
            </a:r>
            <a:r>
              <a:rPr lang="de-DE" sz="1800" dirty="0" err="1"/>
              <a:t>model</a:t>
            </a:r>
            <a:r>
              <a:rPr lang="de-DE" sz="1800" dirty="0"/>
              <a:t> </a:t>
            </a:r>
            <a:r>
              <a:rPr lang="de-DE" sz="1800" dirty="0" err="1"/>
              <a:t>is</a:t>
            </a:r>
            <a:r>
              <a:rPr lang="de-DE" sz="1800" dirty="0"/>
              <a:t> </a:t>
            </a:r>
            <a:r>
              <a:rPr lang="de-DE" sz="1800" dirty="0" err="1"/>
              <a:t>trained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mimic</a:t>
            </a:r>
            <a:r>
              <a:rPr lang="de-DE" sz="1800" dirty="0"/>
              <a:t> </a:t>
            </a:r>
            <a:r>
              <a:rPr lang="de-DE" sz="1800" dirty="0" err="1"/>
              <a:t>BERT’s</a:t>
            </a:r>
            <a:r>
              <a:rPr lang="de-DE" sz="1800" dirty="0"/>
              <a:t> </a:t>
            </a:r>
            <a:r>
              <a:rPr lang="de-DE" sz="1800" dirty="0" err="1"/>
              <a:t>predictions</a:t>
            </a:r>
            <a:endParaRPr lang="de-DE" sz="1800" dirty="0"/>
          </a:p>
          <a:p>
            <a:r>
              <a:rPr lang="de-DE" sz="1800" dirty="0"/>
              <a:t>40% </a:t>
            </a:r>
            <a:r>
              <a:rPr lang="de-DE" sz="1800" dirty="0" err="1"/>
              <a:t>fewer</a:t>
            </a:r>
            <a:r>
              <a:rPr lang="de-DE" sz="1800" dirty="0"/>
              <a:t> </a:t>
            </a:r>
            <a:r>
              <a:rPr lang="de-DE" sz="1800" dirty="0" err="1"/>
              <a:t>parameters</a:t>
            </a:r>
            <a:r>
              <a:rPr lang="de-DE" sz="1800" dirty="0"/>
              <a:t> </a:t>
            </a:r>
            <a:r>
              <a:rPr lang="de-DE" sz="1800" dirty="0" err="1"/>
              <a:t>than</a:t>
            </a:r>
            <a:r>
              <a:rPr lang="de-DE" sz="1800" dirty="0"/>
              <a:t> BERT, 60% </a:t>
            </a:r>
            <a:r>
              <a:rPr lang="de-DE" sz="1800" dirty="0" err="1"/>
              <a:t>faster</a:t>
            </a:r>
            <a:r>
              <a:rPr lang="de-DE" sz="1800" dirty="0"/>
              <a:t> </a:t>
            </a:r>
            <a:r>
              <a:rPr lang="de-DE" sz="1800" dirty="0" err="1"/>
              <a:t>inference</a:t>
            </a:r>
            <a:r>
              <a:rPr lang="de-DE" sz="1800" dirty="0"/>
              <a:t>, </a:t>
            </a:r>
            <a:r>
              <a:rPr lang="de-DE" sz="1800" dirty="0" err="1"/>
              <a:t>using</a:t>
            </a:r>
            <a:r>
              <a:rPr lang="de-DE" sz="1800" dirty="0"/>
              <a:t> half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memory</a:t>
            </a:r>
            <a:endParaRPr lang="de-DE" sz="1800" dirty="0"/>
          </a:p>
          <a:p>
            <a:r>
              <a:rPr lang="de-DE" sz="1800" dirty="0"/>
              <a:t>also </a:t>
            </a:r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endParaRPr lang="de-DE" sz="18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9E7DDC-F9E4-F124-BF7B-7A2E77B7C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5046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48B82-E4A2-950C-59DA-A22864528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E1425-D0DC-6B96-3E26-103D86136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for D</a:t>
            </a:r>
            <a:r>
              <a:rPr lang="en-DE" dirty="0"/>
              <a:t>ecoder-Only </a:t>
            </a:r>
            <a:r>
              <a:rPr lang="en-GB" dirty="0"/>
              <a:t>LLM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BBA48-49EF-1DAD-E7A1-54442EC13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17159"/>
            <a:ext cx="5005552" cy="46757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E" sz="2600" dirty="0"/>
              <a:t>GPT (Generative Pre-trained Transformer, by O</a:t>
            </a:r>
            <a:r>
              <a:rPr lang="en-GB" sz="2600" dirty="0"/>
              <a:t>p</a:t>
            </a:r>
            <a:r>
              <a:rPr lang="en-DE" sz="2600" dirty="0"/>
              <a:t>enAI) series:</a:t>
            </a:r>
          </a:p>
          <a:p>
            <a:r>
              <a:rPr lang="en-GB" sz="2600" dirty="0"/>
              <a:t>stack of transformer d</a:t>
            </a:r>
            <a:r>
              <a:rPr lang="en-DE" sz="2600" dirty="0"/>
              <a:t>ecoders</a:t>
            </a:r>
            <a:r>
              <a:rPr lang="en-GB" sz="2600" dirty="0"/>
              <a:t> </a:t>
            </a: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a</a:t>
            </a:r>
            <a:r>
              <a:rPr lang="en-DE" sz="2600" dirty="0"/>
              <a:t>uto-regressive language model</a:t>
            </a:r>
          </a:p>
          <a:p>
            <a:r>
              <a:rPr lang="en-GB" sz="2600" dirty="0"/>
              <a:t>generative pre-training: self-supervised generation of text (i.e., next-word predictions) on massive web scrape data sets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1800" dirty="0"/>
              <a:t>lightweight </a:t>
            </a:r>
            <a:r>
              <a:rPr lang="en-GB" sz="1800" dirty="0" err="1"/>
              <a:t>PyTorch</a:t>
            </a:r>
            <a:r>
              <a:rPr lang="en-GB" sz="1800" dirty="0"/>
              <a:t> re-implementation of GPT: </a:t>
            </a:r>
            <a:r>
              <a:rPr lang="en-GB" sz="1800" dirty="0">
                <a:hlinkClick r:id="rId2"/>
              </a:rPr>
              <a:t>minGPT</a:t>
            </a:r>
            <a:endParaRPr lang="en-GB" sz="1800" dirty="0"/>
          </a:p>
          <a:p>
            <a:pPr marL="0" indent="0">
              <a:buNone/>
            </a:pPr>
            <a:r>
              <a:rPr lang="en-GB" sz="1800" dirty="0"/>
              <a:t>more powerful: </a:t>
            </a:r>
            <a:r>
              <a:rPr lang="en-GB" sz="1800" dirty="0">
                <a:hlinkClick r:id="rId3"/>
              </a:rPr>
              <a:t>nanoGPT</a:t>
            </a:r>
            <a:r>
              <a:rPr lang="en-GB" sz="1800" dirty="0"/>
              <a:t>, </a:t>
            </a:r>
            <a:r>
              <a:rPr lang="en-GB" sz="1800" dirty="0">
                <a:hlinkClick r:id="rId4"/>
              </a:rPr>
              <a:t>LitGPT</a:t>
            </a:r>
            <a:endParaRPr lang="en-GB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C20FA-D45E-4110-993D-3F3689042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8</a:t>
            </a:fld>
            <a:endParaRPr lang="en-DE"/>
          </a:p>
        </p:txBody>
      </p:sp>
      <p:pic>
        <p:nvPicPr>
          <p:cNvPr id="6" name="Grafik 5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B664DCB9-712F-8152-0297-AA40EDACF0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602" y="1817159"/>
            <a:ext cx="6353398" cy="3942510"/>
          </a:xfrm>
          <a:prstGeom prst="rect">
            <a:avLst/>
          </a:prstGeom>
        </p:spPr>
      </p:pic>
      <p:sp>
        <p:nvSpPr>
          <p:cNvPr id="7" name="TextBox 10">
            <a:extLst>
              <a:ext uri="{FF2B5EF4-FFF2-40B4-BE49-F238E27FC236}">
                <a16:creationId xmlns:a16="http://schemas.microsoft.com/office/drawing/2014/main" id="{4D878841-CF0D-20D5-E2D6-3DB7762D39EA}"/>
              </a:ext>
            </a:extLst>
          </p:cNvPr>
          <p:cNvSpPr txBox="1"/>
          <p:nvPr/>
        </p:nvSpPr>
        <p:spPr>
          <a:xfrm>
            <a:off x="10786015" y="5513448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6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286678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34BCA-6F2E-E1E0-5E78-C602E733C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GPT Evolution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8DA15-F9B0-18B3-B458-752CD40FD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7159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E" sz="2600">
                <a:hlinkClick r:id="rId2"/>
              </a:rPr>
              <a:t>GPT</a:t>
            </a:r>
            <a:r>
              <a:rPr lang="en-DE" sz="2600" dirty="0"/>
              <a:t>: discriminative fine-tuning on specific tasks (e.g., summarization, translation, question-answering) with much smaller </a:t>
            </a:r>
            <a:r>
              <a:rPr lang="en-DE" sz="2600"/>
              <a:t>data sets</a:t>
            </a:r>
            <a:endParaRPr lang="de-DE" sz="2600" dirty="0"/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>
                <a:hlinkClick r:id="rId3"/>
              </a:rPr>
              <a:t>GPT-2</a:t>
            </a:r>
            <a:r>
              <a:rPr lang="en-GB" sz="2600" dirty="0"/>
              <a:t>, </a:t>
            </a:r>
            <a:r>
              <a:rPr lang="en-GB" sz="2600" dirty="0">
                <a:hlinkClick r:id="rId4"/>
              </a:rPr>
              <a:t>GPT-3</a:t>
            </a:r>
            <a:r>
              <a:rPr lang="en-GB" sz="2600" dirty="0"/>
              <a:t> (</a:t>
            </a:r>
            <a:r>
              <a:rPr lang="en-DE" sz="2600" dirty="0"/>
              <a:t>175 billion parameters</a:t>
            </a:r>
            <a:r>
              <a:rPr lang="en-GB" sz="2600" dirty="0"/>
              <a:t>)</a:t>
            </a:r>
            <a:r>
              <a:rPr lang="en-DE" sz="2600" dirty="0"/>
              <a:t>: also zero- or </a:t>
            </a:r>
            <a:r>
              <a:rPr lang="en-DE" sz="2600"/>
              <a:t>few-shot learning</a:t>
            </a:r>
            <a:endParaRPr lang="de-DE" sz="2600" dirty="0"/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>
                <a:hlinkClick r:id="rId5"/>
              </a:rPr>
              <a:t>GPT-4</a:t>
            </a:r>
            <a:r>
              <a:rPr lang="en-DE" sz="2600" dirty="0"/>
              <a:t>: extend to multimodal model (image and text inputs, text outputs)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2DF1F-CE76-8FAE-EDB4-4B22AB609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9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7A9C10-65EB-EB41-C373-8724DC38C102}"/>
              </a:ext>
            </a:extLst>
          </p:cNvPr>
          <p:cNvSpPr txBox="1"/>
          <p:nvPr/>
        </p:nvSpPr>
        <p:spPr>
          <a:xfrm>
            <a:off x="838200" y="4581843"/>
            <a:ext cx="1239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>
                <a:hlinkClick r:id="rId6"/>
              </a:rPr>
              <a:t>capabilities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56046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B18D8-662F-8E62-9266-15406EC25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Size Matters</a:t>
            </a:r>
            <a:r>
              <a:rPr lang="en-GB" dirty="0"/>
              <a:t>: </a:t>
            </a:r>
            <a:r>
              <a:rPr lang="en-GB" b="1" dirty="0"/>
              <a:t>LARGE</a:t>
            </a:r>
            <a:r>
              <a:rPr lang="en-GB" dirty="0"/>
              <a:t> Language Models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F4078-2FDF-FC34-76CD-ACB22B479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893619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>
                <a:hlinkClick r:id="rId2"/>
              </a:rPr>
              <a:t>scaling laws</a:t>
            </a:r>
            <a:r>
              <a:rPr lang="en-GB" sz="2600" dirty="0"/>
              <a:t>, </a:t>
            </a:r>
            <a:r>
              <a:rPr lang="en-GB" sz="2600" dirty="0">
                <a:hlinkClick r:id="rId3"/>
              </a:rPr>
              <a:t>Chinchilla</a:t>
            </a:r>
            <a:r>
              <a:rPr lang="en-GB" sz="2600" dirty="0"/>
              <a:t>: coupled performance power laws with model size, amount of training data, and compute</a:t>
            </a:r>
          </a:p>
          <a:p>
            <a:pPr marL="0" indent="0">
              <a:buNone/>
            </a:pPr>
            <a:r>
              <a:rPr lang="en-GB" sz="2600" dirty="0">
                <a:sym typeface="Wingdings" panose="05000000000000000000" pitchFamily="2" charset="2"/>
              </a:rPr>
              <a:t> </a:t>
            </a:r>
            <a:r>
              <a:rPr lang="en-GB" sz="2600" dirty="0"/>
              <a:t>era of large-scale models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emergent abilities of LLMs:</a:t>
            </a:r>
          </a:p>
          <a:p>
            <a:r>
              <a:rPr lang="en-GB" sz="2600" dirty="0"/>
              <a:t>multi-task learning: perform new tasks at test time without task-specific training (via </a:t>
            </a:r>
            <a:r>
              <a:rPr lang="en-GB" sz="2600" dirty="0">
                <a:sym typeface="Wingdings" pitchFamily="2" charset="2"/>
              </a:rPr>
              <a:t>p</a:t>
            </a:r>
            <a:r>
              <a:rPr lang="en-GB" sz="2600" dirty="0"/>
              <a:t>rompting)</a:t>
            </a:r>
          </a:p>
          <a:p>
            <a:r>
              <a:rPr lang="en-GB" sz="2600" dirty="0">
                <a:solidFill>
                  <a:srgbClr val="212529"/>
                </a:solidFill>
              </a:rPr>
              <a:t>reasoning capabilities</a:t>
            </a:r>
            <a:endParaRPr lang="en-GB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F0045-E4C4-0C38-5A9B-7A5BA0214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10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71ACDA-58DE-C671-C490-9A25C570A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4395" y="1005021"/>
            <a:ext cx="2390243" cy="53445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67208A-C2CD-8126-638D-2517BFC96589}"/>
              </a:ext>
            </a:extLst>
          </p:cNvPr>
          <p:cNvSpPr txBox="1"/>
          <p:nvPr/>
        </p:nvSpPr>
        <p:spPr>
          <a:xfrm>
            <a:off x="11632120" y="6349560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839114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C368-8592-0C01-7155-B0402DBC5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LLM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96AE7-65B2-BDAA-9CB1-106D3E0C62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example </a:t>
            </a:r>
            <a:r>
              <a:rPr lang="en-GB" dirty="0">
                <a:hlinkClick r:id="rId2"/>
              </a:rPr>
              <a:t>Kimi K2</a:t>
            </a:r>
            <a:r>
              <a:rPr lang="en-GB" dirty="0"/>
              <a:t> (Mixture-of-Experts model):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vocabulary size (tokens):		160K</a:t>
            </a:r>
          </a:p>
          <a:p>
            <a:r>
              <a:rPr lang="en-GB" dirty="0"/>
              <a:t>embedding dimension:		7,168</a:t>
            </a:r>
          </a:p>
          <a:p>
            <a:r>
              <a:rPr lang="en-GB" dirty="0"/>
              <a:t>context length (tokens):		128K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total parameters:			1T</a:t>
            </a:r>
          </a:p>
          <a:p>
            <a:r>
              <a:rPr lang="en-GB" dirty="0"/>
              <a:t>training tokens:			15.5T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number of layers:			61</a:t>
            </a:r>
          </a:p>
          <a:p>
            <a:r>
              <a:rPr lang="en-GB" dirty="0"/>
              <a:t>number of attention heads:		64</a:t>
            </a:r>
          </a:p>
          <a:p>
            <a:r>
              <a:rPr lang="en-GB" dirty="0"/>
              <a:t>number of experts:			384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9F7305-36A6-E37E-39C3-03F1C64BB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11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47AE09-0CE7-F2EF-E282-E7D203CB2794}"/>
              </a:ext>
            </a:extLst>
          </p:cNvPr>
          <p:cNvSpPr txBox="1"/>
          <p:nvPr/>
        </p:nvSpPr>
        <p:spPr>
          <a:xfrm flipH="1">
            <a:off x="7780863" y="4061832"/>
            <a:ext cx="3055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a lot of memorizing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98ABD0-40ED-3A92-2AD6-EEEFFF673542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6411310" y="4292665"/>
            <a:ext cx="13695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B3AA4BA7-5487-6DD2-189C-F68C512D6F35}"/>
              </a:ext>
            </a:extLst>
          </p:cNvPr>
          <p:cNvSpPr txBox="1"/>
          <p:nvPr/>
        </p:nvSpPr>
        <p:spPr>
          <a:xfrm>
            <a:off x="7797362" y="4672114"/>
            <a:ext cx="38152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compression of the internet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1AAA22A-780F-765B-ED5D-8C5F6DBB657A}"/>
              </a:ext>
            </a:extLst>
          </p:cNvPr>
          <p:cNvSpPr txBox="1"/>
          <p:nvPr/>
        </p:nvSpPr>
        <p:spPr>
          <a:xfrm>
            <a:off x="8008735" y="1690688"/>
            <a:ext cx="33450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usual</a:t>
            </a:r>
            <a:r>
              <a:rPr lang="de-DE" sz="2400" dirty="0"/>
              <a:t>, </a:t>
            </a:r>
            <a:r>
              <a:rPr lang="de-DE" sz="2400" dirty="0" err="1"/>
              <a:t>comes</a:t>
            </a:r>
            <a:r>
              <a:rPr lang="de-DE" sz="2400" dirty="0"/>
              <a:t> in </a:t>
            </a:r>
            <a:r>
              <a:rPr lang="de-DE" sz="2400" dirty="0" err="1"/>
              <a:t>base</a:t>
            </a:r>
            <a:r>
              <a:rPr lang="de-DE" sz="2400" dirty="0"/>
              <a:t> and </a:t>
            </a:r>
            <a:r>
              <a:rPr lang="de-DE" sz="2400" dirty="0" err="1"/>
              <a:t>instruct</a:t>
            </a:r>
            <a:r>
              <a:rPr lang="de-DE" sz="2400" dirty="0"/>
              <a:t> </a:t>
            </a:r>
            <a:r>
              <a:rPr lang="de-DE" sz="2400" dirty="0" err="1"/>
              <a:t>variants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135530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5C49767A-2E15-165D-D997-E5D752EC1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12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3B750F-F14C-12D4-7DCC-7B2905B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430" y="310758"/>
            <a:ext cx="9691139" cy="604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6">
            <a:extLst>
              <a:ext uri="{FF2B5EF4-FFF2-40B4-BE49-F238E27FC236}">
                <a16:creationId xmlns:a16="http://schemas.microsoft.com/office/drawing/2014/main" id="{14EA65BE-46E9-FF4E-46BF-296B8C3044C6}"/>
              </a:ext>
            </a:extLst>
          </p:cNvPr>
          <p:cNvSpPr txBox="1"/>
          <p:nvPr/>
        </p:nvSpPr>
        <p:spPr>
          <a:xfrm>
            <a:off x="10941569" y="5445836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00366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EAD6B4-651B-644D-52EC-1596AE49F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Mixture-of-Experts (</a:t>
            </a:r>
            <a:r>
              <a:rPr lang="en-GB" dirty="0" err="1"/>
              <a:t>MoE</a:t>
            </a:r>
            <a:r>
              <a:rPr lang="en-GB" dirty="0"/>
              <a:t>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FF8B6C6-1CA1-F2B6-F9FC-88AC607A2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13</a:t>
            </a:fld>
            <a:endParaRPr lang="en-GB"/>
          </a:p>
        </p:txBody>
      </p:sp>
      <p:pic>
        <p:nvPicPr>
          <p:cNvPr id="6" name="Grafik 5" descr="Ein Bild, das Text, Diagramm, Screenshot, Plan enthält.&#10;&#10;KI-generierte Inhalte können fehlerhaft sein.">
            <a:extLst>
              <a:ext uri="{FF2B5EF4-FFF2-40B4-BE49-F238E27FC236}">
                <a16:creationId xmlns:a16="http://schemas.microsoft.com/office/drawing/2014/main" id="{3F18497A-B5E7-77E2-1AC8-0090A6A9E4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419" y="1695242"/>
            <a:ext cx="4027466" cy="2388703"/>
          </a:xfrm>
          <a:prstGeom prst="rect">
            <a:avLst/>
          </a:prstGeom>
        </p:spPr>
      </p:pic>
      <p:pic>
        <p:nvPicPr>
          <p:cNvPr id="12" name="Grafik 11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D5668014-FFBE-AEF7-7D0B-C34D3710A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32344"/>
            <a:ext cx="5833240" cy="2557037"/>
          </a:xfrm>
          <a:prstGeom prst="rect">
            <a:avLst/>
          </a:prstGeom>
        </p:spPr>
      </p:pic>
      <p:pic>
        <p:nvPicPr>
          <p:cNvPr id="14" name="Grafik 13" descr="Ein Bild, das Text, Screenshot, Schrift, weiß enthält.&#10;&#10;KI-generierte Inhalte können fehlerhaft sein.">
            <a:extLst>
              <a:ext uri="{FF2B5EF4-FFF2-40B4-BE49-F238E27FC236}">
                <a16:creationId xmlns:a16="http://schemas.microsoft.com/office/drawing/2014/main" id="{3A45987D-4A1C-9D5E-CDE0-DA8F170815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1440" y="5556737"/>
            <a:ext cx="4971393" cy="858076"/>
          </a:xfrm>
          <a:prstGeom prst="rect">
            <a:avLst/>
          </a:prstGeom>
        </p:spPr>
      </p:pic>
      <p:pic>
        <p:nvPicPr>
          <p:cNvPr id="16" name="Grafik 15" descr="Ein Bild, das Text, Screenshot, Diagramm, Plan enthält.&#10;&#10;KI-generierte Inhalte können fehlerhaft sein.">
            <a:extLst>
              <a:ext uri="{FF2B5EF4-FFF2-40B4-BE49-F238E27FC236}">
                <a16:creationId xmlns:a16="http://schemas.microsoft.com/office/drawing/2014/main" id="{A7FC819F-00B5-E029-3603-667BB46CF5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8940" y="1029875"/>
            <a:ext cx="3554860" cy="3828311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3FC9B594-3082-E9CC-A16C-E2108E7775E4}"/>
              </a:ext>
            </a:extLst>
          </p:cNvPr>
          <p:cNvSpPr txBox="1"/>
          <p:nvPr/>
        </p:nvSpPr>
        <p:spPr>
          <a:xfrm>
            <a:off x="10898954" y="875812"/>
            <a:ext cx="1293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FFNN </a:t>
            </a:r>
            <a:r>
              <a:rPr lang="de-DE" dirty="0" err="1"/>
              <a:t>itself</a:t>
            </a:r>
            <a:endParaRPr lang="de-DE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4EC8727B-1DC1-C78D-8CF6-F414C899A7F9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10058400" y="1060478"/>
            <a:ext cx="840554" cy="526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2C44EF57-8C0D-815E-A98F-21AE49749D13}"/>
              </a:ext>
            </a:extLst>
          </p:cNvPr>
          <p:cNvSpPr txBox="1"/>
          <p:nvPr/>
        </p:nvSpPr>
        <p:spPr>
          <a:xfrm>
            <a:off x="210207" y="1950997"/>
            <a:ext cx="299751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idea</a:t>
            </a:r>
            <a:r>
              <a:rPr lang="de-DE" sz="2000" dirty="0"/>
              <a:t>: </a:t>
            </a:r>
            <a:r>
              <a:rPr lang="de-DE" sz="2000" dirty="0" err="1"/>
              <a:t>replace</a:t>
            </a:r>
            <a:r>
              <a:rPr lang="de-DE" sz="2000" dirty="0"/>
              <a:t> </a:t>
            </a:r>
            <a:r>
              <a:rPr lang="de-DE" sz="2000" dirty="0" err="1"/>
              <a:t>big</a:t>
            </a:r>
            <a:r>
              <a:rPr lang="de-DE" sz="2000" dirty="0"/>
              <a:t> FFNN </a:t>
            </a:r>
            <a:r>
              <a:rPr lang="de-DE" sz="2000" dirty="0" err="1"/>
              <a:t>with</a:t>
            </a:r>
            <a:r>
              <a:rPr lang="de-DE" sz="2000" dirty="0"/>
              <a:t> </a:t>
            </a:r>
            <a:r>
              <a:rPr lang="de-DE" sz="2000" dirty="0" err="1"/>
              <a:t>several</a:t>
            </a:r>
            <a:r>
              <a:rPr lang="de-DE" sz="2000" dirty="0"/>
              <a:t> </a:t>
            </a:r>
            <a:r>
              <a:rPr lang="de-DE" sz="2000" dirty="0" err="1"/>
              <a:t>smaller</a:t>
            </a:r>
            <a:r>
              <a:rPr lang="de-DE" sz="2000" dirty="0"/>
              <a:t> </a:t>
            </a:r>
            <a:r>
              <a:rPr lang="de-DE" sz="2000" dirty="0" err="1"/>
              <a:t>ones</a:t>
            </a:r>
            <a:r>
              <a:rPr lang="de-DE" sz="2000" dirty="0"/>
              <a:t> and </a:t>
            </a:r>
            <a:r>
              <a:rPr lang="de-DE" sz="2000" dirty="0" err="1"/>
              <a:t>activate</a:t>
            </a:r>
            <a:r>
              <a:rPr lang="de-DE" sz="2000" dirty="0"/>
              <a:t> </a:t>
            </a:r>
            <a:r>
              <a:rPr lang="de-DE" sz="2000" dirty="0" err="1"/>
              <a:t>only</a:t>
            </a:r>
            <a:r>
              <a:rPr lang="de-DE" sz="2000" dirty="0"/>
              <a:t> </a:t>
            </a:r>
            <a:r>
              <a:rPr lang="de-DE" sz="2000" dirty="0" err="1"/>
              <a:t>few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less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active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parameters</a:t>
            </a:r>
            <a:endParaRPr lang="de-DE" sz="2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6E2279A-5EDE-233C-29AF-1C06782B0E1F}"/>
              </a:ext>
            </a:extLst>
          </p:cNvPr>
          <p:cNvSpPr txBox="1"/>
          <p:nvPr/>
        </p:nvSpPr>
        <p:spPr>
          <a:xfrm>
            <a:off x="7416490" y="5141530"/>
            <a:ext cx="3519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 (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abstract</a:t>
            </a:r>
            <a:r>
              <a:rPr lang="de-DE" dirty="0"/>
              <a:t>):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D62DF5D-EF8F-9F4C-DDC4-97639D1E6E42}"/>
              </a:ext>
            </a:extLst>
          </p:cNvPr>
          <p:cNvSpPr txBox="1"/>
          <p:nvPr/>
        </p:nvSpPr>
        <p:spPr>
          <a:xfrm>
            <a:off x="48013" y="4232344"/>
            <a:ext cx="3159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different </a:t>
            </a:r>
            <a:r>
              <a:rPr lang="de-DE" dirty="0" err="1"/>
              <a:t>paths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662094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DC3600-F4C8-ACC4-6113-E44964F21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  <p:pic>
        <p:nvPicPr>
          <p:cNvPr id="5" name="Picture 2" descr="Logo">
            <a:extLst>
              <a:ext uri="{FF2B5EF4-FFF2-40B4-BE49-F238E27FC236}">
                <a16:creationId xmlns:a16="http://schemas.microsoft.com/office/drawing/2014/main" id="{A2D6124E-633B-838E-B2D5-6192C2426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540" y="1483125"/>
            <a:ext cx="1580391" cy="1580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undefined">
            <a:extLst>
              <a:ext uri="{FF2B5EF4-FFF2-40B4-BE49-F238E27FC236}">
                <a16:creationId xmlns:a16="http://schemas.microsoft.com/office/drawing/2014/main" id="{B1A37638-D40C-91AB-AFB0-5FF45793AF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156" y="2715514"/>
            <a:ext cx="2977801" cy="1099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undefined">
            <a:extLst>
              <a:ext uri="{FF2B5EF4-FFF2-40B4-BE49-F238E27FC236}">
                <a16:creationId xmlns:a16="http://schemas.microsoft.com/office/drawing/2014/main" id="{45ADD39D-185E-C348-0B53-4320711FC7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280" y="1500614"/>
            <a:ext cx="3579424" cy="769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8" descr="undefined">
            <a:extLst>
              <a:ext uri="{FF2B5EF4-FFF2-40B4-BE49-F238E27FC236}">
                <a16:creationId xmlns:a16="http://schemas.microsoft.com/office/drawing/2014/main" id="{29944F1A-2964-AB8F-CACC-9FD8125CFE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1957" y="4890013"/>
            <a:ext cx="3390602" cy="769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8132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E76F0-7C55-B3F1-5699-637A993D9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15</a:t>
            </a:fld>
            <a:endParaRPr lang="en-D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710C09-6F15-99CA-8C5A-7A02262CD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" y="0"/>
            <a:ext cx="5901671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5200411-FF70-25C1-C2F2-206D286BE771}"/>
              </a:ext>
            </a:extLst>
          </p:cNvPr>
          <p:cNvSpPr txBox="1"/>
          <p:nvPr/>
        </p:nvSpPr>
        <p:spPr>
          <a:xfrm>
            <a:off x="5371359" y="653891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5" name="Picture 4" descr="A graph showing the difference between open-weight models&#10;&#10;Description automatically generated">
            <a:extLst>
              <a:ext uri="{FF2B5EF4-FFF2-40B4-BE49-F238E27FC236}">
                <a16:creationId xmlns:a16="http://schemas.microsoft.com/office/drawing/2014/main" id="{00A7A0FB-EFC4-6194-813D-3FC56159A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549401"/>
            <a:ext cx="5959353" cy="4055533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13C88423-F1A1-B07B-B03E-8C5994BA6A55}"/>
              </a:ext>
            </a:extLst>
          </p:cNvPr>
          <p:cNvSpPr txBox="1"/>
          <p:nvPr/>
        </p:nvSpPr>
        <p:spPr>
          <a:xfrm>
            <a:off x="9982200" y="797985"/>
            <a:ext cx="9879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5"/>
              </a:rPr>
              <a:t>Llama 3</a:t>
            </a:r>
            <a:r>
              <a:rPr lang="en-GB" dirty="0"/>
              <a:t>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846262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BC5A5AD-9682-566E-A0E7-1FF021B73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992BEDA-AAD0-0BE4-DB45-81FC80BDD380}"/>
              </a:ext>
            </a:extLst>
          </p:cNvPr>
          <p:cNvSpPr txBox="1"/>
          <p:nvPr/>
        </p:nvSpPr>
        <p:spPr>
          <a:xfrm>
            <a:off x="546538" y="2936557"/>
            <a:ext cx="145770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>
                <a:hlinkClick r:id="rId2"/>
              </a:rPr>
              <a:t>LMArena</a:t>
            </a:r>
            <a:endParaRPr lang="de-DE" sz="2600" dirty="0"/>
          </a:p>
        </p:txBody>
      </p:sp>
      <p:pic>
        <p:nvPicPr>
          <p:cNvPr id="6" name="Grafik 5" descr="Ein Bild, das Text, Screenshot, Zahl, Dokument enthält.&#10;&#10;KI-generierte Inhalte können fehlerhaft sein.">
            <a:extLst>
              <a:ext uri="{FF2B5EF4-FFF2-40B4-BE49-F238E27FC236}">
                <a16:creationId xmlns:a16="http://schemas.microsoft.com/office/drawing/2014/main" id="{1C8EDB32-B071-B136-B60D-35BBB7E9CE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226415"/>
            <a:ext cx="7772400" cy="640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031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506262BA-AE93-BBE6-3A2D-660FFBAB3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  <p:pic>
        <p:nvPicPr>
          <p:cNvPr id="6" name="Grafik 5" descr="Ein Bild, das Screenshot, Diagramm, Text, Reihe enthält.&#10;&#10;KI-generierte Inhalte können fehlerhaft sein.">
            <a:extLst>
              <a:ext uri="{FF2B5EF4-FFF2-40B4-BE49-F238E27FC236}">
                <a16:creationId xmlns:a16="http://schemas.microsoft.com/office/drawing/2014/main" id="{ACBBB43E-6D01-0E2C-4F48-8B4027BCEF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6525"/>
            <a:ext cx="10444817" cy="62609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64B754-3B35-012F-F973-FC3151093A90}"/>
              </a:ext>
            </a:extLst>
          </p:cNvPr>
          <p:cNvSpPr txBox="1"/>
          <p:nvPr/>
        </p:nvSpPr>
        <p:spPr>
          <a:xfrm>
            <a:off x="11283017" y="5561450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59329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43561-528E-5056-1EE8-977C6F127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Another Trend: Small Language Models (SLM)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BA4CD-1995-5EAA-EEA3-F6FDCF1DC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most powerful LLMs keep getting bigger (&gt; 1 trillion parameters)</a:t>
            </a:r>
          </a:p>
          <a:p>
            <a:pPr marL="0" indent="0">
              <a:buNone/>
            </a:pPr>
            <a:r>
              <a:rPr lang="en-GB" dirty="0">
                <a:hlinkClick r:id="rId2"/>
              </a:rPr>
              <a:t>GPT-4o</a:t>
            </a:r>
            <a:r>
              <a:rPr lang="en-GB" dirty="0"/>
              <a:t>, </a:t>
            </a:r>
            <a:r>
              <a:rPr lang="en-GB" dirty="0">
                <a:hlinkClick r:id="rId3"/>
              </a:rPr>
              <a:t>Claude 3.5</a:t>
            </a:r>
            <a:r>
              <a:rPr lang="en-GB" dirty="0"/>
              <a:t>, </a:t>
            </a:r>
            <a:r>
              <a:rPr lang="en-GB" dirty="0">
                <a:hlinkClick r:id="rId4"/>
              </a:rPr>
              <a:t>Gemini 1.5</a:t>
            </a:r>
            <a:r>
              <a:rPr lang="en-GB" dirty="0"/>
              <a:t>, …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slimmed-down (yet still strong) versions get smaller</a:t>
            </a:r>
          </a:p>
          <a:p>
            <a:pPr marL="0" indent="0">
              <a:buNone/>
            </a:pPr>
            <a:r>
              <a:rPr lang="en-GB" dirty="0">
                <a:hlinkClick r:id="rId5"/>
              </a:rPr>
              <a:t>Gemma</a:t>
            </a:r>
            <a:r>
              <a:rPr lang="en-GB" dirty="0"/>
              <a:t> (2B), </a:t>
            </a:r>
            <a:r>
              <a:rPr lang="en-GB" dirty="0">
                <a:hlinkClick r:id="rId6"/>
              </a:rPr>
              <a:t>Phi-3</a:t>
            </a:r>
            <a:r>
              <a:rPr lang="en-GB" dirty="0"/>
              <a:t> (3.8B), </a:t>
            </a:r>
            <a:r>
              <a:rPr lang="en-GB" dirty="0">
                <a:hlinkClick r:id="rId7"/>
              </a:rPr>
              <a:t>Mistral 7B</a:t>
            </a:r>
            <a:r>
              <a:rPr lang="en-GB" dirty="0"/>
              <a:t>, </a:t>
            </a:r>
            <a:r>
              <a:rPr lang="en-GB" dirty="0">
                <a:hlinkClick r:id="rId8"/>
              </a:rPr>
              <a:t>Llama3</a:t>
            </a:r>
            <a:r>
              <a:rPr lang="en-GB" dirty="0"/>
              <a:t> (8B), …</a:t>
            </a:r>
          </a:p>
          <a:p>
            <a:pPr marL="0" indent="0">
              <a:buNone/>
            </a:pPr>
            <a:r>
              <a:rPr lang="en-GB" dirty="0"/>
              <a:t>can run (inference) on laptops, smartphones, etc.</a:t>
            </a:r>
          </a:p>
          <a:p>
            <a:pPr marL="0" indent="0">
              <a:buNone/>
            </a:pPr>
            <a:r>
              <a:rPr lang="en-GB" dirty="0"/>
              <a:t>easier fine-tuning </a:t>
            </a:r>
            <a:r>
              <a:rPr lang="en-GB" dirty="0">
                <a:sym typeface="Wingdings" panose="05000000000000000000" pitchFamily="2" charset="2"/>
              </a:rPr>
              <a:t> specific tasks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9EE0D7-0AED-8609-28A0-820B83EE7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61575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64A12374-ACEF-7777-B3C5-6F49491F5D56}"/>
              </a:ext>
            </a:extLst>
          </p:cNvPr>
          <p:cNvSpPr/>
          <p:nvPr/>
        </p:nvSpPr>
        <p:spPr>
          <a:xfrm>
            <a:off x="745942" y="4719145"/>
            <a:ext cx="10515601" cy="119817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9D95965F-A1BA-CDDF-A468-03E138217116}"/>
              </a:ext>
            </a:extLst>
          </p:cNvPr>
          <p:cNvSpPr/>
          <p:nvPr/>
        </p:nvSpPr>
        <p:spPr>
          <a:xfrm>
            <a:off x="745942" y="2543504"/>
            <a:ext cx="10515601" cy="178675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Abgerundetes Rechteck 1">
            <a:extLst>
              <a:ext uri="{FF2B5EF4-FFF2-40B4-BE49-F238E27FC236}">
                <a16:creationId xmlns:a16="http://schemas.microsoft.com/office/drawing/2014/main" id="{2A945196-42B4-0694-0FE2-DC64A74C1330}"/>
              </a:ext>
            </a:extLst>
          </p:cNvPr>
          <p:cNvSpPr/>
          <p:nvPr/>
        </p:nvSpPr>
        <p:spPr>
          <a:xfrm>
            <a:off x="745943" y="1759389"/>
            <a:ext cx="10515601" cy="39523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D4E78A-896B-C79A-E2FE-5D9193754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Modern Language Models in a Nutshell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08D6CC-B86F-1636-6F85-AB0B7A2A3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b="1" dirty="0"/>
              <a:t>tokenization</a:t>
            </a:r>
            <a:r>
              <a:rPr lang="en-GB" dirty="0"/>
              <a:t> (split text into chunks)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pretraining</a:t>
            </a:r>
            <a:r>
              <a:rPr lang="en-GB" dirty="0"/>
              <a:t> of transformer (next- or masked-token prediction, self-supervised)</a:t>
            </a:r>
          </a:p>
          <a:p>
            <a:r>
              <a:rPr lang="en-GB" dirty="0"/>
              <a:t>vector embeddings from tokens (semantic meaning)</a:t>
            </a:r>
            <a:endParaRPr lang="en-GB" dirty="0">
              <a:sym typeface="Wingdings" pitchFamily="2" charset="2"/>
            </a:endParaRPr>
          </a:p>
          <a:p>
            <a:r>
              <a:rPr lang="en-GB" dirty="0"/>
              <a:t>add positional encoding to embeddings (use order of sequence, as attention is permutation-invariant)</a:t>
            </a:r>
          </a:p>
          <a:p>
            <a:r>
              <a:rPr lang="en-GB" dirty="0"/>
              <a:t>attention mechanism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contextual embeddings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finetuning</a:t>
            </a:r>
            <a:r>
              <a:rPr lang="en-GB" dirty="0"/>
              <a:t> (specialization)</a:t>
            </a:r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(</a:t>
            </a:r>
            <a:r>
              <a:rPr lang="de-DE" dirty="0" err="1"/>
              <a:t>encoder</a:t>
            </a:r>
            <a:r>
              <a:rPr lang="de-DE" dirty="0"/>
              <a:t> LLM)</a:t>
            </a:r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(</a:t>
            </a:r>
            <a:r>
              <a:rPr lang="de-DE" dirty="0" err="1"/>
              <a:t>decoder</a:t>
            </a:r>
            <a:r>
              <a:rPr lang="de-DE" dirty="0"/>
              <a:t> LLM),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followed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68FCF-2CF1-B3CF-F33E-FD3F880A8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19</a:t>
            </a:fld>
            <a:endParaRPr lang="en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A5C59CD-A8C5-4A51-66B1-AC6DAA4DC971}"/>
              </a:ext>
            </a:extLst>
          </p:cNvPr>
          <p:cNvSpPr txBox="1"/>
          <p:nvPr/>
        </p:nvSpPr>
        <p:spPr>
          <a:xfrm rot="5400000">
            <a:off x="11013035" y="2825809"/>
            <a:ext cx="1804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chemeClr val="bg2">
                    <a:lumMod val="50000"/>
                  </a:schemeClr>
                </a:solidFill>
              </a:rPr>
              <a:t>discussed</a:t>
            </a:r>
            <a:r>
              <a:rPr lang="de-DE" dirty="0">
                <a:solidFill>
                  <a:schemeClr val="bg2">
                    <a:lumMod val="50000"/>
                  </a:schemeClr>
                </a:solidFill>
              </a:rPr>
              <a:t> so </a:t>
            </a:r>
            <a:r>
              <a:rPr lang="de-DE" dirty="0" err="1">
                <a:solidFill>
                  <a:schemeClr val="bg2">
                    <a:lumMod val="50000"/>
                  </a:schemeClr>
                </a:solidFill>
              </a:rPr>
              <a:t>far</a:t>
            </a:r>
            <a:endParaRPr lang="de-DE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" name="Geschweifte Klammer rechts 8">
            <a:extLst>
              <a:ext uri="{FF2B5EF4-FFF2-40B4-BE49-F238E27FC236}">
                <a16:creationId xmlns:a16="http://schemas.microsoft.com/office/drawing/2014/main" id="{65E0FB46-A654-898A-003A-DCE1B3AC75E7}"/>
              </a:ext>
            </a:extLst>
          </p:cNvPr>
          <p:cNvSpPr/>
          <p:nvPr/>
        </p:nvSpPr>
        <p:spPr>
          <a:xfrm>
            <a:off x="11446057" y="1690688"/>
            <a:ext cx="284354" cy="2639574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024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825</Words>
  <Application>Microsoft Macintosh PowerPoint</Application>
  <PresentationFormat>Breitbild</PresentationFormat>
  <Paragraphs>150</Paragraphs>
  <Slides>19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Wingdings</vt:lpstr>
      <vt:lpstr>Office Theme</vt:lpstr>
      <vt:lpstr>LLMs</vt:lpstr>
      <vt:lpstr>Course Contents</vt:lpstr>
      <vt:lpstr>This Part: LLMs</vt:lpstr>
      <vt:lpstr>Transformer Architectures for LLMs</vt:lpstr>
      <vt:lpstr>Encoder-Decoder Attention</vt:lpstr>
      <vt:lpstr>Example for Encoder-Only LLM</vt:lpstr>
      <vt:lpstr>BERT Variants</vt:lpstr>
      <vt:lpstr>Example for Decoder-Only LLM</vt:lpstr>
      <vt:lpstr>GPT Evolution</vt:lpstr>
      <vt:lpstr>Size Matters: LARGE Language Models</vt:lpstr>
      <vt:lpstr>Some LLM Numbers</vt:lpstr>
      <vt:lpstr>PowerPoint-Präsentation</vt:lpstr>
      <vt:lpstr>Mixture-of-Experts (MoE)</vt:lpstr>
      <vt:lpstr>PowerPoint-Präsentation</vt:lpstr>
      <vt:lpstr>PowerPoint-Präsentation</vt:lpstr>
      <vt:lpstr>PowerPoint-Präsentation</vt:lpstr>
      <vt:lpstr>PowerPoint-Präsentation</vt:lpstr>
      <vt:lpstr>Another Trend: Small Language Models (SLM)</vt:lpstr>
      <vt:lpstr>Modern Language Models in a Nutshell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89</cp:revision>
  <dcterms:created xsi:type="dcterms:W3CDTF">2025-01-09T11:24:27Z</dcterms:created>
  <dcterms:modified xsi:type="dcterms:W3CDTF">2025-09-10T20:48:58Z</dcterms:modified>
</cp:coreProperties>
</file>