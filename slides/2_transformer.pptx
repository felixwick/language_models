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792" r:id="rId3"/>
    <p:sldId id="790" r:id="rId4"/>
    <p:sldId id="316" r:id="rId5"/>
    <p:sldId id="324" r:id="rId6"/>
    <p:sldId id="712" r:id="rId7"/>
    <p:sldId id="676" r:id="rId8"/>
    <p:sldId id="672" r:id="rId9"/>
    <p:sldId id="793" r:id="rId10"/>
    <p:sldId id="738" r:id="rId11"/>
    <p:sldId id="741" r:id="rId12"/>
    <p:sldId id="308" r:id="rId13"/>
    <p:sldId id="742" r:id="rId14"/>
    <p:sldId id="768" r:id="rId15"/>
    <p:sldId id="675" r:id="rId16"/>
    <p:sldId id="743" r:id="rId17"/>
    <p:sldId id="313" r:id="rId18"/>
    <p:sldId id="794" r:id="rId19"/>
    <p:sldId id="318" r:id="rId20"/>
    <p:sldId id="692" r:id="rId21"/>
    <p:sldId id="299" r:id="rId22"/>
    <p:sldId id="269" r:id="rId23"/>
    <p:sldId id="795" r:id="rId24"/>
    <p:sldId id="305" r:id="rId25"/>
    <p:sldId id="796" r:id="rId26"/>
    <p:sldId id="79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78"/>
    <p:restoredTop sz="94721"/>
  </p:normalViewPr>
  <p:slideViewPr>
    <p:cSldViewPr snapToGrid="0">
      <p:cViewPr varScale="1">
        <p:scale>
          <a:sx n="108" d="100"/>
          <a:sy n="108" d="100"/>
        </p:scale>
        <p:origin x="9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1" dirty="0"/>
            <a:t>Transformer</a:t>
          </a:r>
          <a:endParaRPr lang="en-US" b="1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769F0AC1-E7CF-C944-B9AF-EA28932D2656}">
      <dgm:prSet/>
      <dgm:spPr/>
      <dgm:t>
        <a:bodyPr/>
        <a:lstStyle/>
        <a:p>
          <a:r>
            <a:rPr lang="en-US" b="0" dirty="0"/>
            <a:t>Instruction Tuning</a:t>
          </a:r>
        </a:p>
      </dgm:t>
    </dgm:pt>
    <dgm:pt modelId="{8FBFB482-1FAC-2647-9582-FBF2BE51B42C}" type="parTrans" cxnId="{B2C31AC5-CC8D-7848-BF48-4E93CF15F78C}">
      <dgm:prSet/>
      <dgm:spPr/>
      <dgm:t>
        <a:bodyPr/>
        <a:lstStyle/>
        <a:p>
          <a:endParaRPr lang="de-DE"/>
        </a:p>
      </dgm:t>
    </dgm:pt>
    <dgm:pt modelId="{202C7746-1898-184B-8901-869D8C7ADB05}" type="sibTrans" cxnId="{B2C31AC5-CC8D-7848-BF48-4E93CF15F78C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8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8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8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8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8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8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8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8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8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8"/>
      <dgm:spPr/>
    </dgm:pt>
    <dgm:pt modelId="{7F071049-5D5A-2445-8B31-652B1063C281}" type="pres">
      <dgm:prSet presAssocID="{288D3E87-5781-4F83-84CB-1610EAD21773}" presName="vert1" presStyleCnt="0"/>
      <dgm:spPr/>
    </dgm:pt>
    <dgm:pt modelId="{322460D7-6763-F646-87E9-10A1FE9FDC20}" type="pres">
      <dgm:prSet presAssocID="{769F0AC1-E7CF-C944-B9AF-EA28932D2656}" presName="thickLine" presStyleLbl="alignNode1" presStyleIdx="5" presStyleCnt="8"/>
      <dgm:spPr/>
    </dgm:pt>
    <dgm:pt modelId="{2E474F08-D54F-E14D-9A99-2C037C893DD5}" type="pres">
      <dgm:prSet presAssocID="{769F0AC1-E7CF-C944-B9AF-EA28932D2656}" presName="horz1" presStyleCnt="0"/>
      <dgm:spPr/>
    </dgm:pt>
    <dgm:pt modelId="{9B5DA0EB-3C02-EE40-A02E-5B28D39BEF31}" type="pres">
      <dgm:prSet presAssocID="{769F0AC1-E7CF-C944-B9AF-EA28932D2656}" presName="tx1" presStyleLbl="revTx" presStyleIdx="5" presStyleCnt="8"/>
      <dgm:spPr/>
    </dgm:pt>
    <dgm:pt modelId="{062608B4-F5A4-C943-8091-EEFBA40E325A}" type="pres">
      <dgm:prSet presAssocID="{769F0AC1-E7CF-C944-B9AF-EA28932D2656}" presName="vert1" presStyleCnt="0"/>
      <dgm:spPr/>
    </dgm:pt>
    <dgm:pt modelId="{3D5DC94A-13EE-9348-AB63-BA6D7AB77EF3}" type="pres">
      <dgm:prSet presAssocID="{DDA901FD-5C05-41F1-A824-5C833C35698E}" presName="thickLine" presStyleLbl="alignNode1" presStyleIdx="6" presStyleCnt="8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6" presStyleCnt="8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7" presStyleCnt="8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7" presStyleCnt="8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6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5E824FB9-2CC4-6F45-B749-FE401FFAEECB}" type="presOf" srcId="{769F0AC1-E7CF-C944-B9AF-EA28932D2656}" destId="{9B5DA0EB-3C02-EE40-A02E-5B28D39BEF31}" srcOrd="0" destOrd="0" presId="urn:microsoft.com/office/officeart/2008/layout/LinedList"/>
    <dgm:cxn modelId="{B2C31AC5-CC8D-7848-BF48-4E93CF15F78C}" srcId="{56648FB5-C09B-4C87-AEF3-A553C798BCF5}" destId="{769F0AC1-E7CF-C944-B9AF-EA28932D2656}" srcOrd="5" destOrd="0" parTransId="{8FBFB482-1FAC-2647-9582-FBF2BE51B42C}" sibTransId="{202C7746-1898-184B-8901-869D8C7ADB05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7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9A7F5AD0-DD95-3843-95C2-CCB3573D0F7B}" type="presParOf" srcId="{7852B3C2-A44C-F446-9060-CA21A0D28991}" destId="{322460D7-6763-F646-87E9-10A1FE9FDC20}" srcOrd="10" destOrd="0" presId="urn:microsoft.com/office/officeart/2008/layout/LinedList"/>
    <dgm:cxn modelId="{0F8C97D4-B05E-6947-AB11-E0CE7BA1FBBB}" type="presParOf" srcId="{7852B3C2-A44C-F446-9060-CA21A0D28991}" destId="{2E474F08-D54F-E14D-9A99-2C037C893DD5}" srcOrd="11" destOrd="0" presId="urn:microsoft.com/office/officeart/2008/layout/LinedList"/>
    <dgm:cxn modelId="{24B86091-C966-5641-9975-3A18E8CC2451}" type="presParOf" srcId="{2E474F08-D54F-E14D-9A99-2C037C893DD5}" destId="{9B5DA0EB-3C02-EE40-A02E-5B28D39BEF31}" srcOrd="0" destOrd="0" presId="urn:microsoft.com/office/officeart/2008/layout/LinedList"/>
    <dgm:cxn modelId="{C6076B37-8BDA-7348-B420-D00A46E8547E}" type="presParOf" srcId="{2E474F08-D54F-E14D-9A99-2C037C893DD5}" destId="{062608B4-F5A4-C943-8091-EEFBA40E325A}" srcOrd="1" destOrd="0" presId="urn:microsoft.com/office/officeart/2008/layout/LinedList"/>
    <dgm:cxn modelId="{7A9EE529-C307-D440-8910-336F08C35B83}" type="presParOf" srcId="{7852B3C2-A44C-F446-9060-CA21A0D28991}" destId="{3D5DC94A-13EE-9348-AB63-BA6D7AB77EF3}" srcOrd="12" destOrd="0" presId="urn:microsoft.com/office/officeart/2008/layout/LinedList"/>
    <dgm:cxn modelId="{B6134942-BB7E-6A49-B625-7DF71CC12E8A}" type="presParOf" srcId="{7852B3C2-A44C-F446-9060-CA21A0D28991}" destId="{27EB4548-6597-7A48-B8EB-8D5D075E0879}" srcOrd="13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4" destOrd="0" presId="urn:microsoft.com/office/officeart/2008/layout/LinedList"/>
    <dgm:cxn modelId="{3CB3EB14-3FB4-7040-B2C6-572E38DFBAF8}" type="presParOf" srcId="{7852B3C2-A44C-F446-9060-CA21A0D28991}" destId="{FE30EA44-022B-FF41-BE9E-EF735E26A50E}" srcOrd="15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0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Deep Learning</a:t>
          </a:r>
          <a:endParaRPr lang="en-US" sz="2500" b="0" kern="1200" dirty="0"/>
        </a:p>
      </dsp:txBody>
      <dsp:txXfrm>
        <a:off x="0" y="0"/>
        <a:ext cx="10515600" cy="543917"/>
      </dsp:txXfrm>
    </dsp:sp>
    <dsp:sp modelId="{A11F9CE2-7889-D042-B67A-3B946F072596}">
      <dsp:nvSpPr>
        <dsp:cNvPr id="0" name=""/>
        <dsp:cNvSpPr/>
      </dsp:nvSpPr>
      <dsp:spPr>
        <a:xfrm>
          <a:off x="0" y="54391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543917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kern="1200" dirty="0"/>
            <a:t>Transformer</a:t>
          </a:r>
          <a:endParaRPr lang="en-US" sz="2500" b="1" kern="1200" dirty="0"/>
        </a:p>
      </dsp:txBody>
      <dsp:txXfrm>
        <a:off x="0" y="543917"/>
        <a:ext cx="10515600" cy="543917"/>
      </dsp:txXfrm>
    </dsp:sp>
    <dsp:sp modelId="{9D950D6B-5C89-8A48-9960-CA8B4C499A1A}">
      <dsp:nvSpPr>
        <dsp:cNvPr id="0" name=""/>
        <dsp:cNvSpPr/>
      </dsp:nvSpPr>
      <dsp:spPr>
        <a:xfrm>
          <a:off x="0" y="108783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087834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LLMs</a:t>
          </a:r>
        </a:p>
      </dsp:txBody>
      <dsp:txXfrm>
        <a:off x="0" y="1087834"/>
        <a:ext cx="10515600" cy="543917"/>
      </dsp:txXfrm>
    </dsp:sp>
    <dsp:sp modelId="{34CF0AAF-5C3E-5349-AD9D-2034F634313C}">
      <dsp:nvSpPr>
        <dsp:cNvPr id="0" name=""/>
        <dsp:cNvSpPr/>
      </dsp:nvSpPr>
      <dsp:spPr>
        <a:xfrm>
          <a:off x="0" y="163175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631751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Context Engineering</a:t>
          </a:r>
        </a:p>
      </dsp:txBody>
      <dsp:txXfrm>
        <a:off x="0" y="1631751"/>
        <a:ext cx="10515600" cy="543917"/>
      </dsp:txXfrm>
    </dsp:sp>
    <dsp:sp modelId="{8A505F94-65E4-9D41-AC2C-CCE8BD4C175F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175669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Finetuning</a:t>
          </a:r>
          <a:endParaRPr lang="en-US" sz="2500" b="0" kern="1200" dirty="0"/>
        </a:p>
      </dsp:txBody>
      <dsp:txXfrm>
        <a:off x="0" y="2175669"/>
        <a:ext cx="10515600" cy="543917"/>
      </dsp:txXfrm>
    </dsp:sp>
    <dsp:sp modelId="{322460D7-6763-F646-87E9-10A1FE9FDC20}">
      <dsp:nvSpPr>
        <dsp:cNvPr id="0" name=""/>
        <dsp:cNvSpPr/>
      </dsp:nvSpPr>
      <dsp:spPr>
        <a:xfrm>
          <a:off x="0" y="2719586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5DA0EB-3C02-EE40-A02E-5B28D39BEF31}">
      <dsp:nvSpPr>
        <dsp:cNvPr id="0" name=""/>
        <dsp:cNvSpPr/>
      </dsp:nvSpPr>
      <dsp:spPr>
        <a:xfrm>
          <a:off x="0" y="2719586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Instruction Tuning</a:t>
          </a:r>
        </a:p>
      </dsp:txBody>
      <dsp:txXfrm>
        <a:off x="0" y="2719586"/>
        <a:ext cx="10515600" cy="543917"/>
      </dsp:txXfrm>
    </dsp:sp>
    <dsp:sp modelId="{3D5DC94A-13EE-9348-AB63-BA6D7AB77EF3}">
      <dsp:nvSpPr>
        <dsp:cNvPr id="0" name=""/>
        <dsp:cNvSpPr/>
      </dsp:nvSpPr>
      <dsp:spPr>
        <a:xfrm>
          <a:off x="0" y="326350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263503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 err="1"/>
            <a:t>Agents</a:t>
          </a:r>
          <a:endParaRPr lang="en-US" sz="2500" kern="1200" dirty="0"/>
        </a:p>
      </dsp:txBody>
      <dsp:txXfrm>
        <a:off x="0" y="3263503"/>
        <a:ext cx="10515600" cy="543917"/>
      </dsp:txXfrm>
    </dsp:sp>
    <dsp:sp modelId="{20D72B1E-AD82-9E49-86D8-09A4DD4D6212}">
      <dsp:nvSpPr>
        <dsp:cNvPr id="0" name=""/>
        <dsp:cNvSpPr/>
      </dsp:nvSpPr>
      <dsp:spPr>
        <a:xfrm>
          <a:off x="0" y="380742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807420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The Bigger Picture</a:t>
          </a:r>
          <a:endParaRPr lang="en-US" sz="2500" b="0" kern="1200" dirty="0"/>
        </a:p>
      </dsp:txBody>
      <dsp:txXfrm>
        <a:off x="0" y="3807420"/>
        <a:ext cx="10515600" cy="5439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09/09/2025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DD2EAE-8CF6-1B4C-B610-E32317FB1949}" type="slidenum">
              <a:rPr lang="en-DE" smtClean="0"/>
              <a:t>22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310452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09/09/2025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09/09/2025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09/09/2025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09/09/2025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09/09/2025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09/09/2025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09/09/2025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09/09/2025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09/09/2025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09/09/2025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09/09/2025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09/09/2025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105.13626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word2vec/" TargetMode="External"/><Relationship Id="rId7" Type="http://schemas.openxmlformats.org/officeDocument/2006/relationships/image" Target="../media/image4.png"/><Relationship Id="rId2" Type="http://schemas.openxmlformats.org/officeDocument/2006/relationships/hyperlink" Target="https://arxiv.org/abs/1301.3781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411.2738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jalammar.github.io/illustrated-word2vec/" TargetMode="Externa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yncedreview.com/2019/02/22/yann-lecun-cake-analogy-2-0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arxiv.org/abs/1706.03762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hyperlink" Target="http://jalammar.github.io/illustrated-transformer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2.png"/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6.png"/><Relationship Id="rId4" Type="http://schemas.openxmlformats.org/officeDocument/2006/relationships/hyperlink" Target="https://arxiv.org/abs/1706.03762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hyperlink" Target="https://medium.com/@alexmriggio/bert-for-sequence-classification-from-scratch-code-and-theory-fb88053800fa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3762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jalammar.github.io/illustrated-transformer/" TargetMode="Externa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hyperlink" Target="https://arxiv.org/abs/2104.09864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transformer/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502.03167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ewsletter.maartengrootendorst.com/p/a-visual-guide-to-mixture-of-experts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2eml.school/transformer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Transformer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508479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67049E-4AA0-8D84-7669-3EA68C9E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Transformer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19594E-42C7-982A-BCBD-45DEE050C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tokenizer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embeddings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embeddings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generation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A4D195-B0D0-5BB8-D24F-20E2DFAAB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811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CD64E-9137-DB65-2A7B-5B3F3547B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AE38B-2886-8949-7F2C-02B7E0B02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okenization: </a:t>
            </a:r>
            <a:r>
              <a:rPr lang="en-GB" sz="2600" i="1" dirty="0"/>
              <a:t>breaking text in chunks</a:t>
            </a:r>
            <a:endParaRPr lang="en-DE" sz="2600" dirty="0"/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w</a:t>
            </a:r>
            <a:r>
              <a:rPr lang="en-DE" sz="2600" dirty="0"/>
              <a:t>ord tokens: different forms, spellings, etc </a:t>
            </a:r>
            <a:r>
              <a:rPr lang="en-DE" sz="2600" dirty="0">
                <a:sym typeface="Wingdings" pitchFamily="2" charset="2"/>
              </a:rPr>
              <a:t> undefined and </a:t>
            </a:r>
            <a:r>
              <a:rPr lang="en-DE" sz="2600" dirty="0"/>
              <a:t>vast vocabulary</a:t>
            </a:r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c</a:t>
            </a:r>
            <a:r>
              <a:rPr lang="en-DE" sz="2600" dirty="0"/>
              <a:t>haracter tokens: not enough semantic content</a:t>
            </a:r>
            <a:r>
              <a:rPr lang="en-GB" sz="2600" dirty="0"/>
              <a:t> (longer sequences)</a:t>
            </a:r>
          </a:p>
          <a:p>
            <a:pPr marL="0" indent="0">
              <a:buNone/>
            </a:pPr>
            <a:endParaRPr lang="en-DE" sz="2600" dirty="0"/>
          </a:p>
          <a:p>
            <a:r>
              <a:rPr lang="en-GB" sz="2600" dirty="0"/>
              <a:t>popular compromise: b</a:t>
            </a:r>
            <a:r>
              <a:rPr lang="en-DE" sz="2600" dirty="0"/>
              <a:t>yte-pair encoding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5D2E7-9E65-1542-F0FB-EAE56013E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61196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68E75-25D0-D065-ECCD-7EEE69790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</a:t>
            </a:r>
            <a:r>
              <a:rPr lang="en-DE" dirty="0"/>
              <a:t>yte-Pair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FF397-DCA5-411D-1D8D-8CA81BC7C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8326821" cy="45307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DE" sz="2400" dirty="0"/>
              <a:t>data compression method used for encoding text as sequence of tokens</a:t>
            </a:r>
            <a:r>
              <a:rPr lang="en-GB" sz="2400" dirty="0"/>
              <a:t> (sub-words)</a:t>
            </a:r>
            <a:endParaRPr lang="en-DE" sz="2400" dirty="0"/>
          </a:p>
          <a:p>
            <a:r>
              <a:rPr lang="en-GB" sz="2400" dirty="0"/>
              <a:t>m</a:t>
            </a:r>
            <a:r>
              <a:rPr lang="en-DE" sz="2400" dirty="0"/>
              <a:t>erging token pairs (starting with characters) with maximum frequency</a:t>
            </a:r>
          </a:p>
          <a:p>
            <a:r>
              <a:rPr lang="en-GB" sz="2400" dirty="0"/>
              <a:t>continue merging until defined fixed vocabulary size (hyperparameter) is reached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/>
              <a:t>common w</a:t>
            </a:r>
            <a:r>
              <a:rPr lang="en-DE" sz="2400" dirty="0"/>
              <a:t>ords encoded as single token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/>
              <a:t>r</a:t>
            </a:r>
            <a:r>
              <a:rPr lang="en-DE" sz="2400" dirty="0"/>
              <a:t>are words encoded as </a:t>
            </a:r>
            <a:r>
              <a:rPr lang="en-GB" sz="2400" dirty="0"/>
              <a:t>s</a:t>
            </a:r>
            <a:r>
              <a:rPr lang="en-DE" sz="2400" dirty="0"/>
              <a:t>equence of tokens (representing word parts)</a:t>
            </a: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alternative: direct operation on bytes (e.g., </a:t>
            </a:r>
            <a:r>
              <a:rPr lang="en-GB" sz="2400" dirty="0">
                <a:hlinkClick r:id="rId2"/>
              </a:rPr>
              <a:t>ByT5</a:t>
            </a:r>
            <a:r>
              <a:rPr lang="en-GB" sz="2400" dirty="0"/>
              <a:t>)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8D608-4D97-0620-68A2-1BBA73E57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309C6D-A4F7-3F4F-DA6A-7B435A8E1E67}"/>
              </a:ext>
            </a:extLst>
          </p:cNvPr>
          <p:cNvSpPr txBox="1"/>
          <p:nvPr/>
        </p:nvSpPr>
        <p:spPr>
          <a:xfrm>
            <a:off x="9910432" y="1878926"/>
            <a:ext cx="1556354" cy="36933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 err="1"/>
              <a:t>aaabdaaabac</a:t>
            </a:r>
            <a:endParaRPr lang="en-GB" dirty="0"/>
          </a:p>
          <a:p>
            <a:endParaRPr lang="en-GB" dirty="0"/>
          </a:p>
          <a:p>
            <a:r>
              <a:rPr lang="en-GB" dirty="0" err="1"/>
              <a:t>ZabdZabac</a:t>
            </a:r>
            <a:endParaRPr lang="en-GB" dirty="0"/>
          </a:p>
          <a:p>
            <a:r>
              <a:rPr lang="en-GB" dirty="0"/>
              <a:t>Z=aa</a:t>
            </a:r>
            <a:endParaRPr lang="en-DE" dirty="0"/>
          </a:p>
          <a:p>
            <a:endParaRPr lang="en-DE" dirty="0"/>
          </a:p>
          <a:p>
            <a:r>
              <a:rPr lang="en-GB" dirty="0" err="1"/>
              <a:t>ZYdZYac</a:t>
            </a:r>
            <a:endParaRPr lang="en-GB" dirty="0"/>
          </a:p>
          <a:p>
            <a:r>
              <a:rPr lang="en-GB" dirty="0"/>
              <a:t>Y=ab</a:t>
            </a:r>
          </a:p>
          <a:p>
            <a:r>
              <a:rPr lang="en-GB" dirty="0"/>
              <a:t>Z=aa</a:t>
            </a:r>
            <a:endParaRPr lang="en-DE" dirty="0"/>
          </a:p>
          <a:p>
            <a:endParaRPr lang="en-DE" dirty="0"/>
          </a:p>
          <a:p>
            <a:r>
              <a:rPr lang="en-GB" dirty="0" err="1"/>
              <a:t>XdXac</a:t>
            </a:r>
            <a:endParaRPr lang="en-GB" dirty="0"/>
          </a:p>
          <a:p>
            <a:r>
              <a:rPr lang="en-GB" dirty="0"/>
              <a:t>X=ZY</a:t>
            </a:r>
          </a:p>
          <a:p>
            <a:r>
              <a:rPr lang="en-GB" dirty="0"/>
              <a:t>Y=ab</a:t>
            </a:r>
          </a:p>
          <a:p>
            <a:r>
              <a:rPr lang="en-GB" dirty="0"/>
              <a:t>Z=aa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A07009-B2D9-7E8C-CDA8-F736564ED289}"/>
              </a:ext>
            </a:extLst>
          </p:cNvPr>
          <p:cNvSpPr txBox="1"/>
          <p:nvPr/>
        </p:nvSpPr>
        <p:spPr>
          <a:xfrm>
            <a:off x="9910432" y="5751632"/>
            <a:ext cx="14350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/>
              <a:t>e</a:t>
            </a:r>
            <a:r>
              <a:rPr lang="en-DE" sz="1000" dirty="0"/>
              <a:t>xample from wikipedia</a:t>
            </a:r>
          </a:p>
        </p:txBody>
      </p:sp>
    </p:spTree>
    <p:extLst>
      <p:ext uri="{BB962C8B-B14F-4D97-AF65-F5344CB8AC3E}">
        <p14:creationId xmlns:p14="http://schemas.microsoft.com/office/powerpoint/2010/main" val="38658091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B46F5-540A-8319-5CB2-AEBE07CA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 Layers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A42FF-356B-8FF0-F726-7B70069EB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6287816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r</a:t>
            </a:r>
            <a:r>
              <a:rPr lang="en-DE" sz="2600" dirty="0"/>
              <a:t>epresentation of entities by vectors</a:t>
            </a:r>
            <a:endParaRPr lang="en-GB" sz="2600" dirty="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</a:t>
            </a:r>
            <a:r>
              <a:rPr lang="en-GB" sz="2600" dirty="0"/>
              <a:t>semantic s</a:t>
            </a:r>
            <a:r>
              <a:rPr lang="en-DE" sz="2600"/>
              <a:t>imilarity</a:t>
            </a:r>
            <a:endParaRPr lang="de-DE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most famous application: w</a:t>
            </a:r>
            <a:r>
              <a:rPr lang="en-DE" sz="2600"/>
              <a:t>ord embeddings</a:t>
            </a:r>
            <a:endParaRPr lang="de-DE" sz="2600" dirty="0"/>
          </a:p>
          <a:p>
            <a:pPr marL="0" indent="0">
              <a:buNone/>
            </a:pPr>
            <a:r>
              <a:rPr lang="en-DE" sz="2600">
                <a:sym typeface="Wingdings" pitchFamily="2" charset="2"/>
              </a:rPr>
              <a:t> </a:t>
            </a:r>
            <a:r>
              <a:rPr lang="en-DE" sz="2600" dirty="0">
                <a:sym typeface="Wingdings" pitchFamily="2" charset="2"/>
              </a:rPr>
              <a:t>associations </a:t>
            </a:r>
            <a:r>
              <a:rPr lang="en-DE" sz="2600" dirty="0"/>
              <a:t>(natural language processing)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b</a:t>
            </a:r>
            <a:r>
              <a:rPr lang="en-DE" sz="2600" dirty="0"/>
              <a:t>ut general concept: embeddings of (categorical) features (e.g., products in recommendation engines)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learned via co-occurrence (e.g., </a:t>
            </a:r>
            <a:r>
              <a:rPr lang="en-GB" sz="2600" dirty="0">
                <a:hlinkClick r:id="rId2"/>
              </a:rPr>
              <a:t>word2vec</a:t>
            </a:r>
            <a:r>
              <a:rPr lang="en-GB" sz="2600" dirty="0"/>
              <a:t>)</a:t>
            </a:r>
            <a:endParaRPr lang="en-DE" sz="2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CB5D3-4689-80E6-765B-B800A8E81DCE}"/>
              </a:ext>
            </a:extLst>
          </p:cNvPr>
          <p:cNvSpPr txBox="1"/>
          <p:nvPr/>
        </p:nvSpPr>
        <p:spPr>
          <a:xfrm>
            <a:off x="10901957" y="62063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5" descr="Chart&#10;&#10;Description automatically generated with low confidence">
            <a:extLst>
              <a:ext uri="{FF2B5EF4-FFF2-40B4-BE49-F238E27FC236}">
                <a16:creationId xmlns:a16="http://schemas.microsoft.com/office/drawing/2014/main" id="{17D634FC-E599-9F20-47A7-FB10E27B9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126" y="3454717"/>
            <a:ext cx="4028543" cy="19265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DD70A9-EEC9-B484-0A23-2CB9B1B57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9675" y="5381285"/>
            <a:ext cx="2944800" cy="202368"/>
          </a:xfrm>
          <a:prstGeom prst="rect">
            <a:avLst/>
          </a:prstGeom>
        </p:spPr>
      </p:pic>
      <p:pic>
        <p:nvPicPr>
          <p:cNvPr id="10" name="Picture 9" descr="Chart, bar chart&#10;&#10;Description automatically generated">
            <a:extLst>
              <a:ext uri="{FF2B5EF4-FFF2-40B4-BE49-F238E27FC236}">
                <a16:creationId xmlns:a16="http://schemas.microsoft.com/office/drawing/2014/main" id="{E3D52C29-171A-1108-3E4C-38871512D9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491" y="5712101"/>
            <a:ext cx="3857297" cy="546333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44C6BA1-9223-B550-520F-332D7695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6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6E5F51-20A2-7DF2-26E3-DD81994CAF95}"/>
              </a:ext>
            </a:extLst>
          </p:cNvPr>
          <p:cNvSpPr txBox="1"/>
          <p:nvPr/>
        </p:nvSpPr>
        <p:spPr>
          <a:xfrm>
            <a:off x="7609491" y="2648915"/>
            <a:ext cx="36587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</a:t>
            </a:r>
            <a:r>
              <a:rPr lang="en-DE" sz="2000" dirty="0"/>
              <a:t>ut also direction of difference vectors interesting (analogies):</a:t>
            </a:r>
          </a:p>
        </p:txBody>
      </p:sp>
      <p:pic>
        <p:nvPicPr>
          <p:cNvPr id="14" name="Picture 13" descr="Diagram&#10;&#10;Description automatically generated">
            <a:extLst>
              <a:ext uri="{FF2B5EF4-FFF2-40B4-BE49-F238E27FC236}">
                <a16:creationId xmlns:a16="http://schemas.microsoft.com/office/drawing/2014/main" id="{7A803F76-A96C-AF3E-B8A0-FE1423AF27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7994" y="400887"/>
            <a:ext cx="3658794" cy="207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733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2EAF4834-D48F-30BD-B7BD-6D1C8BB7B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9966" y="1616059"/>
            <a:ext cx="3478368" cy="44312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8C4039-281D-2BFB-1EB5-78E5C176A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Thoughts on Word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8A17F-04FB-8B0E-21BD-1215D71F7F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63733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can be implemented as</a:t>
            </a:r>
          </a:p>
          <a:p>
            <a:r>
              <a:rPr lang="en-GB" dirty="0"/>
              <a:t>neural network with single hidden layer (linear activation)</a:t>
            </a:r>
          </a:p>
          <a:p>
            <a:r>
              <a:rPr lang="en-GB" dirty="0"/>
              <a:t>using, e.g., bag-of-words approach (predict masked word from its surroundings)</a:t>
            </a:r>
          </a:p>
          <a:p>
            <a:pPr marL="0" indent="0">
              <a:buNone/>
            </a:pPr>
            <a:endParaRPr lang="en-GB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r>
              <a:rPr lang="en-GB" dirty="0">
                <a:sym typeface="Wingdings" panose="05000000000000000000" pitchFamily="2" charset="2"/>
              </a:rPr>
              <a:t> not context-aware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93AC2-C79F-9D9E-C030-61840BD6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7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3B65E1-D590-E37B-3624-CBA23E33CA48}"/>
              </a:ext>
            </a:extLst>
          </p:cNvPr>
          <p:cNvSpPr txBox="1"/>
          <p:nvPr/>
        </p:nvSpPr>
        <p:spPr>
          <a:xfrm>
            <a:off x="11368333" y="4001294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EB9BD6-05E9-421F-4660-CE1345F48035}"/>
              </a:ext>
            </a:extLst>
          </p:cNvPr>
          <p:cNvSpPr txBox="1"/>
          <p:nvPr/>
        </p:nvSpPr>
        <p:spPr>
          <a:xfrm>
            <a:off x="6646332" y="6075144"/>
            <a:ext cx="19642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one-hot vectors of context words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508376B-AB07-ECE3-8C21-4097C8F64752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628466" y="5655733"/>
            <a:ext cx="381001" cy="4194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9281BD4-8C93-E5BC-E195-FDD5E5C489CA}"/>
              </a:ext>
            </a:extLst>
          </p:cNvPr>
          <p:cNvSpPr txBox="1"/>
          <p:nvPr/>
        </p:nvSpPr>
        <p:spPr>
          <a:xfrm>
            <a:off x="10715243" y="4853597"/>
            <a:ext cx="1306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softmax</a:t>
            </a:r>
            <a:r>
              <a:rPr lang="en-GB" dirty="0"/>
              <a:t> of target word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FDD41C-CD1B-63B2-99D7-A6764CE19698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10715243" y="4124404"/>
            <a:ext cx="653091" cy="729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5884ADB-C5CE-29E2-CE1D-1FAA448FD3FF}"/>
              </a:ext>
            </a:extLst>
          </p:cNvPr>
          <p:cNvSpPr txBox="1"/>
          <p:nvPr/>
        </p:nvSpPr>
        <p:spPr>
          <a:xfrm>
            <a:off x="9334560" y="5639271"/>
            <a:ext cx="26868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word vector (embedding) by multiplication with one-hot vector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0CEA6DE-B419-D56C-BF26-78258AD7168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9892937" y="3910149"/>
            <a:ext cx="785055" cy="17291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82FCEC5-761E-2A43-AF2F-861B5E08B81F}"/>
              </a:ext>
            </a:extLst>
          </p:cNvPr>
          <p:cNvSpPr txBox="1"/>
          <p:nvPr/>
        </p:nvSpPr>
        <p:spPr>
          <a:xfrm>
            <a:off x="9702800" y="1825625"/>
            <a:ext cx="850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CBOW:</a:t>
            </a:r>
          </a:p>
        </p:txBody>
      </p:sp>
    </p:spTree>
    <p:extLst>
      <p:ext uri="{BB962C8B-B14F-4D97-AF65-F5344CB8AC3E}">
        <p14:creationId xmlns:p14="http://schemas.microsoft.com/office/powerpoint/2010/main" val="279265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99BAF-CD48-A9DC-C9DE-C8CFE057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Word Embeddings as Part of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02A78-E7E1-8AB3-28CF-DF22B7BBE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245836" cy="28366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 dirty="0"/>
              <a:t>anguage models contain embedding matrix as part of learned parameters</a:t>
            </a:r>
          </a:p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ypically several hundred dimensions for word vectors</a:t>
            </a:r>
            <a:r>
              <a:rPr lang="en-GB" sz="2600" dirty="0"/>
              <a:t> (to be compared with vocabulary sizes of many thousands)</a:t>
            </a:r>
            <a:endParaRPr lang="en-DE" sz="2600" dirty="0"/>
          </a:p>
          <a:p>
            <a:pPr marL="0" indent="0">
              <a:buNone/>
            </a:pPr>
            <a:r>
              <a:rPr lang="en-GB" sz="2600" dirty="0"/>
              <a:t>(c</a:t>
            </a:r>
            <a:r>
              <a:rPr lang="en-DE" sz="2600"/>
              <a:t>an </a:t>
            </a:r>
            <a:r>
              <a:rPr lang="de-DE" sz="2600" dirty="0"/>
              <a:t>also </a:t>
            </a:r>
            <a:r>
              <a:rPr lang="en-DE" sz="2600"/>
              <a:t>be extracted and subsequently used as pretrained embeddings for ot</a:t>
            </a:r>
            <a:r>
              <a:rPr lang="en-GB" sz="2600" dirty="0"/>
              <a:t>he</a:t>
            </a:r>
            <a:r>
              <a:rPr lang="en-DE" sz="2600"/>
              <a:t>r task</a:t>
            </a:r>
            <a:r>
              <a:rPr lang="de-DE" sz="2600" dirty="0"/>
              <a:t>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35F2C-07D5-187B-BE3D-6ABF98E1F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8</a:t>
            </a:fld>
            <a:endParaRPr lang="en-DE"/>
          </a:p>
        </p:txBody>
      </p:sp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C0D0DB44-137A-5A96-F654-84C6089EF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311" y="4575994"/>
            <a:ext cx="4455949" cy="2194144"/>
          </a:xfrm>
          <a:prstGeom prst="rect">
            <a:avLst/>
          </a:prstGeom>
        </p:spPr>
      </p:pic>
      <p:pic>
        <p:nvPicPr>
          <p:cNvPr id="8" name="Picture 7" descr="Graphical user interface&#10;&#10;Description automatically generated">
            <a:extLst>
              <a:ext uri="{FF2B5EF4-FFF2-40B4-BE49-F238E27FC236}">
                <a16:creationId xmlns:a16="http://schemas.microsoft.com/office/drawing/2014/main" id="{F0B691B1-6618-EEE6-E1AB-BB326F7FB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03" y="4575994"/>
            <a:ext cx="4572781" cy="21941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B38438-74D2-2EE4-9457-10563444E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4036" y="1551648"/>
            <a:ext cx="1889669" cy="25371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EEB905-7F38-A25E-C89F-852AB8B256E0}"/>
              </a:ext>
            </a:extLst>
          </p:cNvPr>
          <p:cNvSpPr txBox="1"/>
          <p:nvPr/>
        </p:nvSpPr>
        <p:spPr>
          <a:xfrm>
            <a:off x="11287235" y="598568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D1DC02-65F0-4A86-0404-D87CFA3EB8B9}"/>
              </a:ext>
            </a:extLst>
          </p:cNvPr>
          <p:cNvSpPr txBox="1"/>
          <p:nvPr/>
        </p:nvSpPr>
        <p:spPr>
          <a:xfrm>
            <a:off x="372247" y="5349900"/>
            <a:ext cx="1410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next-word prediction</a:t>
            </a:r>
            <a:r>
              <a:rPr lang="en-GB" dirty="0"/>
              <a:t>: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5136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BCDC7E5-D7A7-4A4D-D7BA-4ADED8922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Tokenization</a:t>
            </a:r>
            <a:r>
              <a:rPr lang="de-DE" dirty="0"/>
              <a:t> &amp; </a:t>
            </a:r>
            <a:r>
              <a:rPr lang="de-DE" dirty="0" err="1"/>
              <a:t>Embeddings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5D160-5F88-C8FA-1779-A31D24A90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  <p:pic>
        <p:nvPicPr>
          <p:cNvPr id="7" name="Grafik 6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A9B50630-A54E-D44F-A579-EE71DE8749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690688"/>
            <a:ext cx="9144000" cy="452398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59B2AC5B-C9B6-DFBA-0AA1-6A856780D62D}"/>
              </a:ext>
            </a:extLst>
          </p:cNvPr>
          <p:cNvSpPr txBox="1"/>
          <p:nvPr/>
        </p:nvSpPr>
        <p:spPr>
          <a:xfrm>
            <a:off x="9715941" y="6214672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333349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4CF83-9CAF-ED47-CEA5-98E6399A5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Self-Supervised</a:t>
            </a:r>
            <a:r>
              <a:rPr lang="en-DE" dirty="0"/>
              <a:t>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4485D-6408-945C-F6DA-D05B84A08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919287"/>
            <a:ext cx="6663267" cy="4802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b="1" dirty="0"/>
              <a:t>unsupervised learning </a:t>
            </a:r>
            <a:r>
              <a:rPr lang="en-GB" sz="2400" dirty="0"/>
              <a:t>(l</a:t>
            </a:r>
            <a:r>
              <a:rPr lang="en-DE" sz="2400" dirty="0"/>
              <a:t>earning by observation</a:t>
            </a:r>
            <a:r>
              <a:rPr lang="de-DE" sz="2400" dirty="0"/>
              <a:t>)</a:t>
            </a:r>
            <a:endParaRPr lang="en-DE" sz="2400" dirty="0"/>
          </a:p>
          <a:p>
            <a:pPr marL="0" indent="0">
              <a:buNone/>
            </a:pPr>
            <a:r>
              <a:rPr lang="en-GB" sz="2400" dirty="0"/>
              <a:t>n</a:t>
            </a:r>
            <a:r>
              <a:rPr lang="en-DE" sz="2400" dirty="0"/>
              <a:t>o target information </a:t>
            </a:r>
            <a:r>
              <a:rPr lang="en-DE" sz="2400" dirty="0">
                <a:sym typeface="Wingdings" pitchFamily="2" charset="2"/>
              </a:rPr>
              <a:t></a:t>
            </a:r>
            <a:r>
              <a:rPr lang="en-DE" sz="2400" dirty="0"/>
              <a:t> kind of “vague” pattern recognition (but plenty of data)</a:t>
            </a:r>
          </a:p>
          <a:p>
            <a:pPr marL="0" indent="0">
              <a:buNone/>
            </a:pPr>
            <a:endParaRPr lang="en-DE" sz="2400" dirty="0"/>
          </a:p>
          <a:p>
            <a:pPr marL="0" indent="0">
              <a:buNone/>
            </a:pPr>
            <a:r>
              <a:rPr lang="en-GB" sz="2400" dirty="0"/>
              <a:t>can be cast as </a:t>
            </a:r>
            <a:r>
              <a:rPr lang="en-GB" sz="2400" b="1" dirty="0"/>
              <a:t>self-supervised learning</a:t>
            </a:r>
            <a:r>
              <a:rPr lang="en-GB" sz="2400" dirty="0"/>
              <a:t>:</a:t>
            </a:r>
            <a:endParaRPr lang="en-DE" sz="2400" dirty="0"/>
          </a:p>
          <a:p>
            <a:r>
              <a:rPr lang="en-DE" sz="2400" dirty="0"/>
              <a:t>input-output mapping like supervised learning</a:t>
            </a:r>
          </a:p>
          <a:p>
            <a:r>
              <a:rPr lang="en-GB" sz="2400" dirty="0"/>
              <a:t>b</a:t>
            </a:r>
            <a:r>
              <a:rPr lang="en-DE" sz="2400" dirty="0"/>
              <a:t>ut generating labels itself </a:t>
            </a:r>
            <a:r>
              <a:rPr lang="en-DE" sz="2400"/>
              <a:t>from input</a:t>
            </a:r>
            <a:r>
              <a:rPr lang="de-DE" sz="2400" dirty="0"/>
              <a:t>s</a:t>
            </a:r>
            <a:endParaRPr lang="en-GB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E5D91-4168-4BE8-51A7-CBE63D44B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10</a:t>
            </a:fld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B08845-D020-DA4F-3935-5D4867E2D187}"/>
              </a:ext>
            </a:extLst>
          </p:cNvPr>
          <p:cNvSpPr txBox="1"/>
          <p:nvPr/>
        </p:nvSpPr>
        <p:spPr>
          <a:xfrm>
            <a:off x="7970359" y="1033707"/>
            <a:ext cx="402368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ML needs lots of training data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F10E5-DE34-FB67-7C29-B1672FF89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940" y="1846291"/>
            <a:ext cx="3724860" cy="269717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A292333-240C-FB56-0D45-29F405F18B6B}"/>
              </a:ext>
            </a:extLst>
          </p:cNvPr>
          <p:cNvSpPr txBox="1"/>
          <p:nvPr/>
        </p:nvSpPr>
        <p:spPr>
          <a:xfrm>
            <a:off x="11353800" y="436827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5" name="TextBox 17">
            <a:extLst>
              <a:ext uri="{FF2B5EF4-FFF2-40B4-BE49-F238E27FC236}">
                <a16:creationId xmlns:a16="http://schemas.microsoft.com/office/drawing/2014/main" id="{EE634650-3734-0ACC-54B5-CD0CF49B741F}"/>
              </a:ext>
            </a:extLst>
          </p:cNvPr>
          <p:cNvSpPr txBox="1"/>
          <p:nvPr/>
        </p:nvSpPr>
        <p:spPr>
          <a:xfrm>
            <a:off x="457199" y="5554912"/>
            <a:ext cx="10762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The Lord of the Rings is considered one of the greatest fantasy books</a:t>
            </a:r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16">
            <a:extLst>
              <a:ext uri="{FF2B5EF4-FFF2-40B4-BE49-F238E27FC236}">
                <a16:creationId xmlns:a16="http://schemas.microsoft.com/office/drawing/2014/main" id="{1CDDAB50-16FA-BDF1-CDC3-2B81B557BA2D}"/>
              </a:ext>
            </a:extLst>
          </p:cNvPr>
          <p:cNvSpPr txBox="1"/>
          <p:nvPr/>
        </p:nvSpPr>
        <p:spPr>
          <a:xfrm>
            <a:off x="457199" y="5140283"/>
            <a:ext cx="10762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The Lord of the Rings is considered one of the greatest fantasy</a:t>
            </a:r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E96201BF-F20D-0790-E25C-A42DE69816EA}"/>
              </a:ext>
            </a:extLst>
          </p:cNvPr>
          <p:cNvSpPr/>
          <p:nvPr/>
        </p:nvSpPr>
        <p:spPr>
          <a:xfrm>
            <a:off x="8995946" y="5179960"/>
            <a:ext cx="1185333" cy="320755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15">
            <a:extLst>
              <a:ext uri="{FF2B5EF4-FFF2-40B4-BE49-F238E27FC236}">
                <a16:creationId xmlns:a16="http://schemas.microsoft.com/office/drawing/2014/main" id="{35889AD7-3E4E-25B5-222D-145006538CF5}"/>
              </a:ext>
            </a:extLst>
          </p:cNvPr>
          <p:cNvSpPr/>
          <p:nvPr/>
        </p:nvSpPr>
        <p:spPr>
          <a:xfrm>
            <a:off x="10238298" y="5594589"/>
            <a:ext cx="847061" cy="320755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134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465F2-BF2F-8E0F-93F3-7DA40743D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Context Awareness: </a:t>
            </a:r>
            <a:r>
              <a:rPr lang="en-DE" dirty="0"/>
              <a:t>Transformer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F653F-9F7D-EDA4-7BB8-0584B66CFF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7853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>
                <a:hlinkClick r:id="rId2"/>
              </a:rPr>
              <a:t>A</a:t>
            </a:r>
            <a:r>
              <a:rPr lang="en-DE" sz="2600" dirty="0">
                <a:hlinkClick r:id="rId2"/>
              </a:rPr>
              <a:t>ttention </a:t>
            </a:r>
            <a:r>
              <a:rPr lang="de-DE" sz="2600" dirty="0">
                <a:hlinkClick r:id="rId2"/>
              </a:rPr>
              <a:t>I</a:t>
            </a:r>
            <a:r>
              <a:rPr lang="en-DE" sz="2600" dirty="0">
                <a:hlinkClick r:id="rId2"/>
              </a:rPr>
              <a:t>s </a:t>
            </a:r>
            <a:r>
              <a:rPr lang="de-DE" sz="2600" dirty="0">
                <a:hlinkClick r:id="rId2"/>
              </a:rPr>
              <a:t>A</a:t>
            </a:r>
            <a:r>
              <a:rPr lang="en-DE" sz="2600" dirty="0">
                <a:hlinkClick r:id="rId2"/>
              </a:rPr>
              <a:t>ll </a:t>
            </a:r>
            <a:r>
              <a:rPr lang="de-DE" sz="2600" dirty="0">
                <a:hlinkClick r:id="rId2"/>
              </a:rPr>
              <a:t>Y</a:t>
            </a:r>
            <a:r>
              <a:rPr lang="en-DE" sz="2600" dirty="0">
                <a:hlinkClick r:id="rId2"/>
              </a:rPr>
              <a:t>ou </a:t>
            </a:r>
            <a:r>
              <a:rPr lang="de-DE" sz="2600" dirty="0">
                <a:hlinkClick r:id="rId2"/>
              </a:rPr>
              <a:t>N</a:t>
            </a:r>
            <a:r>
              <a:rPr lang="en-DE" sz="2600" dirty="0">
                <a:hlinkClick r:id="rId2"/>
              </a:rPr>
              <a:t>eed</a:t>
            </a:r>
            <a:r>
              <a:rPr lang="en-DE" sz="2600" dirty="0"/>
              <a:t>:</a:t>
            </a:r>
            <a:endParaRPr lang="en-GB" sz="2600" dirty="0"/>
          </a:p>
          <a:p>
            <a:pPr marL="0" indent="0">
              <a:buNone/>
            </a:pPr>
            <a:r>
              <a:rPr lang="de-DE" sz="2600" dirty="0"/>
              <a:t>completely replaced recurrent neural networks</a:t>
            </a:r>
            <a:r>
              <a:rPr lang="en-GB" sz="2600" dirty="0"/>
              <a:t> (RNN)</a:t>
            </a:r>
            <a:endParaRPr lang="en-DE" sz="2600" dirty="0"/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DE" sz="2600">
                <a:sym typeface="Wingdings" pitchFamily="2" charset="2"/>
              </a:rPr>
              <a:t>much </a:t>
            </a:r>
            <a:r>
              <a:rPr lang="en-DE" sz="2600" dirty="0">
                <a:sym typeface="Wingdings" pitchFamily="2" charset="2"/>
              </a:rPr>
              <a:t>more parallelization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en-DE" sz="2600" dirty="0">
                <a:sym typeface="Wingdings" pitchFamily="2" charset="2"/>
              </a:rPr>
              <a:t> </a:t>
            </a:r>
            <a:r>
              <a:rPr lang="en-GB" sz="2600" dirty="0">
                <a:sym typeface="Wingdings" pitchFamily="2" charset="2"/>
              </a:rPr>
              <a:t>bigger models</a:t>
            </a:r>
            <a:endParaRPr lang="de-DE" sz="2600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b</a:t>
            </a:r>
            <a:r>
              <a:rPr lang="en-DE" sz="2600" dirty="0">
                <a:sym typeface="Wingdings" pitchFamily="2" charset="2"/>
              </a:rPr>
              <a:t>etter long-range dependencies thanks to shorter path lengths in network (less sequential operations)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5063A3-CD4F-4F87-E0D5-162BD06F8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11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84DE7-1F19-0B17-8D18-69411E36D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076852"/>
            <a:ext cx="3541301" cy="50323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AB3E4-2DB6-65FE-A9AD-40C8BDD95368}"/>
              </a:ext>
            </a:extLst>
          </p:cNvPr>
          <p:cNvSpPr txBox="1"/>
          <p:nvPr/>
        </p:nvSpPr>
        <p:spPr>
          <a:xfrm>
            <a:off x="8845493" y="122094"/>
            <a:ext cx="327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original transformer: sequence-to-sequence model (e.g., for machine translation)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D7407-421F-E8C3-9910-89BF31E8FC5D}"/>
              </a:ext>
            </a:extLst>
          </p:cNvPr>
          <p:cNvSpPr txBox="1"/>
          <p:nvPr/>
        </p:nvSpPr>
        <p:spPr>
          <a:xfrm>
            <a:off x="9279914" y="6109227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encoder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BB70B9-1391-5F36-D215-544895BA33D0}"/>
              </a:ext>
            </a:extLst>
          </p:cNvPr>
          <p:cNvSpPr txBox="1"/>
          <p:nvPr/>
        </p:nvSpPr>
        <p:spPr>
          <a:xfrm>
            <a:off x="10482141" y="6101473"/>
            <a:ext cx="1013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decoder</a:t>
            </a:r>
            <a:endParaRPr lang="en-GB" dirty="0"/>
          </a:p>
        </p:txBody>
      </p:sp>
      <p:sp>
        <p:nvSpPr>
          <p:cNvPr id="4" name="TextBox 16">
            <a:extLst>
              <a:ext uri="{FF2B5EF4-FFF2-40B4-BE49-F238E27FC236}">
                <a16:creationId xmlns:a16="http://schemas.microsoft.com/office/drawing/2014/main" id="{EB299F50-2939-0385-3115-D64904951E11}"/>
              </a:ext>
            </a:extLst>
          </p:cNvPr>
          <p:cNvSpPr txBox="1"/>
          <p:nvPr/>
        </p:nvSpPr>
        <p:spPr>
          <a:xfrm>
            <a:off x="3825766" y="5881936"/>
            <a:ext cx="41284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200"/>
              <a:t>encoder/decoder</a:t>
            </a:r>
            <a:r>
              <a:rPr lang="de-DE" sz="2200" dirty="0"/>
              <a:t> </a:t>
            </a:r>
            <a:r>
              <a:rPr lang="de-DE" sz="2200" dirty="0" err="1"/>
              <a:t>stacks</a:t>
            </a:r>
            <a:r>
              <a:rPr lang="de-DE" sz="2200" dirty="0"/>
              <a:t> (</a:t>
            </a:r>
            <a:r>
              <a:rPr lang="de-DE" sz="2200" dirty="0" err="1"/>
              <a:t>depth</a:t>
            </a:r>
            <a:r>
              <a:rPr lang="de-DE" sz="2200" dirty="0"/>
              <a:t>): </a:t>
            </a:r>
            <a:r>
              <a:rPr lang="en-DE" sz="2200"/>
              <a:t>output fed </a:t>
            </a:r>
            <a:r>
              <a:rPr lang="en-DE" sz="2200" dirty="0"/>
              <a:t>as input to </a:t>
            </a:r>
            <a:r>
              <a:rPr lang="en-DE" sz="2200"/>
              <a:t>next one</a:t>
            </a:r>
            <a:endParaRPr lang="en-DE" sz="22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98467F4-F7FE-68E7-EAB0-B7F0B00E9E93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7954259" y="4001294"/>
            <a:ext cx="811369" cy="2265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28CB132-CA33-FA0A-F9B0-7D82FFFE367B}"/>
              </a:ext>
            </a:extLst>
          </p:cNvPr>
          <p:cNvCxnSpPr>
            <a:stCxn id="4" idx="3"/>
          </p:cNvCxnSpPr>
          <p:nvPr/>
        </p:nvCxnSpPr>
        <p:spPr>
          <a:xfrm flipV="1">
            <a:off x="7954259" y="3552497"/>
            <a:ext cx="3806817" cy="2714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8766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58BB3-1B89-802B-ED6C-1C8318B9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Self-Attention</a:t>
            </a:r>
            <a:r>
              <a:rPr lang="de-DE" dirty="0"/>
              <a:t> Mechanism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4B3D6-AA1E-D12C-4661-CBF417800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7724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e</a:t>
            </a:r>
            <a:r>
              <a:rPr lang="en-DE" sz="2600" dirty="0"/>
              <a:t>valuating other input </a:t>
            </a:r>
            <a:r>
              <a:rPr lang="de-DE" sz="2600" dirty="0"/>
              <a:t>token</a:t>
            </a:r>
            <a:r>
              <a:rPr lang="en-DE" sz="2600" dirty="0"/>
              <a:t>s in terms of relevance for encoding of given </a:t>
            </a:r>
            <a:r>
              <a:rPr lang="de-DE" sz="2600" dirty="0"/>
              <a:t>token</a:t>
            </a:r>
            <a:r>
              <a:rPr lang="en-DE" sz="26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028B3-EDF5-30F5-2899-7CA34C4BF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12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753570-616E-CD16-9255-7311CA3B3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1934"/>
            <a:ext cx="4026031" cy="38800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B4482C-892F-56FB-5D38-3C0BDD384E6B}"/>
                  </a:ext>
                </a:extLst>
              </p:cNvPr>
              <p:cNvSpPr txBox="1"/>
              <p:nvPr/>
            </p:nvSpPr>
            <p:spPr>
              <a:xfrm>
                <a:off x="4706872" y="5433483"/>
                <a:ext cx="3337792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only allow to attend to earlier positions in sequence (masking future positions by setting them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GB" sz="2000" dirty="0"/>
                  <a:t>)</a:t>
                </a:r>
                <a:endParaRPr lang="en-DE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B4482C-892F-56FB-5D38-3C0BDD384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6872" y="5433483"/>
                <a:ext cx="3337792" cy="1323439"/>
              </a:xfrm>
              <a:prstGeom prst="rect">
                <a:avLst/>
              </a:prstGeom>
              <a:blipFill>
                <a:blip r:embed="rId3"/>
                <a:stretch>
                  <a:fillRect l="-1825" t="-2304" r="-3285" b="-783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55FA5492-414B-4C09-078A-69E913C097AC}"/>
              </a:ext>
            </a:extLst>
          </p:cNvPr>
          <p:cNvSpPr txBox="1"/>
          <p:nvPr/>
        </p:nvSpPr>
        <p:spPr>
          <a:xfrm>
            <a:off x="3124000" y="6415801"/>
            <a:ext cx="5928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907F27-F7B3-C7B2-0213-C8C0CFF1B9C4}"/>
              </a:ext>
            </a:extLst>
          </p:cNvPr>
          <p:cNvSpPr txBox="1"/>
          <p:nvPr/>
        </p:nvSpPr>
        <p:spPr>
          <a:xfrm>
            <a:off x="3716866" y="2900896"/>
            <a:ext cx="3991703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000" dirty="0"/>
              <a:t>computational complexity quadratic in length of input (each token attends to each other token)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43E03133-ED4C-AE8D-9AF8-953611BFE2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20213" y="1407583"/>
            <a:ext cx="4123973" cy="4948767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44AFF71-AFF6-5CC7-9749-51CA0F2132A5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8044664" y="4969933"/>
            <a:ext cx="2013736" cy="1125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93850DC-CE6F-155D-F5F1-8A70D343B064}"/>
              </a:ext>
            </a:extLst>
          </p:cNvPr>
          <p:cNvSpPr txBox="1"/>
          <p:nvPr/>
        </p:nvSpPr>
        <p:spPr>
          <a:xfrm>
            <a:off x="8823557" y="976696"/>
            <a:ext cx="25934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GPT (decoder-only):</a:t>
            </a:r>
            <a:endParaRPr lang="en-GB" sz="2200" dirty="0"/>
          </a:p>
        </p:txBody>
      </p:sp>
      <p:sp>
        <p:nvSpPr>
          <p:cNvPr id="22" name="Rounded Rectangle 6">
            <a:extLst>
              <a:ext uri="{FF2B5EF4-FFF2-40B4-BE49-F238E27FC236}">
                <a16:creationId xmlns:a16="http://schemas.microsoft.com/office/drawing/2014/main" id="{B34FD39B-830D-AF3A-4092-668B964D7AA7}"/>
              </a:ext>
            </a:extLst>
          </p:cNvPr>
          <p:cNvSpPr/>
          <p:nvPr/>
        </p:nvSpPr>
        <p:spPr>
          <a:xfrm>
            <a:off x="9810205" y="4140340"/>
            <a:ext cx="671529" cy="118519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2A1C6D2-7C83-82B0-FF51-95368AD74B3B}"/>
              </a:ext>
            </a:extLst>
          </p:cNvPr>
          <p:cNvCxnSpPr>
            <a:cxnSpLocks/>
          </p:cNvCxnSpPr>
          <p:nvPr/>
        </p:nvCxnSpPr>
        <p:spPr>
          <a:xfrm>
            <a:off x="3598333" y="4842939"/>
            <a:ext cx="6203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166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E95EF-3677-11AC-741A-5096F24B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Scaled Dot-Product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490E58-9F3B-C78F-EDFA-EAC27F391B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6467" y="1825625"/>
                <a:ext cx="6798063" cy="2974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3 matrices created from input embeddings by multiplication with 3 different weight matrices</a:t>
                </a:r>
              </a:p>
              <a:p>
                <a:r>
                  <a:rPr lang="en-GB" sz="2600" dirty="0"/>
                  <a:t>q</a:t>
                </a:r>
                <a:r>
                  <a:rPr lang="en-DE" sz="2600" dirty="0"/>
                  <a:t>uery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endParaRPr lang="en-GB" sz="2600" dirty="0"/>
              </a:p>
              <a:p>
                <a:r>
                  <a:rPr lang="en-GB" sz="2600" dirty="0"/>
                  <a:t>k</a:t>
                </a:r>
                <a:r>
                  <a:rPr lang="en-DE" sz="2600" dirty="0"/>
                  <a:t>ey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en-GB" sz="2600" dirty="0"/>
              </a:p>
              <a:p>
                <a:r>
                  <a:rPr lang="en-GB" sz="2600" dirty="0"/>
                  <a:t>v</a:t>
                </a:r>
                <a:r>
                  <a:rPr lang="en-DE" sz="2600" dirty="0"/>
                  <a:t>alue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490E58-9F3B-C78F-EDFA-EAC27F391B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6467" y="1825625"/>
                <a:ext cx="6798063" cy="2974975"/>
              </a:xfrm>
              <a:blipFill>
                <a:blip r:embed="rId2"/>
                <a:stretch>
                  <a:fillRect l="-1614" t="-30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ED8751-2223-A43A-7C8A-4E5D89FA7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13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82A187-27B1-5388-72BD-CABF992B7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753" y="2691589"/>
            <a:ext cx="2986751" cy="37312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DFC9E0-BDE6-151F-4C20-1BF61C317DC2}"/>
              </a:ext>
            </a:extLst>
          </p:cNvPr>
          <p:cNvSpPr txBox="1"/>
          <p:nvPr/>
        </p:nvSpPr>
        <p:spPr>
          <a:xfrm>
            <a:off x="10366978" y="6414894"/>
            <a:ext cx="6142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1FB489-E8CB-2C41-8259-011099B09E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93771"/>
            <a:ext cx="4824250" cy="887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78F609-A2C9-FCAF-17E3-6973081CBC91}"/>
              </a:ext>
            </a:extLst>
          </p:cNvPr>
          <p:cNvSpPr txBox="1"/>
          <p:nvPr/>
        </p:nvSpPr>
        <p:spPr>
          <a:xfrm>
            <a:off x="4453472" y="4731028"/>
            <a:ext cx="4574048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scoring each of the key words (context) with respect to current query word: multiplication of inputs (in contrast to inputs times weights in neural networks)</a:t>
            </a:r>
            <a:endParaRPr lang="en-DE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CE153F-3808-C155-A355-EB79314F5093}"/>
              </a:ext>
            </a:extLst>
          </p:cNvPr>
          <p:cNvSpPr txBox="1"/>
          <p:nvPr/>
        </p:nvSpPr>
        <p:spPr>
          <a:xfrm>
            <a:off x="4529670" y="3051884"/>
            <a:ext cx="430079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filtering: </a:t>
            </a:r>
            <a:r>
              <a:rPr lang="en-DE" sz="2400" dirty="0"/>
              <a:t>multiplication of </a:t>
            </a:r>
            <a:r>
              <a:rPr lang="en-GB" sz="2400" dirty="0"/>
              <a:t>attention</a:t>
            </a:r>
            <a:r>
              <a:rPr lang="en-DE" sz="2400" dirty="0"/>
              <a:t> </a:t>
            </a:r>
            <a:r>
              <a:rPr lang="en-GB" sz="2400" dirty="0"/>
              <a:t>probabilities</a:t>
            </a:r>
            <a:r>
              <a:rPr lang="en-DE" sz="2400" dirty="0"/>
              <a:t> with</a:t>
            </a:r>
            <a:r>
              <a:rPr lang="en-GB" sz="2400" dirty="0"/>
              <a:t> corresponding key-word values</a:t>
            </a:r>
            <a:endParaRPr lang="en-DE" sz="2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D890CF-F3C6-D705-5CC2-63A9A490272E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9027520" y="5700524"/>
            <a:ext cx="3624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E265C8-39BB-A639-A6DF-F408DF40B55B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830461" y="3652049"/>
            <a:ext cx="943832" cy="3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F5CFCD0-4B2C-5227-5856-F878E2EFFD65}"/>
                  </a:ext>
                </a:extLst>
              </p:cNvPr>
              <p:cNvSpPr txBox="1"/>
              <p:nvPr/>
            </p:nvSpPr>
            <p:spPr>
              <a:xfrm>
                <a:off x="7958390" y="557649"/>
                <a:ext cx="407858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s</a:t>
                </a:r>
                <a:r>
                  <a:rPr lang="en-DE" dirty="0"/>
                  <a:t>oftmax not scale invariant: largest inputs dominate output for large inputs (more embedding dimensions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DE" dirty="0"/>
                  <a:t>)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F5CFCD0-4B2C-5227-5856-F878E2EFF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390" y="557649"/>
                <a:ext cx="4078585" cy="923330"/>
              </a:xfrm>
              <a:prstGeom prst="rect">
                <a:avLst/>
              </a:prstGeom>
              <a:blipFill>
                <a:blip r:embed="rId6"/>
                <a:stretch>
                  <a:fillRect l="-1345" t="-2632" r="-448" b="-98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AD80350-98CB-B5B9-7A2E-F036F9A0874A}"/>
              </a:ext>
            </a:extLst>
          </p:cNvPr>
          <p:cNvCxnSpPr>
            <a:cxnSpLocks/>
            <a:stCxn id="23" idx="2"/>
          </p:cNvCxnSpPr>
          <p:nvPr/>
        </p:nvCxnSpPr>
        <p:spPr>
          <a:xfrm flipH="1">
            <a:off x="9160933" y="1480979"/>
            <a:ext cx="836750" cy="1250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6896EB1-1DDA-1759-0C00-4DD88B0C76F4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9997683" y="1480979"/>
            <a:ext cx="1212103" cy="7682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7F468AA8-4434-4F16-2DAE-15A5F30CB5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2335" y="4563126"/>
            <a:ext cx="1929714" cy="18597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6CE5BC-1E0D-31C6-A9DF-34AE556474D2}"/>
              </a:ext>
            </a:extLst>
          </p:cNvPr>
          <p:cNvSpPr txBox="1"/>
          <p:nvPr/>
        </p:nvSpPr>
        <p:spPr>
          <a:xfrm>
            <a:off x="2983791" y="5610450"/>
            <a:ext cx="729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query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58AE804-B1FB-158B-B41B-31D3529FA28C}"/>
              </a:ext>
            </a:extLst>
          </p:cNvPr>
          <p:cNvSpPr txBox="1"/>
          <p:nvPr/>
        </p:nvSpPr>
        <p:spPr>
          <a:xfrm>
            <a:off x="198793" y="5303760"/>
            <a:ext cx="120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2826266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machine&#10;&#10;AI-generated content may be incorrect.">
            <a:extLst>
              <a:ext uri="{FF2B5EF4-FFF2-40B4-BE49-F238E27FC236}">
                <a16:creationId xmlns:a16="http://schemas.microsoft.com/office/drawing/2014/main" id="{923A2402-E105-6802-1513-F2F26EDF0F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783" y="35984"/>
            <a:ext cx="6850974" cy="570025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6DF1FD18-D2A0-2078-98E0-DBA1C4092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MatMul</a:t>
            </a:r>
            <a:endParaRPr lang="en-GB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2711593-CE88-D625-4052-59C0597621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90684"/>
            <a:ext cx="10515600" cy="9313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weighted average: reflecting to what degree a token is paying attention to the other tokens in the sequence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D468-A5B3-3E34-5C8E-5963984ED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00251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39D48-8CC9-D2AC-40B6-41BC30D8D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Dimensions in BERT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1DC16-7B81-230B-583A-D1A560A5D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15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F25B58-3286-741E-95B6-ECD05D1E5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685" y="2061849"/>
            <a:ext cx="4496205" cy="17801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8D47AD-B14B-90FF-3DA1-29898B90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3685" y="4117064"/>
            <a:ext cx="5685446" cy="17274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546D8C-B4E8-0205-41DD-80D24C4EF046}"/>
              </a:ext>
            </a:extLst>
          </p:cNvPr>
          <p:cNvSpPr txBox="1"/>
          <p:nvPr/>
        </p:nvSpPr>
        <p:spPr>
          <a:xfrm>
            <a:off x="538479" y="279756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b="1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9C8443-863C-0D5E-F9CA-AAA028A0B5FD}"/>
              </a:ext>
            </a:extLst>
          </p:cNvPr>
          <p:cNvSpPr txBox="1"/>
          <p:nvPr/>
        </p:nvSpPr>
        <p:spPr>
          <a:xfrm>
            <a:off x="5327115" y="2463798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b="1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FE7DE3-071C-B48C-07B1-979A7B97AF6B}"/>
              </a:ext>
            </a:extLst>
          </p:cNvPr>
          <p:cNvSpPr txBox="1"/>
          <p:nvPr/>
        </p:nvSpPr>
        <p:spPr>
          <a:xfrm>
            <a:off x="5327115" y="4633723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b="1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7D3177-DAF4-108D-24ED-F752323DBF8D}"/>
              </a:ext>
            </a:extLst>
          </p:cNvPr>
          <p:cNvSpPr txBox="1"/>
          <p:nvPr/>
        </p:nvSpPr>
        <p:spPr>
          <a:xfrm>
            <a:off x="4478867" y="5450600"/>
            <a:ext cx="6076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7" name="Picture 6" descr="A diagram of a projector&#10;&#10;AI-generated content may be incorrect.">
            <a:extLst>
              <a:ext uri="{FF2B5EF4-FFF2-40B4-BE49-F238E27FC236}">
                <a16:creationId xmlns:a16="http://schemas.microsoft.com/office/drawing/2014/main" id="{60FC894E-70C0-A954-E1C5-0B11260A37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049" y="2188831"/>
            <a:ext cx="3593818" cy="2921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4481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F959B-EEF3-2395-19C7-B077A893B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Multi-Head Attention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2634C-457D-12BE-1745-A375EDD5F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46345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multiple heads: s</a:t>
            </a:r>
            <a:r>
              <a:rPr lang="en-DE" sz="2600" dirty="0"/>
              <a:t>everal attention layers running in parallel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05CEC-AED7-A27A-2A53-411758450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16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38E6B-C973-021B-42DF-60C85DE23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655" y="2191689"/>
            <a:ext cx="2806262" cy="38295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7F1192-E213-B6C5-346F-337540A23C36}"/>
              </a:ext>
            </a:extLst>
          </p:cNvPr>
          <p:cNvSpPr txBox="1"/>
          <p:nvPr/>
        </p:nvSpPr>
        <p:spPr>
          <a:xfrm>
            <a:off x="11087540" y="6021229"/>
            <a:ext cx="5795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45F38A-D965-541A-9C6A-3D855DDBAD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422066"/>
            <a:ext cx="4329813" cy="42047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EAA8FF0-8EB0-BDBC-9D38-35EB45B3EA61}"/>
              </a:ext>
            </a:extLst>
          </p:cNvPr>
          <p:cNvSpPr txBox="1"/>
          <p:nvPr/>
        </p:nvSpPr>
        <p:spPr>
          <a:xfrm>
            <a:off x="4537409" y="6492875"/>
            <a:ext cx="567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24EFCB-6DB6-0E33-D20E-2A2927F15DB0}"/>
              </a:ext>
            </a:extLst>
          </p:cNvPr>
          <p:cNvSpPr txBox="1"/>
          <p:nvPr/>
        </p:nvSpPr>
        <p:spPr>
          <a:xfrm>
            <a:off x="5168013" y="3429000"/>
            <a:ext cx="421308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dirty="0"/>
              <a:t>d</a:t>
            </a:r>
            <a:r>
              <a:rPr lang="en-DE" sz="2600" dirty="0"/>
              <a:t>ifferent heads can pay attention to different aspects of input (multiple representation sub-spaces)</a:t>
            </a:r>
          </a:p>
        </p:txBody>
      </p:sp>
    </p:spTree>
    <p:extLst>
      <p:ext uri="{BB962C8B-B14F-4D97-AF65-F5344CB8AC3E}">
        <p14:creationId xmlns:p14="http://schemas.microsoft.com/office/powerpoint/2010/main" val="1219043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85F77-AFB3-0D06-FEC7-7C37B194B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55F000-11FB-B846-4189-8EEE9B26E9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4289" y="1745098"/>
                <a:ext cx="1160342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200" dirty="0"/>
                  <a:t>a</a:t>
                </a:r>
                <a:r>
                  <a:rPr lang="en-DE" sz="2200" dirty="0"/>
                  <a:t>ttention permutation invariant </a:t>
                </a:r>
                <a:r>
                  <a:rPr lang="en-DE" sz="2200" dirty="0">
                    <a:sym typeface="Wingdings" pitchFamily="2" charset="2"/>
                  </a:rPr>
                  <a:t> need for positional encoding to learn from order of sequence</a:t>
                </a:r>
              </a:p>
              <a:p>
                <a:pPr marL="0" indent="0">
                  <a:buNone/>
                </a:pPr>
                <a:endParaRPr lang="de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200">
                    <a:sym typeface="Wingdings" pitchFamily="2" charset="2"/>
                  </a:rPr>
                  <a:t>different </a:t>
                </a:r>
                <a:r>
                  <a:rPr lang="de-DE" sz="2200" dirty="0" err="1">
                    <a:sym typeface="Wingdings" pitchFamily="2" charset="2"/>
                  </a:rPr>
                  <a:t>options</a:t>
                </a:r>
                <a:r>
                  <a:rPr lang="en-DE" sz="2200">
                    <a:sym typeface="Wingdings" pitchFamily="2" charset="2"/>
                  </a:rPr>
                  <a:t>:</a:t>
                </a:r>
                <a:endParaRPr lang="en-GB" sz="2200" dirty="0">
                  <a:sym typeface="Wingdings" pitchFamily="2" charset="2"/>
                </a:endParaRPr>
              </a:p>
              <a:p>
                <a:r>
                  <a:rPr lang="en-GB" sz="2200" dirty="0">
                    <a:sym typeface="Wingdings" pitchFamily="2" charset="2"/>
                  </a:rPr>
                  <a:t>for each absolute position</a:t>
                </a:r>
                <a:r>
                  <a:rPr lang="en-DE" sz="2200" dirty="0">
                    <a:sym typeface="Wingdings" pitchFamily="2" charset="2"/>
                  </a:rPr>
                  <a:t> </a:t>
                </a:r>
                <a:r>
                  <a:rPr lang="en-GB" sz="2200" dirty="0">
                    <a:sym typeface="Wingdings" pitchFamily="2" charset="2"/>
                  </a:rPr>
                  <a:t>(from 1 to maximum sequence length), add a learned vector (of </a:t>
                </a:r>
                <a:r>
                  <a:rPr lang="en-DE" sz="2200" dirty="0">
                    <a:sym typeface="Wingdings" pitchFamily="2" charset="2"/>
                  </a:rPr>
                  <a:t>dimension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2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200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en-GB" sz="2200" dirty="0">
                    <a:sym typeface="Wingdings" pitchFamily="2" charset="2"/>
                  </a:rPr>
                  <a:t>) to input embeddings  each positional embedding independent of others</a:t>
                </a:r>
                <a:endParaRPr lang="en-DE" sz="2200" dirty="0">
                  <a:sym typeface="Wingdings" pitchFamily="2" charset="2"/>
                </a:endParaRPr>
              </a:p>
              <a:p>
                <a:r>
                  <a:rPr lang="en-GB" sz="2200" dirty="0">
                    <a:sym typeface="Wingdings" pitchFamily="2" charset="2"/>
                  </a:rPr>
                  <a:t>add f</a:t>
                </a:r>
                <a:r>
                  <a:rPr lang="en-DE" sz="2200" dirty="0">
                    <a:sym typeface="Wingdings" pitchFamily="2" charset="2"/>
                  </a:rPr>
                  <a:t>ixed</a:t>
                </a:r>
                <a:r>
                  <a:rPr lang="en-GB" sz="2200" dirty="0">
                    <a:sym typeface="Wingdings" pitchFamily="2" charset="2"/>
                  </a:rPr>
                  <a:t> </a:t>
                </a:r>
                <a:r>
                  <a:rPr lang="en-DE" sz="2200" dirty="0">
                    <a:sym typeface="Wingdings" pitchFamily="2" charset="2"/>
                  </a:rPr>
                  <a:t>sin</a:t>
                </a:r>
                <a:r>
                  <a:rPr lang="en-GB" sz="2200" dirty="0" err="1">
                    <a:sym typeface="Wingdings" pitchFamily="2" charset="2"/>
                  </a:rPr>
                  <a:t>usoidal</a:t>
                </a:r>
                <a:r>
                  <a:rPr lang="en-DE" sz="2200" dirty="0">
                    <a:sym typeface="Wingdings" pitchFamily="2" charset="2"/>
                  </a:rPr>
                  <a:t> functions for each </a:t>
                </a:r>
                <a:r>
                  <a:rPr lang="en-GB" sz="2200" dirty="0">
                    <a:sym typeface="Wingdings" pitchFamily="2" charset="2"/>
                  </a:rPr>
                  <a:t>position and </a:t>
                </a:r>
                <a:r>
                  <a:rPr lang="en-DE" sz="2200" dirty="0">
                    <a:sym typeface="Wingdings" pitchFamily="2" charset="2"/>
                  </a:rPr>
                  <a:t>dimension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𝑖</m:t>
                    </m:r>
                  </m:oMath>
                </a14:m>
                <a:endParaRPr lang="en-GB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en-GB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en-GB" sz="2200" dirty="0">
                  <a:sym typeface="Wingdings" pitchFamily="2" charset="2"/>
                </a:endParaRPr>
              </a:p>
              <a:p>
                <a:r>
                  <a:rPr lang="en-GB" sz="2200" dirty="0">
                    <a:sym typeface="Wingdings" pitchFamily="2" charset="2"/>
                  </a:rPr>
                  <a:t>rotate input embeddings by multiples (position) of a small angle (</a:t>
                </a:r>
                <a:r>
                  <a:rPr lang="en-GB" sz="2200" dirty="0">
                    <a:sym typeface="Wingdings" pitchFamily="2" charset="2"/>
                    <a:hlinkClick r:id="rId2"/>
                  </a:rPr>
                  <a:t>RoPE</a:t>
                </a:r>
                <a:r>
                  <a:rPr lang="en-GB" sz="2200" dirty="0">
                    <a:sym typeface="Wingdings" pitchFamily="2" charset="2"/>
                  </a:rPr>
                  <a:t>)  captures both relative and absolute positions</a:t>
                </a:r>
                <a:endParaRPr lang="en-DE" sz="22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55F000-11FB-B846-4189-8EEE9B26E9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4289" y="1745098"/>
                <a:ext cx="11603421" cy="4351338"/>
              </a:xfrm>
              <a:blipFill>
                <a:blip r:embed="rId3"/>
                <a:stretch>
                  <a:fillRect l="-656" t="-1744" r="-5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DC4D1-6E58-AED2-8E3A-92A7C5FD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17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2F83F-95B4-1295-3AC1-4F0FC662D52C}"/>
                  </a:ext>
                </a:extLst>
              </p:cNvPr>
              <p:cNvSpPr txBox="1"/>
              <p:nvPr/>
            </p:nvSpPr>
            <p:spPr>
              <a:xfrm>
                <a:off x="838200" y="4173015"/>
                <a:ext cx="6299200" cy="5100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𝑃𝐸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𝑝𝑜𝑠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,2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𝑝𝑜𝑠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10000</m:t>
                                      </m:r>
                                    </m:e>
                                    <m:sup>
                                      <m:f>
                                        <m:fPr>
                                          <m:ctrlP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1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𝑑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 b="0" i="0" smtClean="0">
                                                  <a:latin typeface="Cambria Math" panose="02040503050406030204" pitchFamily="18" charset="0"/>
                                                </a:rPr>
                                                <m:t>model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𝑃𝐸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𝑝𝑜𝑠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𝑝𝑜𝑠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10000</m:t>
                                      </m:r>
                                    </m:e>
                                    <m:sup>
                                      <m:f>
                                        <m:f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𝑑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>
                                                  <a:latin typeface="Cambria Math" panose="02040503050406030204" pitchFamily="18" charset="0"/>
                                                </a:rPr>
                                                <m:t>model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2F83F-95B4-1295-3AC1-4F0FC662D5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73015"/>
                <a:ext cx="6299200" cy="510011"/>
              </a:xfrm>
              <a:prstGeom prst="rect">
                <a:avLst/>
              </a:prstGeom>
              <a:blipFill>
                <a:blip r:embed="rId4"/>
                <a:stretch>
                  <a:fillRect t="-2439" b="-97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8352BD5-1A7A-4E02-A234-B4E9C30187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3429" y="5839222"/>
            <a:ext cx="6523572" cy="7265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6162C7-79E3-AE03-CB5B-BA48BF649892}"/>
              </a:ext>
            </a:extLst>
          </p:cNvPr>
          <p:cNvCxnSpPr>
            <a:cxnSpLocks/>
          </p:cNvCxnSpPr>
          <p:nvPr/>
        </p:nvCxnSpPr>
        <p:spPr>
          <a:xfrm>
            <a:off x="1345324" y="5672088"/>
            <a:ext cx="189186" cy="5303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5B7EF7C-B62D-43B7-F03F-E39AA800AE1B}"/>
              </a:ext>
            </a:extLst>
          </p:cNvPr>
          <p:cNvCxnSpPr>
            <a:cxnSpLocks/>
          </p:cNvCxnSpPr>
          <p:nvPr/>
        </p:nvCxnSpPr>
        <p:spPr>
          <a:xfrm flipH="1">
            <a:off x="2343807" y="5672088"/>
            <a:ext cx="265094" cy="419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9941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048C637-EDB0-C639-5A79-361471EEB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18</a:t>
            </a:fld>
            <a:endParaRPr lang="en-GB"/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D20E608-C6EA-C42C-733D-BAAD3EEC6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9784" y="0"/>
            <a:ext cx="7232431" cy="6858000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9BF1C5E3-778B-E04F-D643-6CB0DAF244B4}"/>
              </a:ext>
            </a:extLst>
          </p:cNvPr>
          <p:cNvSpPr txBox="1"/>
          <p:nvPr/>
        </p:nvSpPr>
        <p:spPr>
          <a:xfrm>
            <a:off x="9144431" y="6233239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7715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71FABC7-B408-05B5-C876-A567F404F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142" y="1825625"/>
            <a:ext cx="4431858" cy="40676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467FB7-26F4-E61C-CDF9-1F70C1D5E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Skip Connections and Layer Normalization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4951F3-B27A-2FF8-5593-9389610D2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1204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s</a:t>
            </a:r>
            <a:r>
              <a:rPr lang="en-DE"/>
              <a:t>kip connections</a:t>
            </a:r>
            <a:r>
              <a:rPr lang="en-GB" dirty="0"/>
              <a:t> </a:t>
            </a:r>
            <a:r>
              <a:rPr lang="en-DE"/>
              <a:t>improve robustness</a:t>
            </a:r>
            <a:r>
              <a:rPr lang="en-GB" dirty="0"/>
              <a:t> by</a:t>
            </a:r>
          </a:p>
          <a:p>
            <a:pPr marL="342900" indent="-342900"/>
            <a:r>
              <a:rPr lang="en-DE"/>
              <a:t>preserving </a:t>
            </a:r>
            <a:r>
              <a:rPr lang="en-GB" dirty="0"/>
              <a:t>original </a:t>
            </a:r>
            <a:r>
              <a:rPr lang="en-DE"/>
              <a:t>input</a:t>
            </a:r>
            <a:r>
              <a:rPr lang="en-GB" dirty="0"/>
              <a:t> (</a:t>
            </a:r>
            <a:r>
              <a:rPr lang="en-DE"/>
              <a:t>attention</a:t>
            </a:r>
            <a:r>
              <a:rPr lang="en-GB" dirty="0"/>
              <a:t> layers as filters) as well as gradients (mitigate vanishing-gradient problem)</a:t>
            </a:r>
          </a:p>
          <a:p>
            <a:pPr marL="342900" indent="-342900"/>
            <a:r>
              <a:rPr lang="en-GB" dirty="0"/>
              <a:t>easier learning of identity functions (useful for disregarding modules that do not improve model performance)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de-DE" dirty="0" err="1"/>
              <a:t>layer</a:t>
            </a:r>
            <a:r>
              <a:rPr lang="de-DE" dirty="0"/>
              <a:t> </a:t>
            </a:r>
            <a:r>
              <a:rPr lang="de-DE" dirty="0" err="1"/>
              <a:t>normalization</a:t>
            </a:r>
            <a:r>
              <a:rPr lang="de-DE" dirty="0"/>
              <a:t> </a:t>
            </a:r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convergence</a:t>
            </a:r>
            <a:r>
              <a:rPr lang="de-DE" dirty="0"/>
              <a:t>, and </a:t>
            </a:r>
            <a:r>
              <a:rPr lang="de-DE" dirty="0" err="1"/>
              <a:t>generalization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normalizing</a:t>
            </a:r>
            <a:r>
              <a:rPr lang="de-DE" dirty="0"/>
              <a:t> </a:t>
            </a:r>
            <a:r>
              <a:rPr lang="de-DE" dirty="0" err="1"/>
              <a:t>activations</a:t>
            </a:r>
            <a:r>
              <a:rPr lang="de-DE" dirty="0"/>
              <a:t> per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token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C3D0F-A327-2D06-2B0D-02A65E0D8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19</a:t>
            </a:fld>
            <a:endParaRPr lang="en-D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5DA32A-2F84-9690-A27F-371941DD73F6}"/>
              </a:ext>
            </a:extLst>
          </p:cNvPr>
          <p:cNvSpPr txBox="1"/>
          <p:nvPr/>
        </p:nvSpPr>
        <p:spPr>
          <a:xfrm>
            <a:off x="11622687" y="5210011"/>
            <a:ext cx="5693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5204084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BD5CF-A58D-073B-F017-926E673A9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Batch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en-DE"/>
              <a:t>Layer Norm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3B496-87E5-16AE-C12C-03C3FA269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46956"/>
            <a:ext cx="10649607" cy="83812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batch norm typically in computer vision</a:t>
            </a:r>
          </a:p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/>
              <a:t>ayer norm in NLP (variable-sized inputs)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5150B-AF15-EE64-C6CA-9B0738A34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20</a:t>
            </a:fld>
            <a:endParaRPr lang="en-DE"/>
          </a:p>
        </p:txBody>
      </p:sp>
      <p:pic>
        <p:nvPicPr>
          <p:cNvPr id="6" name="Picture 9" descr="A picture containing table&#10;&#10;Description automatically generated">
            <a:extLst>
              <a:ext uri="{FF2B5EF4-FFF2-40B4-BE49-F238E27FC236}">
                <a16:creationId xmlns:a16="http://schemas.microsoft.com/office/drawing/2014/main" id="{7BC85DA4-7F9F-6938-21DA-6F82E3612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117" y="2442714"/>
            <a:ext cx="4947675" cy="400920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C0979077-8E8B-89A9-0E35-8BC61B47D0D3}"/>
              </a:ext>
            </a:extLst>
          </p:cNvPr>
          <p:cNvSpPr txBox="1"/>
          <p:nvPr/>
        </p:nvSpPr>
        <p:spPr>
          <a:xfrm>
            <a:off x="7227843" y="6506784"/>
            <a:ext cx="5945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3" name="Grafik 12" descr="Ein Bild, das mechanisches Spiel, Würfel enthält.&#10;&#10;KI-generierte Inhalte können fehlerhaft sein.">
            <a:extLst>
              <a:ext uri="{FF2B5EF4-FFF2-40B4-BE49-F238E27FC236}">
                <a16:creationId xmlns:a16="http://schemas.microsoft.com/office/drawing/2014/main" id="{113BC395-5D3D-1B45-8AE8-5A31C5EA31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752" y="2663751"/>
            <a:ext cx="3667900" cy="4155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466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FB96-F1CB-DA46-EBD4-1EEDA3946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70325" cy="1325563"/>
          </a:xfrm>
        </p:spPr>
        <p:txBody>
          <a:bodyPr/>
          <a:lstStyle/>
          <a:p>
            <a:r>
              <a:rPr lang="en-GB" dirty="0"/>
              <a:t>Role of Feed-Forward Neural Networks (FFNN)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7F013-8620-62DD-2A33-AEE3295D7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09441" cy="19389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400" dirty="0"/>
              <a:t>position-wise FFNNs:</a:t>
            </a:r>
          </a:p>
          <a:p>
            <a:pPr marL="0" indent="0">
              <a:buNone/>
            </a:pPr>
            <a:r>
              <a:rPr lang="en-GB" sz="2400" dirty="0"/>
              <a:t>following each attention layer, apply an identical FFNN (with two layers) independently to each embedding vector</a:t>
            </a:r>
          </a:p>
          <a:p>
            <a:pPr marL="0" indent="0">
              <a:buNone/>
            </a:pPr>
            <a:r>
              <a:rPr lang="en-GB" sz="2400" dirty="0"/>
              <a:t>(correspond to bulk of overall parameters)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EC0DB-C305-C21C-D540-0E577F2F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21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47BA1D-B796-BCCB-3D02-09CC7B9701EB}"/>
              </a:ext>
            </a:extLst>
          </p:cNvPr>
          <p:cNvSpPr txBox="1"/>
          <p:nvPr/>
        </p:nvSpPr>
        <p:spPr>
          <a:xfrm>
            <a:off x="838200" y="4196199"/>
            <a:ext cx="752803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can be interpreted as compute after connect (attention)</a:t>
            </a:r>
          </a:p>
          <a:p>
            <a:endParaRPr lang="en-GB" sz="2400" dirty="0"/>
          </a:p>
          <a:p>
            <a:r>
              <a:rPr lang="en-GB" sz="2400" dirty="0"/>
              <a:t>a</a:t>
            </a:r>
            <a:r>
              <a:rPr lang="en-DE" sz="2400" dirty="0"/>
              <a:t>ttention is just weighted averaging</a:t>
            </a:r>
            <a:endParaRPr lang="en-GB" sz="2400" dirty="0"/>
          </a:p>
          <a:p>
            <a:r>
              <a:rPr lang="en-DE" sz="2400" dirty="0">
                <a:sym typeface="Wingdings" pitchFamily="2" charset="2"/>
              </a:rPr>
              <a:t> need for non-linearities </a:t>
            </a:r>
            <a:r>
              <a:rPr lang="en-GB" sz="2400" dirty="0">
                <a:sym typeface="Wingdings" pitchFamily="2" charset="2"/>
              </a:rPr>
              <a:t>(often </a:t>
            </a:r>
            <a:r>
              <a:rPr lang="en-GB" sz="2400" dirty="0" err="1">
                <a:sym typeface="Wingdings" pitchFamily="2" charset="2"/>
              </a:rPr>
              <a:t>GeLU</a:t>
            </a:r>
            <a:r>
              <a:rPr lang="en-GB" sz="2400" dirty="0">
                <a:sym typeface="Wingdings" pitchFamily="2" charset="2"/>
              </a:rPr>
              <a:t> activations) to capture more complex patterns</a:t>
            </a:r>
          </a:p>
        </p:txBody>
      </p:sp>
      <p:pic>
        <p:nvPicPr>
          <p:cNvPr id="9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7A4B76FA-F6D1-604F-1B94-10CD039A2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0600" y="4196199"/>
            <a:ext cx="3365284" cy="2243522"/>
          </a:xfrm>
          <a:prstGeom prst="rect">
            <a:avLst/>
          </a:prstGeom>
        </p:spPr>
      </p:pic>
      <p:pic>
        <p:nvPicPr>
          <p:cNvPr id="11" name="Grafik 10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ED2436F0-DE07-6F6E-5426-1096D497DC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6470" y="1466730"/>
            <a:ext cx="4882055" cy="2447715"/>
          </a:xfrm>
          <a:prstGeom prst="rect">
            <a:avLst/>
          </a:prstGeom>
        </p:spPr>
      </p:pic>
      <p:sp>
        <p:nvSpPr>
          <p:cNvPr id="13" name="TextBox 10">
            <a:extLst>
              <a:ext uri="{FF2B5EF4-FFF2-40B4-BE49-F238E27FC236}">
                <a16:creationId xmlns:a16="http://schemas.microsoft.com/office/drawing/2014/main" id="{47EBD74C-BF27-7F5D-2514-9E8A5A6C875A}"/>
              </a:ext>
            </a:extLst>
          </p:cNvPr>
          <p:cNvSpPr txBox="1"/>
          <p:nvPr/>
        </p:nvSpPr>
        <p:spPr>
          <a:xfrm>
            <a:off x="10759284" y="3580477"/>
            <a:ext cx="5945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956383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E3E91-A53A-6E33-14B7-656AE511B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De-Embedding and Softmax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56C939-DE95-9797-8E8C-EB1D9CB07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9945" y="1825625"/>
            <a:ext cx="785385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conversion of final decoder output to predicted next-token probabilities for output vocabulary</a:t>
            </a:r>
          </a:p>
          <a:p>
            <a:endParaRPr lang="en-GB" dirty="0"/>
          </a:p>
          <a:p>
            <a:r>
              <a:rPr lang="en-GB" dirty="0"/>
              <a:t>de-embedding: linear transformation (fully-connected network layer) to vocabulary size</a:t>
            </a:r>
          </a:p>
          <a:p>
            <a:endParaRPr lang="en-GB" dirty="0"/>
          </a:p>
          <a:p>
            <a:r>
              <a:rPr lang="en-GB" dirty="0"/>
              <a:t>s</a:t>
            </a:r>
            <a:r>
              <a:rPr lang="en-DE"/>
              <a:t>oftmax: transformation to probabilities</a:t>
            </a:r>
            <a:r>
              <a:rPr lang="en-GB" dirty="0"/>
              <a:t> (“softness” can be controlled by hyperparameter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temperature)</a:t>
            </a:r>
            <a:endParaRPr lang="en-DE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C9DC41-C09E-A831-5746-04D4E4F20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22</a:t>
            </a:fld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0D638E-7D3F-131C-6891-13CF241AFBCE}"/>
              </a:ext>
            </a:extLst>
          </p:cNvPr>
          <p:cNvSpPr txBox="1"/>
          <p:nvPr/>
        </p:nvSpPr>
        <p:spPr>
          <a:xfrm>
            <a:off x="2562765" y="6463355"/>
            <a:ext cx="56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2AACD0-74B3-46F4-EC07-AD7F44276933}"/>
              </a:ext>
            </a:extLst>
          </p:cNvPr>
          <p:cNvSpPr txBox="1"/>
          <p:nvPr/>
        </p:nvSpPr>
        <p:spPr>
          <a:xfrm>
            <a:off x="18852" y="2052756"/>
            <a:ext cx="34810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</a:t>
            </a:r>
            <a:r>
              <a:rPr lang="en-DE"/>
              <a:t>: sequence </a:t>
            </a:r>
            <a:r>
              <a:rPr lang="en-DE" dirty="0"/>
              <a:t>length</a:t>
            </a:r>
          </a:p>
          <a:p>
            <a:r>
              <a:rPr lang="en-DE" i="1" dirty="0"/>
              <a:t>N</a:t>
            </a:r>
            <a:r>
              <a:rPr lang="en-DE" dirty="0"/>
              <a:t>: vocabulary size</a:t>
            </a:r>
          </a:p>
          <a:p>
            <a:r>
              <a:rPr lang="en-GB" i="1" dirty="0"/>
              <a:t>d</a:t>
            </a:r>
            <a:r>
              <a:rPr lang="en-DE" i="1" dirty="0"/>
              <a:t>_model</a:t>
            </a:r>
            <a:r>
              <a:rPr lang="en-DE" dirty="0"/>
              <a:t>: embedding dimensions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C902FB5-EA33-6673-1201-FE4897FD3B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45" y="2964853"/>
            <a:ext cx="3110448" cy="348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4928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E0FF6D-DFDA-D8B6-57F9-1E4E5A1E5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23</a:t>
            </a:fld>
            <a:endParaRPr lang="en-GB"/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5359C7F5-5ED2-56B1-CC29-17E93D0E4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1136" y="0"/>
            <a:ext cx="7169727" cy="6858000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BAF44B75-C031-7302-EFE9-16881BF40DD5}"/>
              </a:ext>
            </a:extLst>
          </p:cNvPr>
          <p:cNvSpPr txBox="1"/>
          <p:nvPr/>
        </p:nvSpPr>
        <p:spPr>
          <a:xfrm>
            <a:off x="9396971" y="6292691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1994600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CE8F2-CC9A-6287-9334-53FBF6F57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Sequence Completion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786E5-5AE4-C04B-F069-5FE0CA703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305674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sz="2600" b="1" dirty="0">
                <a:sym typeface="Wingdings" pitchFamily="2" charset="2"/>
              </a:rPr>
              <a:t>autoregressive</a:t>
            </a:r>
            <a:r>
              <a:rPr lang="en-GB" sz="2600" dirty="0">
                <a:sym typeface="Wingdings" pitchFamily="2" charset="2"/>
              </a:rPr>
              <a:t>: f</a:t>
            </a:r>
            <a:r>
              <a:rPr lang="en-DE" sz="2600" dirty="0">
                <a:sym typeface="Wingdings" pitchFamily="2" charset="2"/>
              </a:rPr>
              <a:t>or </a:t>
            </a:r>
            <a:r>
              <a:rPr lang="en-DE" sz="2600">
                <a:sym typeface="Wingdings" pitchFamily="2" charset="2"/>
              </a:rPr>
              <a:t>each step </a:t>
            </a:r>
            <a:r>
              <a:rPr lang="en-DE" sz="2600" dirty="0">
                <a:sym typeface="Wingdings" pitchFamily="2" charset="2"/>
              </a:rPr>
              <a:t>(iteratively), choose one output </a:t>
            </a:r>
            <a:r>
              <a:rPr lang="en-DE" sz="2600">
                <a:sym typeface="Wingdings" pitchFamily="2" charset="2"/>
              </a:rPr>
              <a:t>token </a:t>
            </a:r>
            <a:r>
              <a:rPr lang="de-DE" sz="2600" dirty="0">
                <a:sym typeface="Wingdings" pitchFamily="2" charset="2"/>
              </a:rPr>
              <a:t>and </a:t>
            </a:r>
            <a:r>
              <a:rPr lang="de-DE" sz="2600" dirty="0" err="1">
                <a:sym typeface="Wingdings" pitchFamily="2" charset="2"/>
              </a:rPr>
              <a:t>then</a:t>
            </a:r>
            <a:r>
              <a:rPr lang="en-GB" sz="2600" dirty="0">
                <a:sym typeface="Wingdings" pitchFamily="2" charset="2"/>
              </a:rPr>
              <a:t> </a:t>
            </a:r>
            <a:r>
              <a:rPr lang="en-GB" sz="2600" dirty="0"/>
              <a:t>add it to decoder input sequence for next step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typically, pick according to </a:t>
            </a:r>
            <a:r>
              <a:rPr lang="en-GB" sz="2600" dirty="0" err="1"/>
              <a:t>softmax</a:t>
            </a:r>
            <a:r>
              <a:rPr lang="en-GB" sz="2600" dirty="0"/>
              <a:t> probabilities (degree of randomness controlled by </a:t>
            </a:r>
            <a:r>
              <a:rPr lang="en-GB" sz="2600" dirty="0" err="1"/>
              <a:t>softmax</a:t>
            </a:r>
            <a:r>
              <a:rPr lang="en-GB" sz="2600" dirty="0"/>
              <a:t> temperature)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EE1D3-DAFC-03B1-B8EA-83321455C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24</a:t>
            </a:fld>
            <a:endParaRPr lang="en-DE"/>
          </a:p>
        </p:txBody>
      </p:sp>
      <p:pic>
        <p:nvPicPr>
          <p:cNvPr id="13" name="Grafik 12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0D74DCD3-D6D7-BF51-4DAA-4821ED11FD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042" y="1825625"/>
            <a:ext cx="6039958" cy="3056744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2795DF13-5AB0-D4B9-3113-EAFD364E3807}"/>
              </a:ext>
            </a:extLst>
          </p:cNvPr>
          <p:cNvSpPr txBox="1"/>
          <p:nvPr/>
        </p:nvSpPr>
        <p:spPr>
          <a:xfrm>
            <a:off x="838201" y="5599414"/>
            <a:ext cx="10515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400" b="1" dirty="0"/>
              <a:t>prompt</a:t>
            </a:r>
            <a:r>
              <a:rPr lang="en-DE" sz="2400"/>
              <a:t>: externally given </a:t>
            </a:r>
            <a:r>
              <a:rPr lang="en-GB" sz="2400" dirty="0"/>
              <a:t>initial sequence for running start and context on which to build rest of sequence</a:t>
            </a:r>
            <a:endParaRPr lang="en-DE" sz="2400" dirty="0"/>
          </a:p>
        </p:txBody>
      </p:sp>
      <p:sp>
        <p:nvSpPr>
          <p:cNvPr id="16" name="TextBox 10">
            <a:extLst>
              <a:ext uri="{FF2B5EF4-FFF2-40B4-BE49-F238E27FC236}">
                <a16:creationId xmlns:a16="http://schemas.microsoft.com/office/drawing/2014/main" id="{F984D978-4BCA-E9FC-AA65-FE9F26FB8CAF}"/>
              </a:ext>
            </a:extLst>
          </p:cNvPr>
          <p:cNvSpPr txBox="1"/>
          <p:nvPr/>
        </p:nvSpPr>
        <p:spPr>
          <a:xfrm>
            <a:off x="11069908" y="4759258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965908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0E76FF-845E-4095-16E2-B6EC0A2DF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Sampling </a:t>
            </a:r>
            <a:r>
              <a:rPr lang="de-DE" dirty="0" err="1"/>
              <a:t>Strategies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12B8FC-B0EE-2120-C83E-9C1C879636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9383B1-CE9B-7F3C-5320-28AF9CBFC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3833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427AF5-34D5-F6DB-BC9C-B0978B2C8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257521-C530-14B3-44FD-3E01C6004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 </a:t>
            </a:r>
            <a:r>
              <a:rPr lang="de-DE" dirty="0" err="1"/>
              <a:t>temperature</a:t>
            </a:r>
            <a:r>
              <a:rPr lang="de-DE" dirty="0"/>
              <a:t> in </a:t>
            </a:r>
            <a:r>
              <a:rPr lang="de-DE" dirty="0" err="1"/>
              <a:t>softmax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generation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634DF1-5D32-FCE9-583B-4457C209C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6416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1120</Words>
  <Application>Microsoft Macintosh PowerPoint</Application>
  <PresentationFormat>Breitbild</PresentationFormat>
  <Paragraphs>205</Paragraphs>
  <Slides>26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Transformer</vt:lpstr>
      <vt:lpstr>Course Contents</vt:lpstr>
      <vt:lpstr>This Part: Transformer</vt:lpstr>
      <vt:lpstr>Tokenization</vt:lpstr>
      <vt:lpstr>Byte-Pair Encoding</vt:lpstr>
      <vt:lpstr>Embedding Layers</vt:lpstr>
      <vt:lpstr>Some Thoughts on Word Embeddings</vt:lpstr>
      <vt:lpstr>Word Embeddings as Part of Language Model</vt:lpstr>
      <vt:lpstr>Tokenization &amp; Embeddings</vt:lpstr>
      <vt:lpstr>Self-Supervised Learning</vt:lpstr>
      <vt:lpstr>Context Awareness: Transformer</vt:lpstr>
      <vt:lpstr>Self-Attention Mechanism</vt:lpstr>
      <vt:lpstr>Scaled Dot-Product Attention</vt:lpstr>
      <vt:lpstr>MatMul</vt:lpstr>
      <vt:lpstr>Example: Dimensions in BERT</vt:lpstr>
      <vt:lpstr>Multi-Head Attention</vt:lpstr>
      <vt:lpstr>Positional Encoding</vt:lpstr>
      <vt:lpstr>PowerPoint-Präsentation</vt:lpstr>
      <vt:lpstr>Skip Connections and Layer Normalization</vt:lpstr>
      <vt:lpstr>Batch vs Layer Norm</vt:lpstr>
      <vt:lpstr>Role of Feed-Forward Neural Networks (FFNN)</vt:lpstr>
      <vt:lpstr>De-Embedding and Softmax</vt:lpstr>
      <vt:lpstr>PowerPoint-Präsentation</vt:lpstr>
      <vt:lpstr>Sequence Completion</vt:lpstr>
      <vt:lpstr>Sampling Strategies</vt:lpstr>
      <vt:lpstr>PowerPoint-Präsentation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89</cp:revision>
  <dcterms:created xsi:type="dcterms:W3CDTF">2025-01-09T11:24:27Z</dcterms:created>
  <dcterms:modified xsi:type="dcterms:W3CDTF">2025-09-09T15:08:49Z</dcterms:modified>
</cp:coreProperties>
</file>